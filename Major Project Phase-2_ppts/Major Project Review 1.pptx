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S4wpE746+864NGM5YzgCeIEqA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7264DE-CC76-4733-8456-B2F4C6777DFA}">
  <a:tblStyle styleId="{5D7264DE-CC76-4733-8456-B2F4C6777DF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b3ccc60d3d_0_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g2b3ccc60d3d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b3ccc60d3d_0_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2b3ccc60d3d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b3ccc60d3d_1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g2b3ccc60d3d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b3ccc60d3d_0_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b3ccc60d3d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b398b6531d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g2b398b6531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b398b6531d_0_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2b398b6531d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b398b6531d_0_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2b398b6531d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9ce8367354_2_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29ce8367354_2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b3ccc60d3d_1_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g2b3ccc60d3d_1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b3ccc60d3d_1_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2b3ccc60d3d_1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b3ccc60d3d_0_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2b3ccc60d3d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9ce8367354_2_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29ce8367354_2_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b43d7599d0_4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2b43d7599d0_4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b43d7599d0_4_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2b43d7599d0_4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b43d7599d0_4_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g2b43d7599d0_4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b3ccc60d3d_1_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2b3ccc60d3d_1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3"/>
          <p:cNvSpPr txBox="1"/>
          <p:nvPr>
            <p:ph type="title"/>
          </p:nvPr>
        </p:nvSpPr>
        <p:spPr>
          <a:xfrm>
            <a:off x="1524000" y="1122362"/>
            <a:ext cx="9144000" cy="2387601"/>
          </a:xfrm>
          <a:prstGeom prst="rect">
            <a:avLst/>
          </a:prstGeom>
          <a:noFill/>
          <a:ln>
            <a:noFill/>
          </a:ln>
        </p:spPr>
        <p:txBody>
          <a:bodyPr anchorCtr="0" anchor="b" bIns="45675" lIns="45675" spcFirstLastPara="1" rIns="45675" wrap="square" tIns="45675">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3"/>
          <p:cNvSpPr txBox="1"/>
          <p:nvPr>
            <p:ph idx="1" type="body"/>
          </p:nvPr>
        </p:nvSpPr>
        <p:spPr>
          <a:xfrm>
            <a:off x="1524000" y="3602037"/>
            <a:ext cx="9144000" cy="1655763"/>
          </a:xfrm>
          <a:prstGeom prst="rect">
            <a:avLst/>
          </a:prstGeom>
          <a:noFill/>
          <a:ln>
            <a:noFill/>
          </a:ln>
        </p:spPr>
        <p:txBody>
          <a:bodyPr anchorCtr="0" anchor="t" bIns="45675" lIns="45675" spcFirstLastPara="1" rIns="45675" wrap="square" tIns="45675">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2" name="Google Shape;12;p23"/>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13" name="Shape 13"/>
        <p:cNvGrpSpPr/>
        <p:nvPr/>
      </p:nvGrpSpPr>
      <p:grpSpPr>
        <a:xfrm>
          <a:off x="0" y="0"/>
          <a:ext cx="0" cy="0"/>
          <a:chOff x="0" y="0"/>
          <a:chExt cx="0" cy="0"/>
        </a:xfrm>
      </p:grpSpPr>
      <p:sp>
        <p:nvSpPr>
          <p:cNvPr id="14" name="Google Shape;14;p31"/>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1"/>
          <p:cNvSpPr/>
          <p:nvPr>
            <p:ph idx="2" type="pic"/>
          </p:nvPr>
        </p:nvSpPr>
        <p:spPr>
          <a:xfrm>
            <a:off x="5183187" y="987427"/>
            <a:ext cx="6172201" cy="4873626"/>
          </a:xfrm>
          <a:prstGeom prst="rect">
            <a:avLst/>
          </a:prstGeom>
          <a:noFill/>
          <a:ln>
            <a:noFill/>
          </a:ln>
        </p:spPr>
      </p:sp>
      <p:sp>
        <p:nvSpPr>
          <p:cNvPr id="16" name="Google Shape;16;p31"/>
          <p:cNvSpPr txBox="1"/>
          <p:nvPr>
            <p:ph idx="1" type="body"/>
          </p:nvPr>
        </p:nvSpPr>
        <p:spPr>
          <a:xfrm>
            <a:off x="839787" y="2057400"/>
            <a:ext cx="3932239" cy="38115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7" name="Google Shape;17;p31"/>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18" name="Shape 18"/>
        <p:cNvGrpSpPr/>
        <p:nvPr/>
      </p:nvGrpSpPr>
      <p:grpSpPr>
        <a:xfrm>
          <a:off x="0" y="0"/>
          <a:ext cx="0" cy="0"/>
          <a:chOff x="0" y="0"/>
          <a:chExt cx="0" cy="0"/>
        </a:xfrm>
      </p:grpSpPr>
      <p:sp>
        <p:nvSpPr>
          <p:cNvPr id="19" name="Google Shape;19;p24"/>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0" name="Shape 20"/>
        <p:cNvGrpSpPr/>
        <p:nvPr/>
      </p:nvGrpSpPr>
      <p:grpSpPr>
        <a:xfrm>
          <a:off x="0" y="0"/>
          <a:ext cx="0" cy="0"/>
          <a:chOff x="0" y="0"/>
          <a:chExt cx="0" cy="0"/>
        </a:xfrm>
      </p:grpSpPr>
      <p:sp>
        <p:nvSpPr>
          <p:cNvPr id="21" name="Google Shape;21;p25"/>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2" name="Google Shape;22;p25"/>
          <p:cNvSpPr txBox="1"/>
          <p:nvPr>
            <p:ph idx="1" type="body"/>
          </p:nvPr>
        </p:nvSpPr>
        <p:spPr>
          <a:xfrm>
            <a:off x="838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3" name="Google Shape;23;p25"/>
          <p:cNvSpPr txBox="1"/>
          <p:nvPr>
            <p:ph idx="2" type="body"/>
          </p:nvPr>
        </p:nvSpPr>
        <p:spPr>
          <a:xfrm>
            <a:off x="6172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4" name="Google Shape;24;p25"/>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26"/>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8" name="Google Shape;28;p26"/>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spTree>
      <p:nvGrpSpPr>
        <p:cNvPr id="29" name="Shape 29"/>
        <p:cNvGrpSpPr/>
        <p:nvPr/>
      </p:nvGrpSpPr>
      <p:grpSpPr>
        <a:xfrm>
          <a:off x="0" y="0"/>
          <a:ext cx="0" cy="0"/>
          <a:chOff x="0" y="0"/>
          <a:chExt cx="0" cy="0"/>
        </a:xfrm>
      </p:grpSpPr>
      <p:sp>
        <p:nvSpPr>
          <p:cNvPr id="30" name="Google Shape;30;p27"/>
          <p:cNvSpPr txBox="1"/>
          <p:nvPr>
            <p:ph type="title"/>
          </p:nvPr>
        </p:nvSpPr>
        <p:spPr>
          <a:xfrm>
            <a:off x="831850" y="1709740"/>
            <a:ext cx="10515601" cy="2852737"/>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1" name="Google Shape;31;p27"/>
          <p:cNvSpPr txBox="1"/>
          <p:nvPr>
            <p:ph idx="1" type="body"/>
          </p:nvPr>
        </p:nvSpPr>
        <p:spPr>
          <a:xfrm>
            <a:off x="831850" y="4589464"/>
            <a:ext cx="10515601" cy="15001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2" name="Google Shape;32;p27"/>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spTree>
      <p:nvGrpSpPr>
        <p:cNvPr id="33" name="Shape 33"/>
        <p:cNvGrpSpPr/>
        <p:nvPr/>
      </p:nvGrpSpPr>
      <p:grpSpPr>
        <a:xfrm>
          <a:off x="0" y="0"/>
          <a:ext cx="0" cy="0"/>
          <a:chOff x="0" y="0"/>
          <a:chExt cx="0" cy="0"/>
        </a:xfrm>
      </p:grpSpPr>
      <p:sp>
        <p:nvSpPr>
          <p:cNvPr id="34" name="Google Shape;34;p28"/>
          <p:cNvSpPr txBox="1"/>
          <p:nvPr>
            <p:ph type="title"/>
          </p:nvPr>
        </p:nvSpPr>
        <p:spPr>
          <a:xfrm>
            <a:off x="839787" y="365127"/>
            <a:ext cx="10515601"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5" name="Google Shape;35;p28"/>
          <p:cNvSpPr txBox="1"/>
          <p:nvPr>
            <p:ph idx="1" type="body"/>
          </p:nvPr>
        </p:nvSpPr>
        <p:spPr>
          <a:xfrm>
            <a:off x="839788" y="1681163"/>
            <a:ext cx="5157789" cy="823913"/>
          </a:xfrm>
          <a:prstGeom prst="rect">
            <a:avLst/>
          </a:prstGeom>
          <a:noFill/>
          <a:ln>
            <a:noFill/>
          </a:ln>
        </p:spPr>
        <p:txBody>
          <a:bodyPr anchorCtr="0" anchor="b"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6" name="Google Shape;36;p28"/>
          <p:cNvSpPr txBox="1"/>
          <p:nvPr>
            <p:ph idx="2" type="body"/>
          </p:nvPr>
        </p:nvSpPr>
        <p:spPr>
          <a:xfrm>
            <a:off x="839788" y="2505075"/>
            <a:ext cx="5157789"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7" name="Google Shape;37;p28"/>
          <p:cNvSpPr txBox="1"/>
          <p:nvPr>
            <p:ph idx="3" type="body"/>
          </p:nvPr>
        </p:nvSpPr>
        <p:spPr>
          <a:xfrm>
            <a:off x="6172201" y="1681163"/>
            <a:ext cx="5183189" cy="823913"/>
          </a:xfrm>
          <a:prstGeom prst="rect">
            <a:avLst/>
          </a:prstGeom>
          <a:noFill/>
          <a:ln>
            <a:noFill/>
          </a:ln>
        </p:spPr>
        <p:txBody>
          <a:bodyPr anchorCtr="0" anchor="b"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8" name="Google Shape;38;p28"/>
          <p:cNvSpPr txBox="1"/>
          <p:nvPr>
            <p:ph idx="4" type="body"/>
          </p:nvPr>
        </p:nvSpPr>
        <p:spPr>
          <a:xfrm>
            <a:off x="6172201" y="2505075"/>
            <a:ext cx="5183189"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9" name="Google Shape;39;p28"/>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40" name="Shape 40"/>
        <p:cNvGrpSpPr/>
        <p:nvPr/>
      </p:nvGrpSpPr>
      <p:grpSpPr>
        <a:xfrm>
          <a:off x="0" y="0"/>
          <a:ext cx="0" cy="0"/>
          <a:chOff x="0" y="0"/>
          <a:chExt cx="0" cy="0"/>
        </a:xfrm>
      </p:grpSpPr>
      <p:sp>
        <p:nvSpPr>
          <p:cNvPr id="41" name="Google Shape;41;p29"/>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29"/>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3" name="Shape 43"/>
        <p:cNvGrpSpPr/>
        <p:nvPr/>
      </p:nvGrpSpPr>
      <p:grpSpPr>
        <a:xfrm>
          <a:off x="0" y="0"/>
          <a:ext cx="0" cy="0"/>
          <a:chOff x="0" y="0"/>
          <a:chExt cx="0" cy="0"/>
        </a:xfrm>
      </p:grpSpPr>
      <p:sp>
        <p:nvSpPr>
          <p:cNvPr id="44" name="Google Shape;44;p30"/>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5" name="Google Shape;45;p30"/>
          <p:cNvSpPr txBox="1"/>
          <p:nvPr>
            <p:ph idx="1" type="body"/>
          </p:nvPr>
        </p:nvSpPr>
        <p:spPr>
          <a:xfrm>
            <a:off x="5183187" y="987427"/>
            <a:ext cx="6172201" cy="4873626"/>
          </a:xfrm>
          <a:prstGeom prst="rect">
            <a:avLst/>
          </a:prstGeom>
          <a:noFill/>
          <a:ln>
            <a:noFill/>
          </a:ln>
        </p:spPr>
        <p:txBody>
          <a:bodyPr anchorCtr="0" anchor="t" bIns="45675" lIns="45675" spcFirstLastPara="1" rIns="45675" wrap="square" tIns="45675">
            <a:normAutofit/>
          </a:bodyPr>
          <a:lstStyle>
            <a:lvl1pPr indent="-431800" lvl="0" marL="457200" algn="l">
              <a:lnSpc>
                <a:spcPct val="90000"/>
              </a:lnSpc>
              <a:spcBef>
                <a:spcPts val="1000"/>
              </a:spcBef>
              <a:spcAft>
                <a:spcPts val="0"/>
              </a:spcAft>
              <a:buSzPts val="3200"/>
              <a:buChar char="•"/>
              <a:defRPr sz="3200"/>
            </a:lvl1pPr>
            <a:lvl2pPr indent="-431800" lvl="1" marL="914400" algn="l">
              <a:lnSpc>
                <a:spcPct val="90000"/>
              </a:lnSpc>
              <a:spcBef>
                <a:spcPts val="1000"/>
              </a:spcBef>
              <a:spcAft>
                <a:spcPts val="0"/>
              </a:spcAft>
              <a:buSzPts val="3200"/>
              <a:buChar char="•"/>
              <a:defRPr sz="3200"/>
            </a:lvl2pPr>
            <a:lvl3pPr indent="-431800" lvl="2" marL="1371600" algn="l">
              <a:lnSpc>
                <a:spcPct val="90000"/>
              </a:lnSpc>
              <a:spcBef>
                <a:spcPts val="1000"/>
              </a:spcBef>
              <a:spcAft>
                <a:spcPts val="0"/>
              </a:spcAft>
              <a:buSzPts val="3200"/>
              <a:buChar char="•"/>
              <a:defRPr sz="3200"/>
            </a:lvl3pPr>
            <a:lvl4pPr indent="-431800" lvl="3" marL="1828800" algn="l">
              <a:lnSpc>
                <a:spcPct val="90000"/>
              </a:lnSpc>
              <a:spcBef>
                <a:spcPts val="1000"/>
              </a:spcBef>
              <a:spcAft>
                <a:spcPts val="0"/>
              </a:spcAft>
              <a:buSzPts val="3200"/>
              <a:buChar char="•"/>
              <a:defRPr sz="3200"/>
            </a:lvl4pPr>
            <a:lvl5pPr indent="-431800" lvl="4" marL="2286000" algn="l">
              <a:lnSpc>
                <a:spcPct val="90000"/>
              </a:lnSpc>
              <a:spcBef>
                <a:spcPts val="1000"/>
              </a:spcBef>
              <a:spcAft>
                <a:spcPts val="0"/>
              </a:spcAft>
              <a:buSzPts val="3200"/>
              <a:buChar char="•"/>
              <a:defRPr sz="32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6" name="Google Shape;46;p30"/>
          <p:cNvSpPr txBox="1"/>
          <p:nvPr>
            <p:ph idx="2" type="body"/>
          </p:nvPr>
        </p:nvSpPr>
        <p:spPr>
          <a:xfrm>
            <a:off x="839787" y="2057400"/>
            <a:ext cx="3932239" cy="3811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7" name="Google Shape;47;p30"/>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48" name="Shape 48"/>
        <p:cNvGrpSpPr/>
        <p:nvPr/>
      </p:nvGrpSpPr>
      <p:grpSpPr>
        <a:xfrm>
          <a:off x="0" y="0"/>
          <a:ext cx="0" cy="0"/>
          <a:chOff x="0" y="0"/>
          <a:chExt cx="0" cy="0"/>
        </a:xfrm>
      </p:grpSpPr>
      <p:sp>
        <p:nvSpPr>
          <p:cNvPr id="49" name="Google Shape;49;p32"/>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0" name="Google Shape;50;p32"/>
          <p:cNvSpPr txBox="1"/>
          <p:nvPr>
            <p:ph idx="1" type="body"/>
          </p:nvPr>
        </p:nvSpPr>
        <p:spPr>
          <a:xfrm rot="5400000">
            <a:off x="3920330" y="-1256506"/>
            <a:ext cx="4351339" cy="105156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1" name="Google Shape;51;p32"/>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52" name="Shape 52"/>
        <p:cNvGrpSpPr/>
        <p:nvPr/>
      </p:nvGrpSpPr>
      <p:grpSpPr>
        <a:xfrm>
          <a:off x="0" y="0"/>
          <a:ext cx="0" cy="0"/>
          <a:chOff x="0" y="0"/>
          <a:chExt cx="0" cy="0"/>
        </a:xfrm>
      </p:grpSpPr>
      <p:sp>
        <p:nvSpPr>
          <p:cNvPr id="53" name="Google Shape;53;p33"/>
          <p:cNvSpPr txBox="1"/>
          <p:nvPr>
            <p:ph type="title"/>
          </p:nvPr>
        </p:nvSpPr>
        <p:spPr>
          <a:xfrm rot="5400000">
            <a:off x="7133432" y="1956593"/>
            <a:ext cx="5811838" cy="2628901"/>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4" name="Google Shape;54;p33"/>
          <p:cNvSpPr txBox="1"/>
          <p:nvPr>
            <p:ph idx="1" type="body"/>
          </p:nvPr>
        </p:nvSpPr>
        <p:spPr>
          <a:xfrm rot="5400000">
            <a:off x="1799432" y="-596107"/>
            <a:ext cx="5811838" cy="77343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5" name="Google Shape;55;p33"/>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22"/>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22"/>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5.jp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idx="4294967295" type="subTitle"/>
          </p:nvPr>
        </p:nvSpPr>
        <p:spPr>
          <a:xfrm>
            <a:off x="5328820" y="4191663"/>
            <a:ext cx="7336200" cy="2343301"/>
          </a:xfrm>
          <a:prstGeom prst="rect">
            <a:avLst/>
          </a:prstGeom>
          <a:noFill/>
          <a:ln>
            <a:noFill/>
          </a:ln>
        </p:spPr>
        <p:txBody>
          <a:bodyPr anchorCtr="0" anchor="t" bIns="45675" lIns="45675" spcFirstLastPara="1" rIns="45675" wrap="square" tIns="45675">
            <a:normAutofit/>
          </a:bodyPr>
          <a:lstStyle/>
          <a:p>
            <a:pPr indent="457200" lvl="1" marL="0" marR="0" rtl="0" algn="ctr">
              <a:lnSpc>
                <a:spcPct val="72000"/>
              </a:lnSpc>
              <a:spcBef>
                <a:spcPts val="0"/>
              </a:spcBef>
              <a:spcAft>
                <a:spcPts val="0"/>
              </a:spcAft>
              <a:buClr>
                <a:srgbClr val="000000"/>
              </a:buClr>
              <a:buSzPts val="500"/>
              <a:buFont typeface="Arial"/>
              <a:buNone/>
            </a:pPr>
            <a:r>
              <a:t/>
            </a:r>
            <a:endParaRPr b="0" i="0" sz="500" u="none" cap="none" strike="noStrike">
              <a:solidFill>
                <a:srgbClr val="000000"/>
              </a:solidFill>
              <a:latin typeface="Calibri"/>
              <a:ea typeface="Calibri"/>
              <a:cs typeface="Calibri"/>
              <a:sym typeface="Calibri"/>
            </a:endParaRPr>
          </a:p>
          <a:p>
            <a:pPr indent="457200" lvl="1" marL="0" marR="0" rtl="0" algn="just">
              <a:lnSpc>
                <a:spcPct val="100000"/>
              </a:lnSpc>
              <a:spcBef>
                <a:spcPts val="500"/>
              </a:spcBef>
              <a:spcAft>
                <a:spcPts val="0"/>
              </a:spcAft>
              <a:buClr>
                <a:srgbClr val="000000"/>
              </a:buClr>
              <a:buSzPts val="500"/>
              <a:buFont typeface="Arial"/>
              <a:buNone/>
            </a:pPr>
            <a:r>
              <a:rPr b="0" i="0" lang="en-US" sz="500" u="none" cap="none" strike="noStrike">
                <a:solidFill>
                  <a:srgbClr val="000000"/>
                </a:solidFill>
                <a:latin typeface="Calibri"/>
                <a:ea typeface="Calibri"/>
                <a:cs typeface="Calibri"/>
                <a:sym typeface="Calibri"/>
              </a:rPr>
              <a:t>	</a:t>
            </a:r>
            <a:r>
              <a:rPr b="0" i="0" lang="en-US" sz="500" u="none" cap="none" strike="noStrike">
                <a:solidFill>
                  <a:srgbClr val="000000"/>
                </a:solidFill>
                <a:latin typeface="Times New Roman"/>
                <a:ea typeface="Times New Roman"/>
                <a:cs typeface="Times New Roman"/>
                <a:sym typeface="Times New Roman"/>
              </a:rPr>
              <a:t>       </a:t>
            </a:r>
            <a:r>
              <a:rPr b="0" i="0" lang="en-US" sz="2500" u="none" cap="none" strike="noStrike">
                <a:solidFill>
                  <a:srgbClr val="000000"/>
                </a:solidFill>
                <a:latin typeface="Times New Roman"/>
                <a:ea typeface="Times New Roman"/>
                <a:cs typeface="Times New Roman"/>
                <a:sym typeface="Times New Roman"/>
              </a:rPr>
              <a:t>Jhansi Lakshmi -     20241A0566</a:t>
            </a:r>
            <a:endParaRPr b="0" i="0" sz="10000" u="none" cap="none" strike="noStrike">
              <a:solidFill>
                <a:srgbClr val="000000"/>
              </a:solidFill>
              <a:latin typeface="Times New Roman"/>
              <a:ea typeface="Times New Roman"/>
              <a:cs typeface="Times New Roman"/>
              <a:sym typeface="Times New Roman"/>
            </a:endParaRPr>
          </a:p>
          <a:p>
            <a:pPr indent="914400" lvl="2" marL="0" marR="0" rtl="0" algn="just">
              <a:lnSpc>
                <a:spcPct val="100000"/>
              </a:lnSpc>
              <a:spcBef>
                <a:spcPts val="500"/>
              </a:spcBef>
              <a:spcAft>
                <a:spcPts val="0"/>
              </a:spcAft>
              <a:buClr>
                <a:srgbClr val="000000"/>
              </a:buClr>
              <a:buSzPts val="2500"/>
              <a:buFont typeface="Arial"/>
              <a:buNone/>
            </a:pPr>
            <a:r>
              <a:rPr b="0" i="0" lang="en-US" sz="2500" u="none" cap="none" strike="noStrike">
                <a:solidFill>
                  <a:srgbClr val="000000"/>
                </a:solidFill>
                <a:latin typeface="Times New Roman"/>
                <a:ea typeface="Times New Roman"/>
                <a:cs typeface="Times New Roman"/>
                <a:sym typeface="Times New Roman"/>
              </a:rPr>
              <a:t> B. Srija -                  20241A0564</a:t>
            </a:r>
            <a:endParaRPr b="0" i="0" sz="10000" u="none" cap="none" strike="noStrike">
              <a:solidFill>
                <a:srgbClr val="000000"/>
              </a:solidFill>
              <a:latin typeface="Calibri"/>
              <a:ea typeface="Calibri"/>
              <a:cs typeface="Calibri"/>
              <a:sym typeface="Calibri"/>
            </a:endParaRPr>
          </a:p>
          <a:p>
            <a:pPr indent="914400" lvl="2" marL="0" marR="0" rtl="0" algn="just">
              <a:lnSpc>
                <a:spcPct val="100000"/>
              </a:lnSpc>
              <a:spcBef>
                <a:spcPts val="500"/>
              </a:spcBef>
              <a:spcAft>
                <a:spcPts val="0"/>
              </a:spcAft>
              <a:buClr>
                <a:srgbClr val="000000"/>
              </a:buClr>
              <a:buSzPts val="2500"/>
              <a:buFont typeface="Arial"/>
              <a:buNone/>
            </a:pPr>
            <a:r>
              <a:rPr b="0" i="0" lang="en-US" sz="2500" u="none" cap="none" strike="noStrike">
                <a:solidFill>
                  <a:srgbClr val="000000"/>
                </a:solidFill>
                <a:latin typeface="Times New Roman"/>
                <a:ea typeface="Times New Roman"/>
                <a:cs typeface="Times New Roman"/>
                <a:sym typeface="Times New Roman"/>
              </a:rPr>
              <a:t> Maria Jabeen -         20241A0593</a:t>
            </a:r>
            <a:endParaRPr b="0" i="0" sz="10000" u="none" cap="none" strike="noStrike">
              <a:solidFill>
                <a:srgbClr val="000000"/>
              </a:solidFill>
              <a:latin typeface="Calibri"/>
              <a:ea typeface="Calibri"/>
              <a:cs typeface="Calibri"/>
              <a:sym typeface="Calibri"/>
            </a:endParaRPr>
          </a:p>
          <a:p>
            <a:pPr indent="914400" lvl="2" marL="0" marR="0" rtl="0" algn="just">
              <a:lnSpc>
                <a:spcPct val="100000"/>
              </a:lnSpc>
              <a:spcBef>
                <a:spcPts val="500"/>
              </a:spcBef>
              <a:spcAft>
                <a:spcPts val="0"/>
              </a:spcAft>
              <a:buClr>
                <a:srgbClr val="000000"/>
              </a:buClr>
              <a:buSzPts val="2500"/>
              <a:buFont typeface="Arial"/>
              <a:buNone/>
            </a:pPr>
            <a:r>
              <a:rPr b="0" i="0" lang="en-US" sz="2500" u="none" cap="none" strike="noStrike">
                <a:solidFill>
                  <a:srgbClr val="000000"/>
                </a:solidFill>
                <a:latin typeface="Times New Roman"/>
                <a:ea typeface="Times New Roman"/>
                <a:cs typeface="Times New Roman"/>
                <a:sym typeface="Times New Roman"/>
              </a:rPr>
              <a:t> K. Kushi Reddy -     20241A0583</a:t>
            </a:r>
            <a:endParaRPr b="0" i="0" sz="2800" u="none" cap="none" strike="noStrike">
              <a:solidFill>
                <a:srgbClr val="000000"/>
              </a:solidFill>
              <a:latin typeface="Calibri"/>
              <a:ea typeface="Calibri"/>
              <a:cs typeface="Calibri"/>
              <a:sym typeface="Calibri"/>
            </a:endParaRPr>
          </a:p>
        </p:txBody>
      </p:sp>
      <p:pic>
        <p:nvPicPr>
          <p:cNvPr descr="Google Shape;89;p1" id="61" name="Google Shape;61;p1"/>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62" name="Google Shape;62;p1"/>
          <p:cNvSpPr txBox="1"/>
          <p:nvPr/>
        </p:nvSpPr>
        <p:spPr>
          <a:xfrm>
            <a:off x="1331800" y="102225"/>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lang="en-US" sz="2200">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63" name="Google Shape;63;p1"/>
          <p:cNvSpPr txBox="1"/>
          <p:nvPr>
            <p:ph idx="12" type="sldNum"/>
          </p:nvPr>
        </p:nvSpPr>
        <p:spPr>
          <a:xfrm>
            <a:off x="11172458" y="6414769"/>
            <a:ext cx="181343" cy="248266"/>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64" name="Google Shape;64;p1"/>
          <p:cNvSpPr txBox="1"/>
          <p:nvPr>
            <p:ph idx="4294967295" type="ctrTitle"/>
          </p:nvPr>
        </p:nvSpPr>
        <p:spPr>
          <a:xfrm>
            <a:off x="838199" y="1038828"/>
            <a:ext cx="10069500" cy="2387700"/>
          </a:xfrm>
          <a:prstGeom prst="rect">
            <a:avLst/>
          </a:prstGeom>
          <a:noFill/>
          <a:ln>
            <a:noFill/>
          </a:ln>
        </p:spPr>
        <p:txBody>
          <a:bodyPr anchorCtr="0" anchor="b" bIns="45675" lIns="45675" spcFirstLastPara="1" rIns="45675" wrap="square" tIns="45675">
            <a:normAutofit/>
          </a:bodyPr>
          <a:lstStyle/>
          <a:p>
            <a:pPr indent="0" lvl="0" marL="0" marR="0" rtl="0" algn="ctr">
              <a:lnSpc>
                <a:spcPct val="90000"/>
              </a:lnSpc>
              <a:spcBef>
                <a:spcPts val="0"/>
              </a:spcBef>
              <a:spcAft>
                <a:spcPts val="0"/>
              </a:spcAft>
              <a:buClr>
                <a:srgbClr val="000000"/>
              </a:buClr>
              <a:buSzPts val="5400"/>
              <a:buFont typeface="Times New Roman"/>
              <a:buNone/>
            </a:pPr>
            <a:r>
              <a:rPr b="0" i="0" lang="en-US" sz="5400" u="none" cap="none" strike="noStrike">
                <a:solidFill>
                  <a:srgbClr val="000000"/>
                </a:solidFill>
                <a:latin typeface="Times New Roman"/>
                <a:ea typeface="Times New Roman"/>
                <a:cs typeface="Times New Roman"/>
                <a:sym typeface="Times New Roman"/>
              </a:rPr>
              <a:t>An Automated Annotation System for Document Text Images</a:t>
            </a:r>
            <a:endParaRPr b="0" i="0" sz="4400" u="none" cap="none" strike="noStrike">
              <a:solidFill>
                <a:srgbClr val="000000"/>
              </a:solidFill>
              <a:latin typeface="Calibri"/>
              <a:ea typeface="Calibri"/>
              <a:cs typeface="Calibri"/>
              <a:sym typeface="Calibri"/>
            </a:endParaRPr>
          </a:p>
        </p:txBody>
      </p:sp>
      <p:sp>
        <p:nvSpPr>
          <p:cNvPr id="65" name="Google Shape;65;p1"/>
          <p:cNvSpPr txBox="1"/>
          <p:nvPr/>
        </p:nvSpPr>
        <p:spPr>
          <a:xfrm>
            <a:off x="3533324" y="3426525"/>
            <a:ext cx="5546100" cy="4617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300" u="none" cap="none" strike="noStrike">
                <a:solidFill>
                  <a:srgbClr val="000000"/>
                </a:solidFill>
                <a:latin typeface="Times New Roman"/>
                <a:ea typeface="Times New Roman"/>
                <a:cs typeface="Times New Roman"/>
                <a:sym typeface="Times New Roman"/>
              </a:rPr>
              <a:t>~Dr. Ashlin </a:t>
            </a:r>
            <a:r>
              <a:rPr b="0" i="0" lang="en-US" sz="2400" u="none" cap="none" strike="noStrike">
                <a:solidFill>
                  <a:srgbClr val="000000"/>
                </a:solidFill>
                <a:latin typeface="Times New Roman"/>
                <a:ea typeface="Times New Roman"/>
                <a:cs typeface="Times New Roman"/>
                <a:sym typeface="Times New Roman"/>
              </a:rPr>
              <a:t>Deepa</a:t>
            </a:r>
            <a:r>
              <a:rPr b="0" i="0" lang="en-US" sz="2300" u="none" cap="none" strike="noStrike">
                <a:solidFill>
                  <a:srgbClr val="000000"/>
                </a:solidFill>
                <a:latin typeface="Times New Roman"/>
                <a:ea typeface="Times New Roman"/>
                <a:cs typeface="Times New Roman"/>
                <a:sym typeface="Times New Roman"/>
              </a:rPr>
              <a:t> R N, Associate Professor </a:t>
            </a:r>
            <a:endParaRPr b="0" i="0" sz="23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txBox="1"/>
          <p:nvPr>
            <p:ph idx="4294967295" type="ctrTitle"/>
          </p:nvPr>
        </p:nvSpPr>
        <p:spPr>
          <a:xfrm>
            <a:off x="568550" y="1367988"/>
            <a:ext cx="10099500" cy="550801"/>
          </a:xfrm>
          <a:prstGeom prst="rect">
            <a:avLst/>
          </a:prstGeom>
          <a:noFill/>
          <a:ln>
            <a:noFill/>
          </a:ln>
        </p:spPr>
        <p:txBody>
          <a:bodyPr anchorCtr="0" anchor="b"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800"/>
              <a:buFont typeface="Times New Roman"/>
              <a:buNone/>
            </a:pPr>
            <a:r>
              <a:rPr b="1" lang="en-US" sz="2800">
                <a:latin typeface="Times New Roman"/>
                <a:ea typeface="Times New Roman"/>
                <a:cs typeface="Times New Roman"/>
                <a:sym typeface="Times New Roman"/>
              </a:rPr>
              <a:t>Index</a:t>
            </a:r>
            <a:endParaRPr b="0" i="0" sz="2800" u="none" cap="none" strike="noStrike">
              <a:solidFill>
                <a:srgbClr val="000000"/>
              </a:solidFill>
              <a:latin typeface="Calibri"/>
              <a:ea typeface="Calibri"/>
              <a:cs typeface="Calibri"/>
              <a:sym typeface="Calibri"/>
            </a:endParaRPr>
          </a:p>
        </p:txBody>
      </p:sp>
      <p:sp>
        <p:nvSpPr>
          <p:cNvPr id="71" name="Google Shape;71;p2"/>
          <p:cNvSpPr txBox="1"/>
          <p:nvPr>
            <p:ph idx="12" type="sldNum"/>
          </p:nvPr>
        </p:nvSpPr>
        <p:spPr>
          <a:xfrm>
            <a:off x="11172458" y="6414769"/>
            <a:ext cx="181343" cy="248266"/>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72" name="Google Shape;72;p2"/>
          <p:cNvSpPr txBox="1"/>
          <p:nvPr/>
        </p:nvSpPr>
        <p:spPr>
          <a:xfrm>
            <a:off x="1172599" y="0"/>
            <a:ext cx="11157600" cy="1200600"/>
          </a:xfrm>
          <a:prstGeom prst="rect">
            <a:avLst/>
          </a:prstGeom>
          <a:noFill/>
          <a:ln>
            <a:noFill/>
          </a:ln>
        </p:spPr>
        <p:txBody>
          <a:bodyPr anchorCtr="0" anchor="t" bIns="91400" lIns="91400" spcFirstLastPara="1" rIns="91400" wrap="square" tIns="914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pic>
        <p:nvPicPr>
          <p:cNvPr descr="Google Shape;103;g2826bdb998c_1_0" id="73" name="Google Shape;73;p2"/>
          <p:cNvPicPr preferRelativeResize="0"/>
          <p:nvPr/>
        </p:nvPicPr>
        <p:blipFill rotWithShape="1">
          <a:blip r:embed="rId3">
            <a:alphaModFix/>
          </a:blip>
          <a:srcRect b="0" l="0" r="0" t="0"/>
          <a:stretch/>
        </p:blipFill>
        <p:spPr>
          <a:xfrm>
            <a:off x="106599" y="0"/>
            <a:ext cx="1296976" cy="1083776"/>
          </a:xfrm>
          <a:prstGeom prst="rect">
            <a:avLst/>
          </a:prstGeom>
          <a:noFill/>
          <a:ln>
            <a:noFill/>
          </a:ln>
        </p:spPr>
      </p:pic>
      <p:graphicFrame>
        <p:nvGraphicFramePr>
          <p:cNvPr id="74" name="Google Shape;74;p2"/>
          <p:cNvGraphicFramePr/>
          <p:nvPr/>
        </p:nvGraphicFramePr>
        <p:xfrm>
          <a:off x="2039925" y="2256350"/>
          <a:ext cx="3000000" cy="3000000"/>
        </p:xfrm>
        <a:graphic>
          <a:graphicData uri="http://schemas.openxmlformats.org/drawingml/2006/table">
            <a:tbl>
              <a:tblPr>
                <a:noFill/>
                <a:tableStyleId>{5D7264DE-CC76-4733-8456-B2F4C6777DFA}</a:tableStyleId>
              </a:tblPr>
              <a:tblGrid>
                <a:gridCol w="791675"/>
                <a:gridCol w="6105400"/>
                <a:gridCol w="1339775"/>
              </a:tblGrid>
              <a:tr h="381000">
                <a:tc>
                  <a:txBody>
                    <a:bodyPr/>
                    <a:lstStyle/>
                    <a:p>
                      <a:pPr indent="0" lvl="0" marL="0" rtl="0" algn="l">
                        <a:spcBef>
                          <a:spcPts val="0"/>
                        </a:spcBef>
                        <a:spcAft>
                          <a:spcPts val="0"/>
                        </a:spcAft>
                        <a:buNone/>
                      </a:pPr>
                      <a:r>
                        <a:rPr b="1" lang="en-US"/>
                        <a:t>S.No</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t>Table of contents</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t>Slide </a:t>
                      </a:r>
                      <a:r>
                        <a:rPr b="1" lang="en-US"/>
                        <a:t>no</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Abstract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Recap of Phase-1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Planning for Phase 2(% to be covered)</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Modules along with Class Diagrams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6, 7, 8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Module Integration and Testing</a:t>
                      </a:r>
                      <a:endParaRPr b="1">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9, 10, 11, 12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Screenshots</a:t>
                      </a:r>
                      <a:r>
                        <a:rPr lang="en-US">
                          <a:solidFill>
                            <a:schemeClr val="dk1"/>
                          </a:solidFill>
                        </a:rPr>
                        <a:t> of Modules, Implemented code on Demand</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13, 14, 15, 16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rPr>
                        <a:t>Conclusion &amp; Scope</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17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rPr>
                        <a:t>References</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18, 19, 20, 21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9.</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rPr>
                        <a:t>Status of phase 1-Paper publication</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22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2b3ccc60d3d_0_10"/>
          <p:cNvSpPr txBox="1"/>
          <p:nvPr>
            <p:ph idx="4294967295" type="ctrTitle"/>
          </p:nvPr>
        </p:nvSpPr>
        <p:spPr>
          <a:xfrm>
            <a:off x="568550" y="1367988"/>
            <a:ext cx="10099500" cy="550800"/>
          </a:xfrm>
          <a:prstGeom prst="rect">
            <a:avLst/>
          </a:prstGeom>
          <a:noFill/>
          <a:ln>
            <a:noFill/>
          </a:ln>
        </p:spPr>
        <p:txBody>
          <a:bodyPr anchorCtr="0" anchor="b"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Abstract:</a:t>
            </a:r>
            <a:endParaRPr b="0" i="0" sz="2800" u="none" cap="none" strike="noStrike">
              <a:solidFill>
                <a:srgbClr val="000000"/>
              </a:solidFill>
              <a:latin typeface="Calibri"/>
              <a:ea typeface="Calibri"/>
              <a:cs typeface="Calibri"/>
              <a:sym typeface="Calibri"/>
            </a:endParaRPr>
          </a:p>
        </p:txBody>
      </p:sp>
      <p:sp>
        <p:nvSpPr>
          <p:cNvPr id="80" name="Google Shape;80;g2b3ccc60d3d_0_10"/>
          <p:cNvSpPr txBox="1"/>
          <p:nvPr>
            <p:ph idx="4294967295" type="subTitle"/>
          </p:nvPr>
        </p:nvSpPr>
        <p:spPr>
          <a:xfrm>
            <a:off x="444174" y="2007649"/>
            <a:ext cx="11335200" cy="4548300"/>
          </a:xfrm>
          <a:prstGeom prst="rect">
            <a:avLst/>
          </a:prstGeom>
          <a:noFill/>
          <a:ln>
            <a:noFill/>
          </a:ln>
        </p:spPr>
        <p:txBody>
          <a:bodyPr anchorCtr="0" anchor="t" bIns="45675" lIns="45675" spcFirstLastPara="1" rIns="45675" wrap="square" tIns="45675">
            <a:normAutofit/>
          </a:bodyPr>
          <a:lstStyle/>
          <a:p>
            <a:pPr indent="0" lvl="0" marL="0" marR="0" rtl="0" algn="just">
              <a:lnSpc>
                <a:spcPct val="90000"/>
              </a:lnSpc>
              <a:spcBef>
                <a:spcPts val="0"/>
              </a:spcBef>
              <a:spcAft>
                <a:spcPts val="0"/>
              </a:spcAft>
              <a:buClr>
                <a:srgbClr val="000000"/>
              </a:buClr>
              <a:buSzPts val="2400"/>
              <a:buFont typeface="Arial"/>
              <a:buNone/>
            </a:pPr>
            <a:r>
              <a:rPr b="0"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Times New Roman"/>
                <a:ea typeface="Times New Roman"/>
                <a:cs typeface="Times New Roman"/>
                <a:sym typeface="Times New Roman"/>
              </a:rPr>
              <a:t>Annotation is the practice of supplementing text with extra details or labels to offer context, enhance comprehension, or facilitate the refinement of Natural Language Processing (NLP) models. The project's core objective is to develop a robust system capable of annotating document text images with minimal human intervention. This entails outlining distinct regions within an image and then generating descriptive text that effectively encapsulates the characteristics of these outlined areas. While manual annotation is time-consuming and error-prone, automatic image annotation tools step in to address these challenges, boosting efficiency and reliability. A key focus lies in achieving word-level annotations for handwritten document images. The resultant system not only mitigates the time and resource demands of manual annotation but also enhances the reliability and accuracy of annotations. This project stands to contribute significantly to the advancement of NLP applications, particularly in scenarios involving handwritten document analysis and understanding.</a:t>
            </a:r>
            <a:endParaRPr b="0" i="0" sz="2100" u="none" cap="none" strike="noStrike">
              <a:solidFill>
                <a:srgbClr val="000000"/>
              </a:solidFill>
              <a:latin typeface="Calibri"/>
              <a:ea typeface="Calibri"/>
              <a:cs typeface="Calibri"/>
              <a:sym typeface="Calibri"/>
            </a:endParaRPr>
          </a:p>
        </p:txBody>
      </p:sp>
      <p:sp>
        <p:nvSpPr>
          <p:cNvPr id="81" name="Google Shape;81;g2b3ccc60d3d_0_10"/>
          <p:cNvSpPr txBox="1"/>
          <p:nvPr>
            <p:ph idx="12" type="sldNum"/>
          </p:nvPr>
        </p:nvSpPr>
        <p:spPr>
          <a:xfrm>
            <a:off x="11172458" y="6414769"/>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82" name="Google Shape;82;g2b3ccc60d3d_0_10"/>
          <p:cNvSpPr txBox="1"/>
          <p:nvPr/>
        </p:nvSpPr>
        <p:spPr>
          <a:xfrm>
            <a:off x="1172599" y="0"/>
            <a:ext cx="11157600" cy="1200600"/>
          </a:xfrm>
          <a:prstGeom prst="rect">
            <a:avLst/>
          </a:prstGeom>
          <a:noFill/>
          <a:ln>
            <a:noFill/>
          </a:ln>
        </p:spPr>
        <p:txBody>
          <a:bodyPr anchorCtr="0" anchor="t" bIns="91400" lIns="91400" spcFirstLastPara="1" rIns="91400" wrap="square" tIns="914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pic>
        <p:nvPicPr>
          <p:cNvPr descr="Google Shape;103;g2826bdb998c_1_0" id="83" name="Google Shape;83;g2b3ccc60d3d_0_10"/>
          <p:cNvPicPr preferRelativeResize="0"/>
          <p:nvPr/>
        </p:nvPicPr>
        <p:blipFill rotWithShape="1">
          <a:blip r:embed="rId3">
            <a:alphaModFix/>
          </a:blip>
          <a:srcRect b="0" l="0" r="0" t="0"/>
          <a:stretch/>
        </p:blipFill>
        <p:spPr>
          <a:xfrm>
            <a:off x="106599" y="0"/>
            <a:ext cx="1296976" cy="10837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2b3ccc60d3d_0_21"/>
          <p:cNvSpPr txBox="1"/>
          <p:nvPr>
            <p:ph idx="4294967295" type="ctrTitle"/>
          </p:nvPr>
        </p:nvSpPr>
        <p:spPr>
          <a:xfrm>
            <a:off x="568550" y="1525488"/>
            <a:ext cx="10099500" cy="550800"/>
          </a:xfrm>
          <a:prstGeom prst="rect">
            <a:avLst/>
          </a:prstGeom>
          <a:noFill/>
          <a:ln>
            <a:noFill/>
          </a:ln>
        </p:spPr>
        <p:txBody>
          <a:bodyPr anchorCtr="0" anchor="b"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800"/>
              <a:buFont typeface="Times New Roman"/>
              <a:buNone/>
            </a:pPr>
            <a:r>
              <a:rPr b="1" lang="en-US" sz="2800">
                <a:latin typeface="Times New Roman"/>
                <a:ea typeface="Times New Roman"/>
                <a:cs typeface="Times New Roman"/>
                <a:sym typeface="Times New Roman"/>
              </a:rPr>
              <a:t>Recap of Phase - I</a:t>
            </a:r>
            <a:r>
              <a:rPr b="1" i="0" lang="en-US" sz="2800" u="none" cap="none" strike="noStrike">
                <a:solidFill>
                  <a:srgbClr val="000000"/>
                </a:solidFill>
                <a:latin typeface="Times New Roman"/>
                <a:ea typeface="Times New Roman"/>
                <a:cs typeface="Times New Roman"/>
                <a:sym typeface="Times New Roman"/>
              </a:rPr>
              <a:t>:</a:t>
            </a:r>
            <a:endParaRPr b="0" i="0" sz="2800" u="none" cap="none" strike="noStrike">
              <a:solidFill>
                <a:srgbClr val="000000"/>
              </a:solidFill>
              <a:latin typeface="Calibri"/>
              <a:ea typeface="Calibri"/>
              <a:cs typeface="Calibri"/>
              <a:sym typeface="Calibri"/>
            </a:endParaRPr>
          </a:p>
        </p:txBody>
      </p:sp>
      <p:sp>
        <p:nvSpPr>
          <p:cNvPr id="89" name="Google Shape;89;g2b3ccc60d3d_0_21"/>
          <p:cNvSpPr txBox="1"/>
          <p:nvPr>
            <p:ph idx="4294967295" type="subTitle"/>
          </p:nvPr>
        </p:nvSpPr>
        <p:spPr>
          <a:xfrm>
            <a:off x="428400" y="2401200"/>
            <a:ext cx="11335200" cy="4456800"/>
          </a:xfrm>
          <a:prstGeom prst="rect">
            <a:avLst/>
          </a:prstGeom>
          <a:noFill/>
          <a:ln>
            <a:noFill/>
          </a:ln>
        </p:spPr>
        <p:txBody>
          <a:bodyPr anchorCtr="0" anchor="t" bIns="45675" lIns="45675" spcFirstLastPara="1" rIns="45675" wrap="square" tIns="45675">
            <a:normAutofit/>
          </a:bodyPr>
          <a:lstStyle/>
          <a:p>
            <a:pPr indent="-361950" lvl="0" marL="457200" marR="0" rtl="0" algn="just">
              <a:lnSpc>
                <a:spcPct val="90000"/>
              </a:lnSpc>
              <a:spcBef>
                <a:spcPts val="0"/>
              </a:spcBef>
              <a:spcAft>
                <a:spcPts val="0"/>
              </a:spcAft>
              <a:buSzPts val="2100"/>
              <a:buChar char="•"/>
            </a:pPr>
            <a:r>
              <a:rPr lang="en-US" sz="2100"/>
              <a:t>During the initial phase of our project, we executed DE-GAN for preprocessing and utilized CRAFT for bounding boxing techniques on a set of 504 handwritten Telugu document text images that we have written and collected from GRIET students.</a:t>
            </a:r>
            <a:endParaRPr sz="2100"/>
          </a:p>
          <a:p>
            <a:pPr indent="0" lvl="0" marL="457200" marR="0" rtl="0" algn="just">
              <a:lnSpc>
                <a:spcPct val="90000"/>
              </a:lnSpc>
              <a:spcBef>
                <a:spcPts val="0"/>
              </a:spcBef>
              <a:spcAft>
                <a:spcPts val="0"/>
              </a:spcAft>
              <a:buNone/>
            </a:pPr>
            <a:r>
              <a:t/>
            </a:r>
            <a:endParaRPr sz="2100"/>
          </a:p>
          <a:p>
            <a:pPr indent="-361950" lvl="0" marL="457200" marR="0" rtl="0" algn="just">
              <a:lnSpc>
                <a:spcPct val="90000"/>
              </a:lnSpc>
              <a:spcBef>
                <a:spcPts val="0"/>
              </a:spcBef>
              <a:spcAft>
                <a:spcPts val="0"/>
              </a:spcAft>
              <a:buSzPts val="2100"/>
              <a:buChar char="•"/>
            </a:pPr>
            <a:r>
              <a:rPr lang="en-US" sz="2100"/>
              <a:t>De-GAN[1] employs Generative Adversarial Networks (GANs) to denoise handwritten documents, effectively eliminating background artifacts and smudges.</a:t>
            </a:r>
            <a:endParaRPr sz="2100"/>
          </a:p>
          <a:p>
            <a:pPr indent="0" lvl="0" marL="457200" marR="0" rtl="0" algn="just">
              <a:lnSpc>
                <a:spcPct val="90000"/>
              </a:lnSpc>
              <a:spcBef>
                <a:spcPts val="0"/>
              </a:spcBef>
              <a:spcAft>
                <a:spcPts val="0"/>
              </a:spcAft>
              <a:buNone/>
            </a:pPr>
            <a:r>
              <a:t/>
            </a:r>
            <a:endParaRPr sz="2100"/>
          </a:p>
          <a:p>
            <a:pPr indent="-361950" lvl="0" marL="457200" marR="0" rtl="0" algn="just">
              <a:lnSpc>
                <a:spcPct val="90000"/>
              </a:lnSpc>
              <a:spcBef>
                <a:spcPts val="0"/>
              </a:spcBef>
              <a:spcAft>
                <a:spcPts val="0"/>
              </a:spcAft>
              <a:buSzPts val="2100"/>
              <a:buChar char="•"/>
            </a:pPr>
            <a:r>
              <a:rPr lang="en-US" sz="2100"/>
              <a:t>After De-GAN binarizes the image, it undergoes processing with the CRAFT[] model. CRAFT, a Convolutional Neural Network (CNN)-based text detection model, precisely detects text regions from document images. </a:t>
            </a:r>
            <a:endParaRPr sz="2100"/>
          </a:p>
          <a:p>
            <a:pPr indent="0" lvl="0" marL="457200" marR="0" rtl="0" algn="just">
              <a:lnSpc>
                <a:spcPct val="90000"/>
              </a:lnSpc>
              <a:spcBef>
                <a:spcPts val="0"/>
              </a:spcBef>
              <a:spcAft>
                <a:spcPts val="0"/>
              </a:spcAft>
              <a:buNone/>
            </a:pPr>
            <a:r>
              <a:t/>
            </a:r>
            <a:endParaRPr sz="2100"/>
          </a:p>
          <a:p>
            <a:pPr indent="-361950" lvl="0" marL="457200" marR="0" rtl="0" algn="just">
              <a:lnSpc>
                <a:spcPct val="90000"/>
              </a:lnSpc>
              <a:spcBef>
                <a:spcPts val="0"/>
              </a:spcBef>
              <a:spcAft>
                <a:spcPts val="0"/>
              </a:spcAft>
              <a:buSzPts val="2100"/>
              <a:buChar char="•"/>
            </a:pPr>
            <a:r>
              <a:rPr lang="en-US" sz="2100"/>
              <a:t>CRAFT creates boundboxes for text regions and their respective coordinates which is useful for extracting word images through cropping.</a:t>
            </a:r>
            <a:endParaRPr sz="2100"/>
          </a:p>
          <a:p>
            <a:pPr indent="0" lvl="0" marL="0" marR="0" rtl="0" algn="just">
              <a:lnSpc>
                <a:spcPct val="90000"/>
              </a:lnSpc>
              <a:spcBef>
                <a:spcPts val="0"/>
              </a:spcBef>
              <a:spcAft>
                <a:spcPts val="0"/>
              </a:spcAft>
              <a:buNone/>
            </a:pPr>
            <a:r>
              <a:t/>
            </a:r>
            <a:endParaRPr sz="2100"/>
          </a:p>
        </p:txBody>
      </p:sp>
      <p:sp>
        <p:nvSpPr>
          <p:cNvPr id="90" name="Google Shape;90;g2b3ccc60d3d_0_21"/>
          <p:cNvSpPr txBox="1"/>
          <p:nvPr>
            <p:ph idx="12" type="sldNum"/>
          </p:nvPr>
        </p:nvSpPr>
        <p:spPr>
          <a:xfrm>
            <a:off x="11172458" y="6414769"/>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91" name="Google Shape;91;g2b3ccc60d3d_0_21"/>
          <p:cNvSpPr txBox="1"/>
          <p:nvPr/>
        </p:nvSpPr>
        <p:spPr>
          <a:xfrm>
            <a:off x="1172599" y="0"/>
            <a:ext cx="11157600" cy="1200600"/>
          </a:xfrm>
          <a:prstGeom prst="rect">
            <a:avLst/>
          </a:prstGeom>
          <a:noFill/>
          <a:ln>
            <a:noFill/>
          </a:ln>
        </p:spPr>
        <p:txBody>
          <a:bodyPr anchorCtr="0" anchor="t" bIns="91400" lIns="91400" spcFirstLastPara="1" rIns="91400" wrap="square" tIns="914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pic>
        <p:nvPicPr>
          <p:cNvPr descr="Google Shape;103;g2826bdb998c_1_0" id="92" name="Google Shape;92;g2b3ccc60d3d_0_21"/>
          <p:cNvPicPr preferRelativeResize="0"/>
          <p:nvPr/>
        </p:nvPicPr>
        <p:blipFill rotWithShape="1">
          <a:blip r:embed="rId3">
            <a:alphaModFix/>
          </a:blip>
          <a:srcRect b="0" l="0" r="0" t="0"/>
          <a:stretch/>
        </p:blipFill>
        <p:spPr>
          <a:xfrm>
            <a:off x="106599" y="0"/>
            <a:ext cx="1296976" cy="10837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7"/>
          <p:cNvSpPr txBox="1"/>
          <p:nvPr>
            <p:ph idx="4294967295" type="ctrTitle"/>
          </p:nvPr>
        </p:nvSpPr>
        <p:spPr>
          <a:xfrm>
            <a:off x="158949" y="1357800"/>
            <a:ext cx="11715900" cy="5500200"/>
          </a:xfrm>
          <a:prstGeom prst="rect">
            <a:avLst/>
          </a:prstGeom>
          <a:noFill/>
          <a:ln>
            <a:noFill/>
          </a:ln>
        </p:spPr>
        <p:txBody>
          <a:bodyPr anchorCtr="0" anchor="t"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700"/>
              <a:buFont typeface="Times New Roman"/>
              <a:buNone/>
            </a:pPr>
            <a:r>
              <a:rPr b="1" lang="en-US" sz="2800">
                <a:solidFill>
                  <a:schemeClr val="dk1"/>
                </a:solidFill>
                <a:latin typeface="Arial"/>
                <a:ea typeface="Arial"/>
                <a:cs typeface="Arial"/>
                <a:sym typeface="Arial"/>
              </a:rPr>
              <a:t>Planning for Phase 2</a:t>
            </a:r>
            <a:r>
              <a:rPr b="1" i="0" lang="en-US" sz="2800" u="none" cap="none" strike="noStrike">
                <a:solidFill>
                  <a:srgbClr val="000000"/>
                </a:solidFill>
                <a:latin typeface="Times New Roman"/>
                <a:ea typeface="Times New Roman"/>
                <a:cs typeface="Times New Roman"/>
                <a:sym typeface="Times New Roman"/>
              </a:rPr>
              <a:t>:</a:t>
            </a:r>
            <a:endParaRPr b="1" i="0" sz="2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Times New Roman"/>
              <a:buNone/>
            </a:pPr>
            <a:r>
              <a:t/>
            </a:r>
            <a:endParaRPr b="1" sz="2800">
              <a:latin typeface="Times New Roman"/>
              <a:ea typeface="Times New Roman"/>
              <a:cs typeface="Times New Roman"/>
              <a:sym typeface="Times New Roman"/>
            </a:endParaRPr>
          </a:p>
          <a:p>
            <a:pPr indent="-361950" lvl="0" marL="457200" rtl="0" algn="just">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We delved into 504 handwritten Telugu images and discovered a total of 25,388 words, embracing a captivating assortment of 2,509 unique ones. Through a careful cropping process, we distilled this linguistic diversity into 616 distinct classes, infusing our dataset with a natural richness derived from the Telugu text images.</a:t>
            </a:r>
            <a:endParaRPr b="1"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3100"/>
              <a:buFont typeface="Calibri"/>
              <a:buNone/>
            </a:pPr>
            <a:r>
              <a:t/>
            </a:r>
            <a:endParaRPr b="1" i="0" sz="2100" u="none" cap="none" strike="noStrike">
              <a:solidFill>
                <a:srgbClr val="000000"/>
              </a:solidFill>
              <a:latin typeface="Times New Roman"/>
              <a:ea typeface="Times New Roman"/>
              <a:cs typeface="Times New Roman"/>
              <a:sym typeface="Times New Roman"/>
            </a:endParaRPr>
          </a:p>
          <a:p>
            <a:pPr indent="-361950" lvl="0" marL="457200" marR="0" rtl="0" algn="l">
              <a:lnSpc>
                <a:spcPct val="90000"/>
              </a:lnSpc>
              <a:spcBef>
                <a:spcPts val="0"/>
              </a:spcBef>
              <a:spcAft>
                <a:spcPts val="0"/>
              </a:spcAft>
              <a:buClr>
                <a:srgbClr val="343541"/>
              </a:buClr>
              <a:buSzPts val="2100"/>
              <a:buFont typeface="Times New Roman"/>
              <a:buChar char="●"/>
            </a:pPr>
            <a:r>
              <a:rPr lang="en-US" sz="2100">
                <a:solidFill>
                  <a:srgbClr val="343541"/>
                </a:solidFill>
                <a:latin typeface="Times New Roman"/>
                <a:ea typeface="Times New Roman"/>
                <a:cs typeface="Times New Roman"/>
                <a:sym typeface="Times New Roman"/>
              </a:rPr>
              <a:t>In the upcoming Phase 2, our strategy involves training the 616 identified classes using a word recognizer. We are leaning towards employing a FastText model developed by Facebook for this purpose. Following the training phase, we will meticulously test the model and annotate the words on the original handwritten images, employing a dual approach of manual and automated annotation.</a:t>
            </a:r>
            <a:endParaRPr sz="2100">
              <a:solidFill>
                <a:srgbClr val="34354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None/>
            </a:pPr>
            <a:r>
              <a:t/>
            </a:r>
            <a:endParaRPr i="0" sz="2100" u="none" cap="none" strike="noStrike">
              <a:solidFill>
                <a:srgbClr val="000000"/>
              </a:solidFill>
              <a:latin typeface="Times New Roman"/>
              <a:ea typeface="Times New Roman"/>
              <a:cs typeface="Times New Roman"/>
              <a:sym typeface="Times New Roman"/>
            </a:endParaRPr>
          </a:p>
          <a:p>
            <a:pPr indent="-361950" lvl="0" marL="457200" marR="0" rtl="0" algn="l">
              <a:lnSpc>
                <a:spcPct val="90000"/>
              </a:lnSpc>
              <a:spcBef>
                <a:spcPts val="0"/>
              </a:spcBef>
              <a:spcAft>
                <a:spcPts val="0"/>
              </a:spcAft>
              <a:buClr>
                <a:srgbClr val="343541"/>
              </a:buClr>
              <a:buSzPts val="2100"/>
              <a:buFont typeface="Times New Roman"/>
              <a:buChar char="●"/>
            </a:pPr>
            <a:r>
              <a:rPr i="0" lang="en-US" sz="2100" u="none" cap="none" strike="noStrike">
                <a:solidFill>
                  <a:srgbClr val="343541"/>
                </a:solidFill>
                <a:latin typeface="Times New Roman"/>
                <a:ea typeface="Times New Roman"/>
                <a:cs typeface="Times New Roman"/>
                <a:sym typeface="Times New Roman"/>
              </a:rPr>
              <a:t>This comprehensive approach not only holds the promise of significantly enhancing annotation accuracy but also streamlines the entire annotation workflow, reducing the need for manual intervention.</a:t>
            </a:r>
            <a:endParaRPr i="0" sz="2100" u="none" cap="none" strike="noStrike">
              <a:solidFill>
                <a:srgbClr val="34354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None/>
            </a:pPr>
            <a:r>
              <a:rPr i="0" lang="en-US" sz="2100" u="none" cap="none" strike="noStrike">
                <a:solidFill>
                  <a:srgbClr val="343541"/>
                </a:solidFill>
                <a:latin typeface="Times New Roman"/>
                <a:ea typeface="Times New Roman"/>
                <a:cs typeface="Times New Roman"/>
                <a:sym typeface="Times New Roman"/>
              </a:rPr>
              <a:t> </a:t>
            </a:r>
            <a:endParaRPr i="0" sz="2100" u="none" cap="none" strike="noStrike">
              <a:solidFill>
                <a:srgbClr val="000000"/>
              </a:solidFill>
              <a:latin typeface="Times New Roman"/>
              <a:ea typeface="Times New Roman"/>
              <a:cs typeface="Times New Roman"/>
              <a:sym typeface="Times New Roman"/>
            </a:endParaRPr>
          </a:p>
          <a:p>
            <a:pPr indent="-361950" lvl="0" marL="457200" marR="0" rtl="0" algn="l">
              <a:lnSpc>
                <a:spcPct val="90000"/>
              </a:lnSpc>
              <a:spcBef>
                <a:spcPts val="0"/>
              </a:spcBef>
              <a:spcAft>
                <a:spcPts val="0"/>
              </a:spcAft>
              <a:buClr>
                <a:srgbClr val="343541"/>
              </a:buClr>
              <a:buSzPts val="2100"/>
              <a:buFont typeface="Times New Roman"/>
              <a:buChar char="●"/>
            </a:pPr>
            <a:r>
              <a:rPr i="0" lang="en-US" sz="2100" u="none" cap="none" strike="noStrike">
                <a:solidFill>
                  <a:srgbClr val="343541"/>
                </a:solidFill>
                <a:latin typeface="Times New Roman"/>
                <a:ea typeface="Times New Roman"/>
                <a:cs typeface="Times New Roman"/>
                <a:sym typeface="Times New Roman"/>
              </a:rPr>
              <a:t>In these fields, where precise and efficient annotations of Telugu handwritten documents are of utmost significance, our system plays a pivotal role in facilitating in-depth analysis and insightful outcomes.</a:t>
            </a:r>
            <a:r>
              <a:rPr b="0" i="0" lang="en-US" sz="2100" u="none" cap="none" strike="noStrike">
                <a:solidFill>
                  <a:srgbClr val="343541"/>
                </a:solidFill>
                <a:latin typeface="Times New Roman"/>
                <a:ea typeface="Times New Roman"/>
                <a:cs typeface="Times New Roman"/>
                <a:sym typeface="Times New Roman"/>
              </a:rPr>
              <a:t>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t/>
            </a:r>
            <a:endParaRPr b="0" i="0" sz="2000" u="none" cap="none" strike="noStrike">
              <a:solidFill>
                <a:srgbClr val="343541"/>
              </a:solidFill>
              <a:latin typeface="Times New Roman"/>
              <a:ea typeface="Times New Roman"/>
              <a:cs typeface="Times New Roman"/>
              <a:sym typeface="Times New Roman"/>
            </a:endParaRPr>
          </a:p>
        </p:txBody>
      </p:sp>
      <p:pic>
        <p:nvPicPr>
          <p:cNvPr descr="Google Shape;153;p4" id="98" name="Google Shape;98;p7"/>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99" name="Google Shape;99;p7"/>
          <p:cNvSpPr txBox="1"/>
          <p:nvPr/>
        </p:nvSpPr>
        <p:spPr>
          <a:xfrm>
            <a:off x="1286074"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00" name="Google Shape;100;p7"/>
          <p:cNvSpPr txBox="1"/>
          <p:nvPr>
            <p:ph idx="12" type="sldNum"/>
          </p:nvPr>
        </p:nvSpPr>
        <p:spPr>
          <a:xfrm>
            <a:off x="11154683" y="6468069"/>
            <a:ext cx="181343" cy="248266"/>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1"/>
          <p:cNvSpPr txBox="1"/>
          <p:nvPr>
            <p:ph idx="4294967295" type="ctrTitle"/>
          </p:nvPr>
        </p:nvSpPr>
        <p:spPr>
          <a:xfrm>
            <a:off x="66675" y="1822399"/>
            <a:ext cx="11969700" cy="4749901"/>
          </a:xfrm>
          <a:prstGeom prst="rect">
            <a:avLst/>
          </a:prstGeom>
          <a:noFill/>
          <a:ln>
            <a:noFill/>
          </a:ln>
        </p:spPr>
        <p:txBody>
          <a:bodyPr anchorCtr="0" anchor="t" bIns="45675" lIns="45675" spcFirstLastPara="1" rIns="45675" wrap="square" tIns="45675">
            <a:normAutofit/>
          </a:bodyPr>
          <a:lstStyle/>
          <a:p>
            <a:pPr indent="0" lvl="0" marL="0" marR="0" rtl="0" algn="l">
              <a:lnSpc>
                <a:spcPct val="90000"/>
              </a:lnSpc>
              <a:spcBef>
                <a:spcPts val="0"/>
              </a:spcBef>
              <a:spcAft>
                <a:spcPts val="0"/>
              </a:spcAft>
              <a:buClr>
                <a:srgbClr val="000000"/>
              </a:buClr>
              <a:buSzPts val="4717"/>
              <a:buFont typeface="Calibri"/>
              <a:buNone/>
            </a:pP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endParaRPr b="0" i="0" sz="4400" u="none" cap="none" strike="noStrike">
              <a:solidFill>
                <a:srgbClr val="000000"/>
              </a:solidFill>
              <a:latin typeface="Calibri"/>
              <a:ea typeface="Calibri"/>
              <a:cs typeface="Calibri"/>
              <a:sym typeface="Calibri"/>
            </a:endParaRPr>
          </a:p>
        </p:txBody>
      </p:sp>
      <p:pic>
        <p:nvPicPr>
          <p:cNvPr descr="Google Shape;195;p6" id="106" name="Google Shape;106;p11"/>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07" name="Google Shape;107;p11"/>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08" name="Google Shape;108;p11"/>
          <p:cNvSpPr txBox="1"/>
          <p:nvPr/>
        </p:nvSpPr>
        <p:spPr>
          <a:xfrm>
            <a:off x="233674" y="2349950"/>
            <a:ext cx="10980600" cy="36324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1F2328"/>
              </a:buClr>
              <a:buSzPts val="2000"/>
              <a:buFont typeface="Times New Roman"/>
              <a:buNone/>
            </a:pPr>
            <a:r>
              <a:rPr b="0" i="0" lang="en-US" sz="2100" u="none" cap="none" strike="noStrike">
                <a:solidFill>
                  <a:srgbClr val="1F2328"/>
                </a:solidFill>
                <a:latin typeface="Times New Roman"/>
                <a:ea typeface="Times New Roman"/>
                <a:cs typeface="Times New Roman"/>
                <a:sym typeface="Times New Roman"/>
              </a:rPr>
              <a:t>There are three main modules in our project.</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100" u="none" cap="none" strike="noStrike">
              <a:solidFill>
                <a:srgbClr val="1F232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1F2328"/>
              </a:buClr>
              <a:buSzPts val="2000"/>
              <a:buFont typeface="Times New Roman"/>
              <a:buNone/>
            </a:pPr>
            <a:r>
              <a:rPr b="0" i="0" lang="en-US" sz="2100" u="none" cap="none" strike="noStrike">
                <a:solidFill>
                  <a:srgbClr val="1F2328"/>
                </a:solidFill>
                <a:latin typeface="Times New Roman"/>
                <a:ea typeface="Times New Roman"/>
                <a:cs typeface="Times New Roman"/>
                <a:sym typeface="Times New Roman"/>
              </a:rPr>
              <a:t>De-GAN Module:</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De-GAN utilizes Generative Adversarial Networks (GANs) for denoising handwritten documents.</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identifies and removes various types of noise, such as background artifacts and smudges.</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enhances the overall quality of scanned documents, making them more legible and suitable for annotation.</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employs deep learning techniques to learn and generate denoised versions of input documents.</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significantly improves dataset readiness for subsequent annotation and analysis.</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F2328"/>
              </a:solidFill>
              <a:latin typeface="Times New Roman"/>
              <a:ea typeface="Times New Roman"/>
              <a:cs typeface="Times New Roman"/>
              <a:sym typeface="Times New Roman"/>
            </a:endParaRPr>
          </a:p>
        </p:txBody>
      </p:sp>
      <p:sp>
        <p:nvSpPr>
          <p:cNvPr id="109" name="Google Shape;109;p11"/>
          <p:cNvSpPr txBox="1"/>
          <p:nvPr/>
        </p:nvSpPr>
        <p:spPr>
          <a:xfrm>
            <a:off x="187949" y="1538599"/>
            <a:ext cx="6610800" cy="615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Module Description:</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2"/>
          <p:cNvSpPr txBox="1"/>
          <p:nvPr>
            <p:ph idx="4294967295" type="ctrTitle"/>
          </p:nvPr>
        </p:nvSpPr>
        <p:spPr>
          <a:xfrm>
            <a:off x="66675" y="1822399"/>
            <a:ext cx="11969700" cy="4749901"/>
          </a:xfrm>
          <a:prstGeom prst="rect">
            <a:avLst/>
          </a:prstGeom>
          <a:noFill/>
          <a:ln>
            <a:noFill/>
          </a:ln>
        </p:spPr>
        <p:txBody>
          <a:bodyPr anchorCtr="0" anchor="t" bIns="45675" lIns="45675" spcFirstLastPara="1" rIns="45675" wrap="square" tIns="45675">
            <a:normAutofit/>
          </a:bodyPr>
          <a:lstStyle/>
          <a:p>
            <a:pPr indent="0" lvl="0" marL="0" marR="0" rtl="0" algn="l">
              <a:lnSpc>
                <a:spcPct val="90000"/>
              </a:lnSpc>
              <a:spcBef>
                <a:spcPts val="0"/>
              </a:spcBef>
              <a:spcAft>
                <a:spcPts val="0"/>
              </a:spcAft>
              <a:buClr>
                <a:srgbClr val="000000"/>
              </a:buClr>
              <a:buSzPts val="4717"/>
              <a:buFont typeface="Calibri"/>
              <a:buNone/>
            </a:pP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endParaRPr b="0" i="0" sz="4400" u="none" cap="none" strike="noStrike">
              <a:solidFill>
                <a:srgbClr val="000000"/>
              </a:solidFill>
              <a:latin typeface="Calibri"/>
              <a:ea typeface="Calibri"/>
              <a:cs typeface="Calibri"/>
              <a:sym typeface="Calibri"/>
            </a:endParaRPr>
          </a:p>
        </p:txBody>
      </p:sp>
      <p:pic>
        <p:nvPicPr>
          <p:cNvPr descr="Google Shape;205;g2826546880a_3_4" id="115" name="Google Shape;115;p12"/>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16" name="Google Shape;116;p12"/>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17" name="Google Shape;117;p12"/>
          <p:cNvSpPr txBox="1"/>
          <p:nvPr/>
        </p:nvSpPr>
        <p:spPr>
          <a:xfrm>
            <a:off x="233674" y="1486801"/>
            <a:ext cx="10980600" cy="49410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1F2328"/>
              </a:buClr>
              <a:buSzPts val="2000"/>
              <a:buFont typeface="Times New Roman"/>
              <a:buNone/>
            </a:pPr>
            <a:r>
              <a:rPr b="0" i="0" lang="en-US" sz="2100" u="none" cap="none" strike="noStrike">
                <a:solidFill>
                  <a:srgbClr val="1F2328"/>
                </a:solidFill>
                <a:latin typeface="Times New Roman"/>
                <a:ea typeface="Times New Roman"/>
                <a:cs typeface="Times New Roman"/>
                <a:sym typeface="Times New Roman"/>
              </a:rPr>
              <a:t>CRAFT Module:</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After binarizing the image using De-GAN, it is sent to CRAFT model.</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CRAFT is a text detection model that uses a Convolutional Neural Network(CNN) model to accurately extract text regions from the document images. </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analyzes pixel-level information to determine character and word boundaries. </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utilizes computer vision algorithms to identify regions containing textual content. </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The purpose of this model is to minimizes errors and enhances annotation efficiency by focusing solely on relevant text.</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100" u="none" cap="none" strike="noStrike">
              <a:solidFill>
                <a:srgbClr val="1F232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1F2328"/>
              </a:buClr>
              <a:buSzPts val="2000"/>
              <a:buFont typeface="Times New Roman"/>
              <a:buNone/>
            </a:pPr>
            <a:r>
              <a:rPr b="0" i="0" lang="en-US" sz="2100" u="none" cap="none" strike="noStrike">
                <a:solidFill>
                  <a:srgbClr val="1F2328"/>
                </a:solidFill>
                <a:latin typeface="Times New Roman"/>
                <a:ea typeface="Times New Roman"/>
                <a:cs typeface="Times New Roman"/>
                <a:sym typeface="Times New Roman"/>
              </a:rPr>
              <a:t>Annotation Module:</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Annotation involves the automated labeling of pre-processed documents to make it recognizable and usable for various applications. </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employs machine learning models like CNNs, GCN, LSTM-based and encoder-decoder with attention models for automated text recognition.</a:t>
            </a:r>
            <a:endParaRPr b="0" i="0" sz="2100" u="none" cap="none" strike="noStrike">
              <a:solidFill>
                <a:srgbClr val="000000"/>
              </a:solidFill>
              <a:latin typeface="Arial"/>
              <a:ea typeface="Arial"/>
              <a:cs typeface="Arial"/>
              <a:sym typeface="Arial"/>
            </a:endParaRPr>
          </a:p>
          <a:p>
            <a:pPr indent="-361950" lvl="0" marL="457200" marR="0" rtl="0" algn="l">
              <a:lnSpc>
                <a:spcPct val="100000"/>
              </a:lnSpc>
              <a:spcBef>
                <a:spcPts val="0"/>
              </a:spcBef>
              <a:spcAft>
                <a:spcPts val="0"/>
              </a:spcAft>
              <a:buClr>
                <a:srgbClr val="1F2328"/>
              </a:buClr>
              <a:buSzPts val="2100"/>
              <a:buFont typeface="Times New Roman"/>
              <a:buChar char="●"/>
            </a:pPr>
            <a:r>
              <a:rPr b="0" i="0" lang="en-US" sz="2100" u="none" cap="none" strike="noStrike">
                <a:solidFill>
                  <a:srgbClr val="1F2328"/>
                </a:solidFill>
                <a:latin typeface="Times New Roman"/>
                <a:ea typeface="Times New Roman"/>
                <a:cs typeface="Times New Roman"/>
                <a:sym typeface="Times New Roman"/>
              </a:rPr>
              <a:t>It involves manual review to rectify discrepancies and ensure high accuracy.</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b3ccc60d3d_1_0"/>
          <p:cNvSpPr txBox="1"/>
          <p:nvPr>
            <p:ph idx="4294967295" type="ctrTitle"/>
          </p:nvPr>
        </p:nvSpPr>
        <p:spPr>
          <a:xfrm>
            <a:off x="66675" y="1822400"/>
            <a:ext cx="11969700" cy="5035500"/>
          </a:xfrm>
          <a:prstGeom prst="rect">
            <a:avLst/>
          </a:prstGeom>
          <a:noFill/>
          <a:ln>
            <a:noFill/>
          </a:ln>
        </p:spPr>
        <p:txBody>
          <a:bodyPr anchorCtr="0" anchor="t" bIns="45675" lIns="45675" spcFirstLastPara="1" rIns="45675" wrap="square" tIns="45675">
            <a:normAutofit fontScale="90000"/>
          </a:bodyPr>
          <a:lstStyle/>
          <a:p>
            <a:pPr indent="0" lvl="0" marL="0" marR="0" rtl="0" algn="l">
              <a:lnSpc>
                <a:spcPct val="90000"/>
              </a:lnSpc>
              <a:spcBef>
                <a:spcPts val="0"/>
              </a:spcBef>
              <a:spcAft>
                <a:spcPts val="0"/>
              </a:spcAft>
              <a:buClr>
                <a:srgbClr val="000000"/>
              </a:buClr>
              <a:buSzPct val="100000"/>
              <a:buFont typeface="Calibri"/>
              <a:buNone/>
            </a:pP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br>
              <a:rPr b="1" i="0" lang="en-US" sz="4717" u="none" cap="none" strike="noStrike">
                <a:solidFill>
                  <a:srgbClr val="000000"/>
                </a:solidFill>
                <a:latin typeface="Calibri"/>
                <a:ea typeface="Calibri"/>
                <a:cs typeface="Calibri"/>
                <a:sym typeface="Calibri"/>
              </a:rPr>
            </a:br>
            <a:endParaRPr b="1" i="0" sz="4717"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ct val="235850"/>
              <a:buFont typeface="Calibri"/>
              <a:buNone/>
            </a:pPr>
            <a:r>
              <a:t/>
            </a:r>
            <a:endParaRPr b="1" sz="2000"/>
          </a:p>
          <a:p>
            <a:pPr indent="0" lvl="0" marL="0" marR="0" rtl="0" algn="l">
              <a:lnSpc>
                <a:spcPct val="90000"/>
              </a:lnSpc>
              <a:spcBef>
                <a:spcPts val="0"/>
              </a:spcBef>
              <a:spcAft>
                <a:spcPts val="0"/>
              </a:spcAft>
              <a:buClr>
                <a:srgbClr val="000000"/>
              </a:buClr>
              <a:buSzPct val="235850"/>
              <a:buFont typeface="Calibri"/>
              <a:buNone/>
            </a:pPr>
            <a:r>
              <a:rPr b="1" lang="en-US" sz="2000"/>
              <a:t>                                                                                                     </a:t>
            </a:r>
            <a:endParaRPr b="1" sz="2000"/>
          </a:p>
          <a:p>
            <a:pPr indent="0" lvl="0" marL="0" marR="0" rtl="0" algn="l">
              <a:lnSpc>
                <a:spcPct val="90000"/>
              </a:lnSpc>
              <a:spcBef>
                <a:spcPts val="0"/>
              </a:spcBef>
              <a:spcAft>
                <a:spcPts val="0"/>
              </a:spcAft>
              <a:buClr>
                <a:srgbClr val="000000"/>
              </a:buClr>
              <a:buSzPct val="235850"/>
              <a:buFont typeface="Calibri"/>
              <a:buNone/>
            </a:pPr>
            <a:r>
              <a:rPr b="1" lang="en-US" sz="2000"/>
              <a:t>                                                                                                     </a:t>
            </a:r>
            <a:r>
              <a:rPr b="1" i="0" lang="en-US" sz="2000" u="none" cap="none" strike="noStrike">
                <a:solidFill>
                  <a:srgbClr val="000000"/>
                </a:solidFill>
                <a:latin typeface="Calibri"/>
                <a:ea typeface="Calibri"/>
                <a:cs typeface="Calibri"/>
                <a:sym typeface="Calibri"/>
              </a:rPr>
              <a:t>Fig 1:Class Diagram</a:t>
            </a:r>
            <a:endParaRPr b="0" i="0" sz="2000" u="none" cap="none" strike="noStrike">
              <a:solidFill>
                <a:srgbClr val="000000"/>
              </a:solidFill>
              <a:latin typeface="Calibri"/>
              <a:ea typeface="Calibri"/>
              <a:cs typeface="Calibri"/>
              <a:sym typeface="Calibri"/>
            </a:endParaRPr>
          </a:p>
        </p:txBody>
      </p:sp>
      <p:pic>
        <p:nvPicPr>
          <p:cNvPr descr="Google Shape;205;g2826546880a_3_4" id="123" name="Google Shape;123;g2b3ccc60d3d_1_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24" name="Google Shape;124;g2b3ccc60d3d_1_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25" name="Google Shape;125;g2b3ccc60d3d_1_0"/>
          <p:cNvSpPr txBox="1"/>
          <p:nvPr/>
        </p:nvSpPr>
        <p:spPr>
          <a:xfrm>
            <a:off x="233674" y="1486801"/>
            <a:ext cx="10980600" cy="492600"/>
          </a:xfrm>
          <a:prstGeom prst="rect">
            <a:avLst/>
          </a:prstGeom>
          <a:noFill/>
          <a:ln>
            <a:noFill/>
          </a:ln>
        </p:spPr>
        <p:txBody>
          <a:bodyPr anchorCtr="0" anchor="t" bIns="45675" lIns="45675" spcFirstLastPara="1" rIns="45675" wrap="square" tIns="45675">
            <a:spAutoFit/>
          </a:bodyPr>
          <a:lstStyle/>
          <a:p>
            <a:pPr indent="0" lvl="0" marL="457200" marR="0" rtl="0" algn="l">
              <a:lnSpc>
                <a:spcPct val="100000"/>
              </a:lnSpc>
              <a:spcBef>
                <a:spcPts val="0"/>
              </a:spcBef>
              <a:spcAft>
                <a:spcPts val="0"/>
              </a:spcAft>
              <a:buNone/>
            </a:pPr>
            <a:r>
              <a:rPr b="1" lang="en-US" sz="2600">
                <a:solidFill>
                  <a:srgbClr val="1F2328"/>
                </a:solidFill>
                <a:latin typeface="Times New Roman"/>
                <a:ea typeface="Times New Roman"/>
                <a:cs typeface="Times New Roman"/>
                <a:sym typeface="Times New Roman"/>
              </a:rPr>
              <a:t>Class Diagram:</a:t>
            </a:r>
            <a:endParaRPr b="1" i="0" sz="2600" u="none" cap="none" strike="noStrike">
              <a:solidFill>
                <a:srgbClr val="000000"/>
              </a:solidFill>
            </a:endParaRPr>
          </a:p>
        </p:txBody>
      </p:sp>
      <p:pic>
        <p:nvPicPr>
          <p:cNvPr id="126" name="Google Shape;126;g2b3ccc60d3d_1_0"/>
          <p:cNvPicPr preferRelativeResize="0"/>
          <p:nvPr/>
        </p:nvPicPr>
        <p:blipFill>
          <a:blip r:embed="rId4">
            <a:alphaModFix/>
          </a:blip>
          <a:stretch>
            <a:fillRect/>
          </a:stretch>
        </p:blipFill>
        <p:spPr>
          <a:xfrm>
            <a:off x="2913500" y="1822400"/>
            <a:ext cx="6365000" cy="4632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b3ccc60d3d_0_34"/>
          <p:cNvSpPr txBox="1"/>
          <p:nvPr>
            <p:ph idx="4294967295" type="ctrTitle"/>
          </p:nvPr>
        </p:nvSpPr>
        <p:spPr>
          <a:xfrm>
            <a:off x="279700" y="2061550"/>
            <a:ext cx="11756700" cy="4361400"/>
          </a:xfrm>
          <a:prstGeom prst="rect">
            <a:avLst/>
          </a:prstGeom>
          <a:noFill/>
          <a:ln>
            <a:noFill/>
          </a:ln>
        </p:spPr>
        <p:txBody>
          <a:bodyPr anchorCtr="0" anchor="t" bIns="45675" lIns="45675" spcFirstLastPara="1" rIns="45675" wrap="square" tIns="45675">
            <a:noAutofit/>
          </a:bodyPr>
          <a:lstStyle/>
          <a:p>
            <a:pPr indent="0" lvl="0" marL="0" marR="0" rtl="0" algn="l">
              <a:lnSpc>
                <a:spcPct val="90000"/>
              </a:lnSpc>
              <a:spcBef>
                <a:spcPts val="0"/>
              </a:spcBef>
              <a:spcAft>
                <a:spcPts val="0"/>
              </a:spcAft>
              <a:buClr>
                <a:srgbClr val="000000"/>
              </a:buClr>
              <a:buSzPts val="4717"/>
              <a:buFont typeface="Calibri"/>
              <a:buNone/>
            </a:pPr>
            <a:br>
              <a:rPr i="0" lang="en-US" sz="2100" u="none" cap="none" strike="noStrike">
                <a:solidFill>
                  <a:srgbClr val="000000"/>
                </a:solidFill>
                <a:latin typeface="Times New Roman"/>
                <a:ea typeface="Times New Roman"/>
                <a:cs typeface="Times New Roman"/>
                <a:sym typeface="Times New Roman"/>
              </a:rPr>
            </a:br>
            <a:r>
              <a:rPr i="0" lang="en-US" sz="2100" u="none" cap="none" strike="noStrike">
                <a:solidFill>
                  <a:srgbClr val="000000"/>
                </a:solidFill>
                <a:latin typeface="Times New Roman"/>
                <a:ea typeface="Times New Roman"/>
                <a:cs typeface="Times New Roman"/>
                <a:sym typeface="Times New Roman"/>
              </a:rPr>
              <a:t>In Phase 2, the integration process commences with the deployment of the FastText model developed by Facebook for training the </a:t>
            </a:r>
            <a:r>
              <a:rPr lang="en-US" sz="2100">
                <a:latin typeface="Times New Roman"/>
                <a:ea typeface="Times New Roman"/>
                <a:cs typeface="Times New Roman"/>
                <a:sym typeface="Times New Roman"/>
              </a:rPr>
              <a:t>616</a:t>
            </a:r>
            <a:r>
              <a:rPr i="0" lang="en-US" sz="2100" u="none" cap="none" strike="noStrike">
                <a:solidFill>
                  <a:srgbClr val="000000"/>
                </a:solidFill>
                <a:latin typeface="Times New Roman"/>
                <a:ea typeface="Times New Roman"/>
                <a:cs typeface="Times New Roman"/>
                <a:sym typeface="Times New Roman"/>
              </a:rPr>
              <a:t> identified classes in our dataset. The seamless integration of this word recognizer is essential to harness its capabilities in accurately classifying handwritten words.</a:t>
            </a:r>
            <a:endParaRPr i="0" sz="2100" u="none" cap="none" strike="noStrike">
              <a:solidFill>
                <a:srgbClr val="000000"/>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i="0" sz="2100" u="none" cap="none" strike="noStrike">
              <a:solidFill>
                <a:srgbClr val="000000"/>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i="0" lang="en-US" sz="2100" u="none" cap="none" strike="noStrike">
                <a:solidFill>
                  <a:srgbClr val="000000"/>
                </a:solidFill>
                <a:latin typeface="Times New Roman"/>
                <a:ea typeface="Times New Roman"/>
                <a:cs typeface="Times New Roman"/>
                <a:sym typeface="Times New Roman"/>
              </a:rPr>
              <a:t>Once the training phase is complete, rigorous testing procedures are implemented to evaluate the model's efficacy. This includes comprehensive assessments to gauge its accuracy, precision, and recall in recognizing the diverse set of </a:t>
            </a:r>
            <a:r>
              <a:rPr lang="en-US" sz="2100">
                <a:latin typeface="Times New Roman"/>
                <a:ea typeface="Times New Roman"/>
                <a:cs typeface="Times New Roman"/>
                <a:sym typeface="Times New Roman"/>
              </a:rPr>
              <a:t>616</a:t>
            </a:r>
            <a:r>
              <a:rPr i="0" lang="en-US" sz="2100" u="none" cap="none" strike="noStrike">
                <a:solidFill>
                  <a:srgbClr val="000000"/>
                </a:solidFill>
                <a:latin typeface="Times New Roman"/>
                <a:ea typeface="Times New Roman"/>
                <a:cs typeface="Times New Roman"/>
                <a:sym typeface="Times New Roman"/>
              </a:rPr>
              <a:t> classes.</a:t>
            </a:r>
            <a:endParaRPr i="0" sz="2100" u="none" cap="none" strike="noStrike">
              <a:solidFill>
                <a:srgbClr val="000000"/>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i="0" sz="2100" u="none" cap="none" strike="noStrike">
              <a:solidFill>
                <a:srgbClr val="000000"/>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i="0" lang="en-US" sz="2100" u="none" cap="none" strike="noStrike">
                <a:solidFill>
                  <a:srgbClr val="000000"/>
                </a:solidFill>
                <a:latin typeface="Times New Roman"/>
                <a:ea typeface="Times New Roman"/>
                <a:cs typeface="Times New Roman"/>
                <a:sym typeface="Times New Roman"/>
              </a:rPr>
              <a:t>Furthermore, the annotation process is a crucial step in validating the model's performance. Employing a dual strategy, we conduct manual annotation to ensure precision, while also leveraging automated annotation techniques to streamline the process. This meticulous approach aims to validate the model's output against the original handwritten images, ensuring a robust and reliable integration in our ongoing project.</a:t>
            </a: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r>
              <a:rPr i="0" lang="en-US" sz="2100" u="none" cap="none" strike="noStrike">
                <a:solidFill>
                  <a:srgbClr val="000000"/>
                </a:solidFill>
                <a:latin typeface="Times New Roman"/>
                <a:ea typeface="Times New Roman"/>
                <a:cs typeface="Times New Roman"/>
                <a:sym typeface="Times New Roman"/>
              </a:rPr>
              <a:t>Fig 1:Class Diagram</a:t>
            </a:r>
            <a:endParaRPr i="0" sz="2100" u="none" cap="none" strike="noStrike">
              <a:solidFill>
                <a:srgbClr val="000000"/>
              </a:solidFill>
              <a:latin typeface="Times New Roman"/>
              <a:ea typeface="Times New Roman"/>
              <a:cs typeface="Times New Roman"/>
              <a:sym typeface="Times New Roman"/>
            </a:endParaRPr>
          </a:p>
        </p:txBody>
      </p:sp>
      <p:pic>
        <p:nvPicPr>
          <p:cNvPr descr="Google Shape;205;g2826546880a_3_4" id="132" name="Google Shape;132;g2b3ccc60d3d_0_34"/>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33" name="Google Shape;133;g2b3ccc60d3d_0_34"/>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34" name="Google Shape;134;g2b3ccc60d3d_0_34"/>
          <p:cNvSpPr txBox="1"/>
          <p:nvPr/>
        </p:nvSpPr>
        <p:spPr>
          <a:xfrm>
            <a:off x="233675" y="1486792"/>
            <a:ext cx="10980600" cy="480300"/>
          </a:xfrm>
          <a:prstGeom prst="rect">
            <a:avLst/>
          </a:prstGeom>
          <a:noFill/>
          <a:ln>
            <a:noFill/>
          </a:ln>
        </p:spPr>
        <p:txBody>
          <a:bodyPr anchorCtr="0" anchor="t" bIns="45675" lIns="45675" spcFirstLastPara="1" rIns="45675" wrap="square" tIns="45675">
            <a:spAutoFit/>
          </a:bodyPr>
          <a:lstStyle/>
          <a:p>
            <a:pPr indent="0" lvl="0" marL="0" rtl="0" algn="l">
              <a:lnSpc>
                <a:spcPct val="90000"/>
              </a:lnSpc>
              <a:spcBef>
                <a:spcPts val="0"/>
              </a:spcBef>
              <a:spcAft>
                <a:spcPts val="0"/>
              </a:spcAft>
              <a:buClr>
                <a:schemeClr val="dk1"/>
              </a:buClr>
              <a:buSzPts val="4717"/>
              <a:buFont typeface="Calibri"/>
              <a:buNone/>
            </a:pPr>
            <a:r>
              <a:rPr b="1" lang="en-US" sz="2800">
                <a:solidFill>
                  <a:schemeClr val="dk1"/>
                </a:solidFill>
                <a:latin typeface="Times New Roman"/>
                <a:ea typeface="Times New Roman"/>
                <a:cs typeface="Times New Roman"/>
                <a:sym typeface="Times New Roman"/>
              </a:rPr>
              <a:t>Module Integration and Testing</a:t>
            </a:r>
            <a:endParaRPr b="1" i="0" sz="2800" u="none" cap="none" strike="noStrike">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b398b6531d_0_0"/>
          <p:cNvSpPr txBox="1"/>
          <p:nvPr>
            <p:ph idx="4294967295" type="ctrTitle"/>
          </p:nvPr>
        </p:nvSpPr>
        <p:spPr>
          <a:xfrm>
            <a:off x="217650" y="2047050"/>
            <a:ext cx="11756700" cy="4932600"/>
          </a:xfrm>
          <a:prstGeom prst="rect">
            <a:avLst/>
          </a:prstGeom>
          <a:noFill/>
          <a:ln>
            <a:noFill/>
          </a:ln>
        </p:spPr>
        <p:txBody>
          <a:bodyPr anchorCtr="0" anchor="t" bIns="45675" lIns="45675" spcFirstLastPara="1" rIns="45675" wrap="square" tIns="45675">
            <a:noAutofit/>
          </a:bodyPr>
          <a:lstStyle/>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100">
                <a:latin typeface="Times New Roman"/>
                <a:ea typeface="Times New Roman"/>
                <a:cs typeface="Times New Roman"/>
                <a:sym typeface="Times New Roman"/>
              </a:rPr>
              <a:t>                                                                      </a:t>
            </a:r>
            <a:r>
              <a:rPr b="1" lang="en-US" sz="2100">
                <a:latin typeface="Times New Roman"/>
                <a:ea typeface="Times New Roman"/>
                <a:cs typeface="Times New Roman"/>
                <a:sym typeface="Times New Roman"/>
              </a:rPr>
              <a:t>Fig 2: Module Integration</a:t>
            </a:r>
            <a:endParaRPr b="1"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p:txBody>
      </p:sp>
      <p:pic>
        <p:nvPicPr>
          <p:cNvPr descr="Google Shape;205;g2826546880a_3_4" id="140" name="Google Shape;140;g2b398b6531d_0_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41" name="Google Shape;141;g2b398b6531d_0_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42" name="Google Shape;142;g2b398b6531d_0_0"/>
          <p:cNvSpPr txBox="1"/>
          <p:nvPr/>
        </p:nvSpPr>
        <p:spPr>
          <a:xfrm>
            <a:off x="233675" y="1486792"/>
            <a:ext cx="10980600" cy="480300"/>
          </a:xfrm>
          <a:prstGeom prst="rect">
            <a:avLst/>
          </a:prstGeom>
          <a:noFill/>
          <a:ln>
            <a:noFill/>
          </a:ln>
        </p:spPr>
        <p:txBody>
          <a:bodyPr anchorCtr="0" anchor="t" bIns="45675" lIns="45675" spcFirstLastPara="1" rIns="45675" wrap="square" tIns="45675">
            <a:spAutoFit/>
          </a:bodyPr>
          <a:lstStyle/>
          <a:p>
            <a:pPr indent="0" lvl="0" marL="0" rtl="0" algn="l">
              <a:lnSpc>
                <a:spcPct val="90000"/>
              </a:lnSpc>
              <a:spcBef>
                <a:spcPts val="0"/>
              </a:spcBef>
              <a:spcAft>
                <a:spcPts val="0"/>
              </a:spcAft>
              <a:buClr>
                <a:schemeClr val="dk1"/>
              </a:buClr>
              <a:buSzPts val="4717"/>
              <a:buFont typeface="Calibri"/>
              <a:buNone/>
            </a:pPr>
            <a:r>
              <a:rPr b="1" lang="en-US" sz="2800">
                <a:solidFill>
                  <a:schemeClr val="dk1"/>
                </a:solidFill>
                <a:latin typeface="Times New Roman"/>
                <a:ea typeface="Times New Roman"/>
                <a:cs typeface="Times New Roman"/>
                <a:sym typeface="Times New Roman"/>
              </a:rPr>
              <a:t>Module Integration</a:t>
            </a:r>
            <a:r>
              <a:rPr b="1" lang="en-US" sz="2800">
                <a:solidFill>
                  <a:schemeClr val="dk1"/>
                </a:solidFill>
                <a:latin typeface="Times New Roman"/>
                <a:ea typeface="Times New Roman"/>
                <a:cs typeface="Times New Roman"/>
                <a:sym typeface="Times New Roman"/>
              </a:rPr>
              <a:t> </a:t>
            </a:r>
            <a:endParaRPr b="1" i="0" sz="2800" u="none" cap="none" strike="noStrike">
              <a:solidFill>
                <a:srgbClr val="000000"/>
              </a:solidFill>
            </a:endParaRPr>
          </a:p>
        </p:txBody>
      </p:sp>
      <p:pic>
        <p:nvPicPr>
          <p:cNvPr id="143" name="Google Shape;143;g2b398b6531d_0_0"/>
          <p:cNvPicPr preferRelativeResize="0"/>
          <p:nvPr/>
        </p:nvPicPr>
        <p:blipFill>
          <a:blip r:embed="rId4">
            <a:alphaModFix/>
          </a:blip>
          <a:stretch>
            <a:fillRect/>
          </a:stretch>
        </p:blipFill>
        <p:spPr>
          <a:xfrm>
            <a:off x="2147150" y="2243479"/>
            <a:ext cx="8021775" cy="381889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b398b6531d_0_8"/>
          <p:cNvSpPr txBox="1"/>
          <p:nvPr>
            <p:ph idx="4294967295" type="ctrTitle"/>
          </p:nvPr>
        </p:nvSpPr>
        <p:spPr>
          <a:xfrm>
            <a:off x="279700" y="2061550"/>
            <a:ext cx="11756700" cy="4361400"/>
          </a:xfrm>
          <a:prstGeom prst="rect">
            <a:avLst/>
          </a:prstGeom>
          <a:noFill/>
          <a:ln>
            <a:noFill/>
          </a:ln>
        </p:spPr>
        <p:txBody>
          <a:bodyPr anchorCtr="0" anchor="t" bIns="45675" lIns="45675" spcFirstLastPara="1" rIns="45675" wrap="square" tIns="45675">
            <a:noAutofit/>
          </a:bodyPr>
          <a:lstStyle/>
          <a:p>
            <a:pPr indent="0" lvl="0" marL="0" rtl="0" algn="l">
              <a:spcBef>
                <a:spcPts val="0"/>
              </a:spcBef>
              <a:spcAft>
                <a:spcPts val="0"/>
              </a:spcAft>
              <a:buClr>
                <a:schemeClr val="dk1"/>
              </a:buClr>
              <a:buSzPts val="1100"/>
              <a:buFont typeface="Arial"/>
              <a:buNone/>
            </a:pPr>
            <a:r>
              <a:t/>
            </a: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endParaRPr i="0" sz="2100" u="none" cap="none" strike="noStrike">
              <a:solidFill>
                <a:srgbClr val="000000"/>
              </a:solidFill>
              <a:latin typeface="Times New Roman"/>
              <a:ea typeface="Times New Roman"/>
              <a:cs typeface="Times New Roman"/>
              <a:sym typeface="Times New Roman"/>
            </a:endParaRPr>
          </a:p>
        </p:txBody>
      </p:sp>
      <p:pic>
        <p:nvPicPr>
          <p:cNvPr descr="Google Shape;205;g2826546880a_3_4" id="149" name="Google Shape;149;g2b398b6531d_0_8"/>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50" name="Google Shape;150;g2b398b6531d_0_8"/>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51" name="Google Shape;151;g2b398b6531d_0_8"/>
          <p:cNvSpPr txBox="1"/>
          <p:nvPr/>
        </p:nvSpPr>
        <p:spPr>
          <a:xfrm>
            <a:off x="233675" y="1486792"/>
            <a:ext cx="10980600" cy="480300"/>
          </a:xfrm>
          <a:prstGeom prst="rect">
            <a:avLst/>
          </a:prstGeom>
          <a:noFill/>
          <a:ln>
            <a:noFill/>
          </a:ln>
        </p:spPr>
        <p:txBody>
          <a:bodyPr anchorCtr="0" anchor="t" bIns="45675" lIns="45675" spcFirstLastPara="1" rIns="45675" wrap="square" tIns="45675">
            <a:spAutoFit/>
          </a:bodyPr>
          <a:lstStyle/>
          <a:p>
            <a:pPr indent="0" lvl="0" marL="0" rtl="0" algn="l">
              <a:lnSpc>
                <a:spcPct val="90000"/>
              </a:lnSpc>
              <a:spcBef>
                <a:spcPts val="0"/>
              </a:spcBef>
              <a:spcAft>
                <a:spcPts val="0"/>
              </a:spcAft>
              <a:buClr>
                <a:schemeClr val="dk1"/>
              </a:buClr>
              <a:buSzPts val="4717"/>
              <a:buFont typeface="Calibri"/>
              <a:buNone/>
            </a:pPr>
            <a:r>
              <a:rPr b="1" lang="en-US" sz="2800">
                <a:solidFill>
                  <a:schemeClr val="dk1"/>
                </a:solidFill>
                <a:latin typeface="Times New Roman"/>
                <a:ea typeface="Times New Roman"/>
                <a:cs typeface="Times New Roman"/>
                <a:sym typeface="Times New Roman"/>
              </a:rPr>
              <a:t>Testing</a:t>
            </a:r>
            <a:endParaRPr b="1" i="0" sz="2800" u="none" cap="none" strike="noStrike">
              <a:solidFill>
                <a:srgbClr val="000000"/>
              </a:solidFill>
            </a:endParaRPr>
          </a:p>
        </p:txBody>
      </p:sp>
      <p:graphicFrame>
        <p:nvGraphicFramePr>
          <p:cNvPr id="152" name="Google Shape;152;g2b398b6531d_0_8"/>
          <p:cNvGraphicFramePr/>
          <p:nvPr/>
        </p:nvGraphicFramePr>
        <p:xfrm>
          <a:off x="1638863" y="2143925"/>
          <a:ext cx="3000000" cy="3000000"/>
        </p:xfrm>
        <a:graphic>
          <a:graphicData uri="http://schemas.openxmlformats.org/drawingml/2006/table">
            <a:tbl>
              <a:tblPr>
                <a:noFill/>
                <a:tableStyleId>{5D7264DE-CC76-4733-8456-B2F4C6777DFA}</a:tableStyleId>
              </a:tblPr>
              <a:tblGrid>
                <a:gridCol w="658325"/>
                <a:gridCol w="4693625"/>
                <a:gridCol w="4692925"/>
              </a:tblGrid>
              <a:tr h="522900">
                <a:tc>
                  <a:txBody>
                    <a:bodyPr/>
                    <a:lstStyle/>
                    <a:p>
                      <a:pPr indent="0" lvl="0" marL="0" rtl="0" algn="ctr">
                        <a:spcBef>
                          <a:spcPts val="0"/>
                        </a:spcBef>
                        <a:spcAft>
                          <a:spcPts val="0"/>
                        </a:spcAft>
                        <a:buNone/>
                      </a:pPr>
                      <a:r>
                        <a:rPr b="1" lang="en-US">
                          <a:latin typeface="Times New Roman"/>
                          <a:ea typeface="Times New Roman"/>
                          <a:cs typeface="Times New Roman"/>
                          <a:sym typeface="Times New Roman"/>
                        </a:rPr>
                        <a:t>ID</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a:latin typeface="Times New Roman"/>
                          <a:ea typeface="Times New Roman"/>
                          <a:cs typeface="Times New Roman"/>
                          <a:sym typeface="Times New Roman"/>
                        </a:rPr>
                        <a:t>Test Data</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a:latin typeface="Times New Roman"/>
                          <a:ea typeface="Times New Roman"/>
                          <a:cs typeface="Times New Roman"/>
                          <a:sym typeface="Times New Roman"/>
                        </a:rPr>
                        <a:t>Output</a:t>
                      </a:r>
                      <a:endParaRPr b="1">
                        <a:latin typeface="Times New Roman"/>
                        <a:ea typeface="Times New Roman"/>
                        <a:cs typeface="Times New Roman"/>
                        <a:sym typeface="Times New Roman"/>
                      </a:endParaRPr>
                    </a:p>
                  </a:txBody>
                  <a:tcPr marT="91425" marB="91425" marR="91425" marL="91425"/>
                </a:tc>
              </a:tr>
              <a:tr h="4191175">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53" name="Google Shape;153;g2b398b6531d_0_8"/>
          <p:cNvPicPr preferRelativeResize="0"/>
          <p:nvPr/>
        </p:nvPicPr>
        <p:blipFill>
          <a:blip r:embed="rId4">
            <a:alphaModFix/>
          </a:blip>
          <a:stretch>
            <a:fillRect/>
          </a:stretch>
        </p:blipFill>
        <p:spPr>
          <a:xfrm>
            <a:off x="3153875" y="2871448"/>
            <a:ext cx="3030732" cy="3774850"/>
          </a:xfrm>
          <a:prstGeom prst="rect">
            <a:avLst/>
          </a:prstGeom>
          <a:noFill/>
          <a:ln>
            <a:noFill/>
          </a:ln>
        </p:spPr>
      </p:pic>
      <p:pic>
        <p:nvPicPr>
          <p:cNvPr id="154" name="Google Shape;154;g2b398b6531d_0_8"/>
          <p:cNvPicPr preferRelativeResize="0"/>
          <p:nvPr/>
        </p:nvPicPr>
        <p:blipFill>
          <a:blip r:embed="rId5">
            <a:alphaModFix/>
          </a:blip>
          <a:stretch>
            <a:fillRect/>
          </a:stretch>
        </p:blipFill>
        <p:spPr>
          <a:xfrm>
            <a:off x="7890325" y="2871450"/>
            <a:ext cx="2903575" cy="377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b398b6531d_0_33"/>
          <p:cNvSpPr txBox="1"/>
          <p:nvPr>
            <p:ph idx="4294967295" type="ctrTitle"/>
          </p:nvPr>
        </p:nvSpPr>
        <p:spPr>
          <a:xfrm>
            <a:off x="279700" y="2061550"/>
            <a:ext cx="11756700" cy="4361400"/>
          </a:xfrm>
          <a:prstGeom prst="rect">
            <a:avLst/>
          </a:prstGeom>
          <a:noFill/>
          <a:ln>
            <a:noFill/>
          </a:ln>
        </p:spPr>
        <p:txBody>
          <a:bodyPr anchorCtr="0" anchor="t" bIns="45675" lIns="45675" spcFirstLastPara="1" rIns="45675" wrap="square" tIns="45675">
            <a:noAutofit/>
          </a:bodyPr>
          <a:lstStyle/>
          <a:p>
            <a:pPr indent="0" lvl="0" marL="0" rtl="0" algn="l">
              <a:spcBef>
                <a:spcPts val="0"/>
              </a:spcBef>
              <a:spcAft>
                <a:spcPts val="0"/>
              </a:spcAft>
              <a:buClr>
                <a:schemeClr val="dk1"/>
              </a:buClr>
              <a:buSzPts val="1100"/>
              <a:buFont typeface="Arial"/>
              <a:buNone/>
            </a:pPr>
            <a:r>
              <a:t/>
            </a: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br>
              <a:rPr i="0" lang="en-US" sz="2100" u="none" cap="none" strike="noStrike">
                <a:solidFill>
                  <a:srgbClr val="000000"/>
                </a:solidFill>
                <a:latin typeface="Times New Roman"/>
                <a:ea typeface="Times New Roman"/>
                <a:cs typeface="Times New Roman"/>
                <a:sym typeface="Times New Roman"/>
              </a:rPr>
            </a:br>
            <a:endParaRPr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lang="en-US" sz="2100">
                <a:latin typeface="Times New Roman"/>
                <a:ea typeface="Times New Roman"/>
                <a:cs typeface="Times New Roman"/>
                <a:sym typeface="Times New Roman"/>
              </a:rPr>
              <a:t>                                                                                                 </a:t>
            </a:r>
            <a:endParaRPr i="0" sz="2100" u="none" cap="none" strike="noStrike">
              <a:solidFill>
                <a:srgbClr val="000000"/>
              </a:solidFill>
              <a:latin typeface="Times New Roman"/>
              <a:ea typeface="Times New Roman"/>
              <a:cs typeface="Times New Roman"/>
              <a:sym typeface="Times New Roman"/>
            </a:endParaRPr>
          </a:p>
        </p:txBody>
      </p:sp>
      <p:pic>
        <p:nvPicPr>
          <p:cNvPr descr="Google Shape;205;g2826546880a_3_4" id="160" name="Google Shape;160;g2b398b6531d_0_33"/>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61" name="Google Shape;161;g2b398b6531d_0_33"/>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62" name="Google Shape;162;g2b398b6531d_0_33"/>
          <p:cNvSpPr txBox="1"/>
          <p:nvPr/>
        </p:nvSpPr>
        <p:spPr>
          <a:xfrm>
            <a:off x="233675" y="1486792"/>
            <a:ext cx="10980600" cy="480300"/>
          </a:xfrm>
          <a:prstGeom prst="rect">
            <a:avLst/>
          </a:prstGeom>
          <a:noFill/>
          <a:ln>
            <a:noFill/>
          </a:ln>
        </p:spPr>
        <p:txBody>
          <a:bodyPr anchorCtr="0" anchor="t" bIns="45675" lIns="45675" spcFirstLastPara="1" rIns="45675" wrap="square" tIns="45675">
            <a:spAutoFit/>
          </a:bodyPr>
          <a:lstStyle/>
          <a:p>
            <a:pPr indent="0" lvl="0" marL="0" rtl="0" algn="l">
              <a:lnSpc>
                <a:spcPct val="90000"/>
              </a:lnSpc>
              <a:spcBef>
                <a:spcPts val="0"/>
              </a:spcBef>
              <a:spcAft>
                <a:spcPts val="0"/>
              </a:spcAft>
              <a:buClr>
                <a:schemeClr val="dk1"/>
              </a:buClr>
              <a:buSzPts val="4717"/>
              <a:buFont typeface="Calibri"/>
              <a:buNone/>
            </a:pPr>
            <a:r>
              <a:rPr b="1" lang="en-US" sz="2800">
                <a:solidFill>
                  <a:schemeClr val="dk1"/>
                </a:solidFill>
                <a:latin typeface="Times New Roman"/>
                <a:ea typeface="Times New Roman"/>
                <a:cs typeface="Times New Roman"/>
                <a:sym typeface="Times New Roman"/>
              </a:rPr>
              <a:t>Testing</a:t>
            </a:r>
            <a:endParaRPr b="1" i="0" sz="2800" u="none" cap="none" strike="noStrike">
              <a:solidFill>
                <a:srgbClr val="000000"/>
              </a:solidFill>
            </a:endParaRPr>
          </a:p>
        </p:txBody>
      </p:sp>
      <p:graphicFrame>
        <p:nvGraphicFramePr>
          <p:cNvPr id="163" name="Google Shape;163;g2b398b6531d_0_33"/>
          <p:cNvGraphicFramePr/>
          <p:nvPr/>
        </p:nvGraphicFramePr>
        <p:xfrm>
          <a:off x="1638863" y="2143925"/>
          <a:ext cx="3000000" cy="3000000"/>
        </p:xfrm>
        <a:graphic>
          <a:graphicData uri="http://schemas.openxmlformats.org/drawingml/2006/table">
            <a:tbl>
              <a:tblPr>
                <a:noFill/>
                <a:tableStyleId>{5D7264DE-CC76-4733-8456-B2F4C6777DFA}</a:tableStyleId>
              </a:tblPr>
              <a:tblGrid>
                <a:gridCol w="658325"/>
                <a:gridCol w="4693625"/>
                <a:gridCol w="4692925"/>
              </a:tblGrid>
              <a:tr h="522900">
                <a:tc>
                  <a:txBody>
                    <a:bodyPr/>
                    <a:lstStyle/>
                    <a:p>
                      <a:pPr indent="0" lvl="0" marL="0" rtl="0" algn="ctr">
                        <a:spcBef>
                          <a:spcPts val="0"/>
                        </a:spcBef>
                        <a:spcAft>
                          <a:spcPts val="0"/>
                        </a:spcAft>
                        <a:buNone/>
                      </a:pPr>
                      <a:r>
                        <a:rPr b="1" lang="en-US">
                          <a:latin typeface="Times New Roman"/>
                          <a:ea typeface="Times New Roman"/>
                          <a:cs typeface="Times New Roman"/>
                          <a:sym typeface="Times New Roman"/>
                        </a:rPr>
                        <a:t>ID</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a:latin typeface="Times New Roman"/>
                          <a:ea typeface="Times New Roman"/>
                          <a:cs typeface="Times New Roman"/>
                          <a:sym typeface="Times New Roman"/>
                        </a:rPr>
                        <a:t>Test Data</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a:latin typeface="Times New Roman"/>
                          <a:ea typeface="Times New Roman"/>
                          <a:cs typeface="Times New Roman"/>
                          <a:sym typeface="Times New Roman"/>
                        </a:rPr>
                        <a:t>Output</a:t>
                      </a:r>
                      <a:endParaRPr b="1">
                        <a:latin typeface="Times New Roman"/>
                        <a:ea typeface="Times New Roman"/>
                        <a:cs typeface="Times New Roman"/>
                        <a:sym typeface="Times New Roman"/>
                      </a:endParaRPr>
                    </a:p>
                  </a:txBody>
                  <a:tcPr marT="91425" marB="91425" marR="91425" marL="91425"/>
                </a:tc>
              </a:tr>
              <a:tr h="4191175">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64" name="Google Shape;164;g2b398b6531d_0_33"/>
          <p:cNvPicPr preferRelativeResize="0"/>
          <p:nvPr/>
        </p:nvPicPr>
        <p:blipFill>
          <a:blip r:embed="rId4">
            <a:alphaModFix/>
          </a:blip>
          <a:stretch>
            <a:fillRect/>
          </a:stretch>
        </p:blipFill>
        <p:spPr>
          <a:xfrm>
            <a:off x="3105675" y="2842450"/>
            <a:ext cx="2903575" cy="3774850"/>
          </a:xfrm>
          <a:prstGeom prst="rect">
            <a:avLst/>
          </a:prstGeom>
          <a:noFill/>
          <a:ln>
            <a:noFill/>
          </a:ln>
        </p:spPr>
      </p:pic>
      <p:pic>
        <p:nvPicPr>
          <p:cNvPr id="165" name="Google Shape;165;g2b398b6531d_0_33"/>
          <p:cNvPicPr preferRelativeResize="0"/>
          <p:nvPr/>
        </p:nvPicPr>
        <p:blipFill>
          <a:blip r:embed="rId5">
            <a:alphaModFix/>
          </a:blip>
          <a:stretch>
            <a:fillRect/>
          </a:stretch>
        </p:blipFill>
        <p:spPr>
          <a:xfrm>
            <a:off x="7861225" y="2842450"/>
            <a:ext cx="2903575" cy="3774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9ce8367354_2_10"/>
          <p:cNvSpPr txBox="1"/>
          <p:nvPr>
            <p:ph idx="4294967295" type="ctrTitle"/>
          </p:nvPr>
        </p:nvSpPr>
        <p:spPr>
          <a:xfrm>
            <a:off x="66675" y="1210944"/>
            <a:ext cx="11969700" cy="5361300"/>
          </a:xfrm>
          <a:prstGeom prst="rect">
            <a:avLst/>
          </a:prstGeom>
          <a:noFill/>
          <a:ln>
            <a:noFill/>
          </a:ln>
        </p:spPr>
        <p:txBody>
          <a:bodyPr anchorCtr="0" anchor="t"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700"/>
              <a:buFont typeface="Arial"/>
              <a:buNone/>
            </a:pPr>
            <a:br>
              <a:rPr b="0" i="0" lang="en-US" sz="2700" u="none" cap="none" strike="noStrike">
                <a:solidFill>
                  <a:srgbClr val="000000"/>
                </a:solidFill>
                <a:latin typeface="Arial"/>
                <a:ea typeface="Arial"/>
                <a:cs typeface="Arial"/>
                <a:sym typeface="Arial"/>
              </a:rPr>
            </a:br>
            <a:endParaRPr b="1" i="0" sz="2100" u="none" cap="none" strike="noStrike">
              <a:solidFill>
                <a:srgbClr val="000000"/>
              </a:solidFill>
              <a:latin typeface="Times New Roman"/>
              <a:ea typeface="Times New Roman"/>
              <a:cs typeface="Times New Roman"/>
              <a:sym typeface="Times New Roman"/>
            </a:endParaRPr>
          </a:p>
        </p:txBody>
      </p:sp>
      <p:pic>
        <p:nvPicPr>
          <p:cNvPr descr="Google Shape;238;g2476a7b157a_2_19" id="171" name="Google Shape;171;g29ce8367354_2_1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72" name="Google Shape;172;g29ce8367354_2_1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73" name="Google Shape;173;g29ce8367354_2_10"/>
          <p:cNvSpPr txBox="1"/>
          <p:nvPr/>
        </p:nvSpPr>
        <p:spPr>
          <a:xfrm>
            <a:off x="229174" y="1275574"/>
            <a:ext cx="11399400" cy="523200"/>
          </a:xfrm>
          <a:prstGeom prst="rect">
            <a:avLst/>
          </a:prstGeom>
          <a:noFill/>
          <a:ln>
            <a:noFill/>
          </a:ln>
        </p:spPr>
        <p:txBody>
          <a:bodyPr anchorCtr="0" anchor="t" bIns="45675" lIns="45675" spcFirstLastPara="1" rIns="45675" wrap="square" tIns="45675">
            <a:spAutoFit/>
          </a:bodyPr>
          <a:lstStyle/>
          <a:p>
            <a:pPr indent="0" lvl="0" marL="0" rtl="0" algn="l">
              <a:lnSpc>
                <a:spcPct val="115000"/>
              </a:lnSpc>
              <a:spcBef>
                <a:spcPts val="0"/>
              </a:spcBef>
              <a:spcAft>
                <a:spcPts val="0"/>
              </a:spcAft>
              <a:buClr>
                <a:schemeClr val="dk1"/>
              </a:buClr>
              <a:buSzPts val="1100"/>
              <a:buFont typeface="Arial"/>
              <a:buNone/>
            </a:pPr>
            <a:r>
              <a:rPr b="1" lang="en-US" sz="2800">
                <a:solidFill>
                  <a:schemeClr val="dk1"/>
                </a:solidFill>
                <a:latin typeface="Times New Roman"/>
                <a:ea typeface="Times New Roman"/>
                <a:cs typeface="Times New Roman"/>
                <a:sym typeface="Times New Roman"/>
              </a:rPr>
              <a:t>Implemented Code</a:t>
            </a:r>
            <a:r>
              <a:rPr b="1" lang="en-US" sz="2800">
                <a:solidFill>
                  <a:schemeClr val="dk1"/>
                </a:solidFill>
                <a:latin typeface="Times New Roman"/>
                <a:ea typeface="Times New Roman"/>
                <a:cs typeface="Times New Roman"/>
                <a:sym typeface="Times New Roman"/>
              </a:rPr>
              <a:t>:</a:t>
            </a:r>
            <a:endParaRPr b="1" i="0" sz="2800" u="none" cap="none" strike="noStrike">
              <a:solidFill>
                <a:srgbClr val="000000"/>
              </a:solidFill>
              <a:latin typeface="Times New Roman"/>
              <a:ea typeface="Times New Roman"/>
              <a:cs typeface="Times New Roman"/>
              <a:sym typeface="Times New Roman"/>
            </a:endParaRPr>
          </a:p>
        </p:txBody>
      </p:sp>
      <p:sp>
        <p:nvSpPr>
          <p:cNvPr id="174" name="Google Shape;174;g29ce8367354_2_10"/>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pic>
        <p:nvPicPr>
          <p:cNvPr id="175" name="Google Shape;175;g29ce8367354_2_10"/>
          <p:cNvPicPr preferRelativeResize="0"/>
          <p:nvPr/>
        </p:nvPicPr>
        <p:blipFill>
          <a:blip r:embed="rId4">
            <a:alphaModFix/>
          </a:blip>
          <a:stretch>
            <a:fillRect/>
          </a:stretch>
        </p:blipFill>
        <p:spPr>
          <a:xfrm>
            <a:off x="435100" y="1863925"/>
            <a:ext cx="5335148" cy="4513774"/>
          </a:xfrm>
          <a:prstGeom prst="rect">
            <a:avLst/>
          </a:prstGeom>
          <a:noFill/>
          <a:ln>
            <a:noFill/>
          </a:ln>
        </p:spPr>
      </p:pic>
      <p:pic>
        <p:nvPicPr>
          <p:cNvPr id="176" name="Google Shape;176;g29ce8367354_2_10"/>
          <p:cNvPicPr preferRelativeResize="0"/>
          <p:nvPr/>
        </p:nvPicPr>
        <p:blipFill>
          <a:blip r:embed="rId5">
            <a:alphaModFix/>
          </a:blip>
          <a:stretch>
            <a:fillRect/>
          </a:stretch>
        </p:blipFill>
        <p:spPr>
          <a:xfrm>
            <a:off x="5936000" y="1863925"/>
            <a:ext cx="5780625" cy="4550849"/>
          </a:xfrm>
          <a:prstGeom prst="rect">
            <a:avLst/>
          </a:prstGeom>
          <a:noFill/>
          <a:ln>
            <a:noFill/>
          </a:ln>
        </p:spPr>
      </p:pic>
      <p:sp>
        <p:nvSpPr>
          <p:cNvPr id="177" name="Google Shape;177;g29ce8367354_2_10"/>
          <p:cNvSpPr txBox="1"/>
          <p:nvPr/>
        </p:nvSpPr>
        <p:spPr>
          <a:xfrm>
            <a:off x="870200" y="6377700"/>
            <a:ext cx="10545900" cy="4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latin typeface="Times New Roman"/>
                <a:ea typeface="Times New Roman"/>
                <a:cs typeface="Times New Roman"/>
                <a:sym typeface="Times New Roman"/>
              </a:rPr>
              <a:t>Fig 3: De-GAN Module                                                           Fig 4: De-GAN </a:t>
            </a:r>
            <a:endParaRPr b="1" sz="22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b3ccc60d3d_1_24"/>
          <p:cNvSpPr txBox="1"/>
          <p:nvPr>
            <p:ph idx="4294967295" type="ctrTitle"/>
          </p:nvPr>
        </p:nvSpPr>
        <p:spPr>
          <a:xfrm>
            <a:off x="66875" y="1330369"/>
            <a:ext cx="11969700" cy="5361300"/>
          </a:xfrm>
          <a:prstGeom prst="rect">
            <a:avLst/>
          </a:prstGeom>
          <a:noFill/>
          <a:ln>
            <a:noFill/>
          </a:ln>
        </p:spPr>
        <p:txBody>
          <a:bodyPr anchorCtr="0" anchor="t"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700"/>
              <a:buFont typeface="Arial"/>
              <a:buNone/>
            </a:pPr>
            <a:br>
              <a:rPr b="0" i="0" lang="en-US" sz="2700" u="none" cap="none" strike="noStrike">
                <a:solidFill>
                  <a:srgbClr val="000000"/>
                </a:solidFill>
                <a:latin typeface="Arial"/>
                <a:ea typeface="Arial"/>
                <a:cs typeface="Arial"/>
                <a:sym typeface="Arial"/>
              </a:rPr>
            </a:br>
            <a:r>
              <a:rPr b="0" i="0" lang="en-US" sz="2700" u="none" cap="none" strike="noStrike">
                <a:solidFill>
                  <a:srgbClr val="000000"/>
                </a:solidFill>
                <a:latin typeface="Arial"/>
                <a:ea typeface="Arial"/>
                <a:cs typeface="Arial"/>
                <a:sym typeface="Arial"/>
              </a:rPr>
              <a:t>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ts val="2700"/>
              <a:buFont typeface="Arial"/>
              <a:buNone/>
            </a:pPr>
            <a:r>
              <a:t/>
            </a:r>
            <a:endParaRPr sz="2700">
              <a:latin typeface="Arial"/>
              <a:ea typeface="Arial"/>
              <a:cs typeface="Arial"/>
              <a:sym typeface="Arial"/>
            </a:endParaRPr>
          </a:p>
          <a:p>
            <a:pPr indent="0" lvl="0" marL="0" rtl="0" algn="l">
              <a:spcBef>
                <a:spcPts val="0"/>
              </a:spcBef>
              <a:spcAft>
                <a:spcPts val="0"/>
              </a:spcAft>
              <a:buClr>
                <a:schemeClr val="dk1"/>
              </a:buClr>
              <a:buSzPts val="2700"/>
              <a:buFont typeface="Arial"/>
              <a:buNone/>
            </a:pPr>
            <a:r>
              <a:rPr b="1" lang="en-US" sz="2000">
                <a:solidFill>
                  <a:schemeClr val="dk1"/>
                </a:solidFill>
                <a:latin typeface="Times New Roman"/>
                <a:ea typeface="Times New Roman"/>
                <a:cs typeface="Times New Roman"/>
                <a:sym typeface="Times New Roman"/>
              </a:rPr>
              <a:t>                             Fig 5:</a:t>
            </a:r>
            <a:r>
              <a:rPr lang="en-US" sz="2000">
                <a:solidFill>
                  <a:schemeClr val="dk1"/>
                </a:solidFill>
                <a:latin typeface="Arial"/>
                <a:ea typeface="Arial"/>
                <a:cs typeface="Arial"/>
                <a:sym typeface="Arial"/>
              </a:rPr>
              <a:t> </a:t>
            </a:r>
            <a:r>
              <a:rPr b="1" lang="en-US" sz="2000">
                <a:solidFill>
                  <a:schemeClr val="dk1"/>
                </a:solidFill>
                <a:latin typeface="Times New Roman"/>
                <a:ea typeface="Times New Roman"/>
                <a:cs typeface="Times New Roman"/>
                <a:sym typeface="Times New Roman"/>
              </a:rPr>
              <a:t>CRAFT Module </a:t>
            </a:r>
            <a:endParaRPr sz="2700">
              <a:latin typeface="Arial"/>
              <a:ea typeface="Arial"/>
              <a:cs typeface="Arial"/>
              <a:sym typeface="Arial"/>
            </a:endParaRPr>
          </a:p>
        </p:txBody>
      </p:sp>
      <p:pic>
        <p:nvPicPr>
          <p:cNvPr descr="Google Shape;238;g2476a7b157a_2_19" id="183" name="Google Shape;183;g2b3ccc60d3d_1_24"/>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84" name="Google Shape;184;g2b3ccc60d3d_1_24"/>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85" name="Google Shape;185;g2b3ccc60d3d_1_24"/>
          <p:cNvSpPr txBox="1"/>
          <p:nvPr/>
        </p:nvSpPr>
        <p:spPr>
          <a:xfrm>
            <a:off x="229174" y="1275574"/>
            <a:ext cx="11399400" cy="523200"/>
          </a:xfrm>
          <a:prstGeom prst="rect">
            <a:avLst/>
          </a:prstGeom>
          <a:noFill/>
          <a:ln>
            <a:noFill/>
          </a:ln>
        </p:spPr>
        <p:txBody>
          <a:bodyPr anchorCtr="0" anchor="t" bIns="45675" lIns="45675" spcFirstLastPara="1" rIns="45675" wrap="square" tIns="45675">
            <a:spAutoFit/>
          </a:bodyPr>
          <a:lstStyle/>
          <a:p>
            <a:pPr indent="0" lvl="0" marL="0" rtl="0" algn="l">
              <a:lnSpc>
                <a:spcPct val="115000"/>
              </a:lnSpc>
              <a:spcBef>
                <a:spcPts val="0"/>
              </a:spcBef>
              <a:spcAft>
                <a:spcPts val="0"/>
              </a:spcAft>
              <a:buClr>
                <a:schemeClr val="dk1"/>
              </a:buClr>
              <a:buSzPts val="1100"/>
              <a:buFont typeface="Arial"/>
              <a:buNone/>
            </a:pPr>
            <a:r>
              <a:rPr b="1" lang="en-US" sz="2800">
                <a:solidFill>
                  <a:schemeClr val="dk1"/>
                </a:solidFill>
                <a:latin typeface="Times New Roman"/>
                <a:ea typeface="Times New Roman"/>
                <a:cs typeface="Times New Roman"/>
                <a:sym typeface="Times New Roman"/>
              </a:rPr>
              <a:t>Implemented Code</a:t>
            </a:r>
            <a:r>
              <a:rPr b="1" lang="en-US" sz="2800">
                <a:solidFill>
                  <a:schemeClr val="dk1"/>
                </a:solidFill>
                <a:latin typeface="Times New Roman"/>
                <a:ea typeface="Times New Roman"/>
                <a:cs typeface="Times New Roman"/>
                <a:sym typeface="Times New Roman"/>
              </a:rPr>
              <a:t>:</a:t>
            </a:r>
            <a:endParaRPr b="1" i="0" sz="2800" u="none" cap="none" strike="noStrike">
              <a:solidFill>
                <a:srgbClr val="000000"/>
              </a:solidFill>
              <a:latin typeface="Times New Roman"/>
              <a:ea typeface="Times New Roman"/>
              <a:cs typeface="Times New Roman"/>
              <a:sym typeface="Times New Roman"/>
            </a:endParaRPr>
          </a:p>
        </p:txBody>
      </p:sp>
      <p:sp>
        <p:nvSpPr>
          <p:cNvPr id="186" name="Google Shape;186;g2b3ccc60d3d_1_24"/>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pic>
        <p:nvPicPr>
          <p:cNvPr id="187" name="Google Shape;187;g2b3ccc60d3d_1_24"/>
          <p:cNvPicPr preferRelativeResize="0"/>
          <p:nvPr/>
        </p:nvPicPr>
        <p:blipFill>
          <a:blip r:embed="rId4">
            <a:alphaModFix/>
          </a:blip>
          <a:stretch>
            <a:fillRect/>
          </a:stretch>
        </p:blipFill>
        <p:spPr>
          <a:xfrm>
            <a:off x="714825" y="1863925"/>
            <a:ext cx="7520999" cy="42896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2b3ccc60d3d_1_13"/>
          <p:cNvSpPr txBox="1"/>
          <p:nvPr>
            <p:ph idx="4294967295" type="ctrTitle"/>
          </p:nvPr>
        </p:nvSpPr>
        <p:spPr>
          <a:xfrm>
            <a:off x="66675" y="1210944"/>
            <a:ext cx="11969700" cy="5361300"/>
          </a:xfrm>
          <a:prstGeom prst="rect">
            <a:avLst/>
          </a:prstGeom>
          <a:noFill/>
          <a:ln>
            <a:noFill/>
          </a:ln>
        </p:spPr>
        <p:txBody>
          <a:bodyPr anchorCtr="0" anchor="t"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700"/>
              <a:buFont typeface="Arial"/>
              <a:buNone/>
            </a:pP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br>
              <a:rPr b="0" i="0" lang="en-US" sz="2700" u="none" cap="none" strike="noStrike">
                <a:solidFill>
                  <a:srgbClr val="000000"/>
                </a:solidFill>
                <a:latin typeface="Arial"/>
                <a:ea typeface="Arial"/>
                <a:cs typeface="Arial"/>
                <a:sym typeface="Arial"/>
              </a:rPr>
            </a:br>
            <a:r>
              <a:rPr b="0" i="0" lang="en-US" sz="2700" u="none" cap="none" strike="noStrike">
                <a:solidFill>
                  <a:srgbClr val="000000"/>
                </a:solidFill>
                <a:latin typeface="Arial"/>
                <a:ea typeface="Arial"/>
                <a:cs typeface="Arial"/>
                <a:sym typeface="Arial"/>
              </a:rPr>
              <a:t>            </a:t>
            </a:r>
            <a:r>
              <a:rPr b="1" i="0" lang="en-US" sz="2000" u="none" cap="none" strike="noStrike">
                <a:solidFill>
                  <a:srgbClr val="000000"/>
                </a:solidFill>
                <a:latin typeface="Times New Roman"/>
                <a:ea typeface="Times New Roman"/>
                <a:cs typeface="Times New Roman"/>
                <a:sym typeface="Times New Roman"/>
              </a:rPr>
              <a:t>Fig </a:t>
            </a:r>
            <a:r>
              <a:rPr b="1" lang="en-US" sz="2000">
                <a:latin typeface="Times New Roman"/>
                <a:ea typeface="Times New Roman"/>
                <a:cs typeface="Times New Roman"/>
                <a:sym typeface="Times New Roman"/>
              </a:rPr>
              <a:t>6</a:t>
            </a:r>
            <a:r>
              <a:rPr b="1" i="0" lang="en-US" sz="2000" u="none" cap="none" strike="noStrike">
                <a:solidFill>
                  <a:srgbClr val="000000"/>
                </a:solidFill>
                <a:latin typeface="Times New Roman"/>
                <a:ea typeface="Times New Roman"/>
                <a:cs typeface="Times New Roman"/>
                <a:sym typeface="Times New Roman"/>
              </a:rPr>
              <a:t>:</a:t>
            </a:r>
            <a:r>
              <a:rPr b="0" i="0" lang="en-US" sz="2000" u="none" cap="none" strike="noStrike">
                <a:solidFill>
                  <a:srgbClr val="000000"/>
                </a:solidFill>
                <a:latin typeface="Arial"/>
                <a:ea typeface="Arial"/>
                <a:cs typeface="Arial"/>
                <a:sym typeface="Arial"/>
              </a:rPr>
              <a:t> </a:t>
            </a:r>
            <a:r>
              <a:rPr b="1" i="0" lang="en-US" sz="2000" u="none" cap="none" strike="noStrike">
                <a:solidFill>
                  <a:srgbClr val="000000"/>
                </a:solidFill>
                <a:latin typeface="Times New Roman"/>
                <a:ea typeface="Times New Roman"/>
                <a:cs typeface="Times New Roman"/>
                <a:sym typeface="Times New Roman"/>
              </a:rPr>
              <a:t>Original Image </a:t>
            </a:r>
            <a:r>
              <a:rPr b="1" i="0" lang="en-US" sz="2100" u="none" cap="none" strike="noStrike">
                <a:solidFill>
                  <a:srgbClr val="000000"/>
                </a:solidFill>
                <a:latin typeface="Times New Roman"/>
                <a:ea typeface="Times New Roman"/>
                <a:cs typeface="Times New Roman"/>
                <a:sym typeface="Times New Roman"/>
              </a:rPr>
              <a:t>            Fig </a:t>
            </a:r>
            <a:r>
              <a:rPr b="1" lang="en-US" sz="2100">
                <a:latin typeface="Times New Roman"/>
                <a:ea typeface="Times New Roman"/>
                <a:cs typeface="Times New Roman"/>
                <a:sym typeface="Times New Roman"/>
              </a:rPr>
              <a:t>7</a:t>
            </a:r>
            <a:r>
              <a:rPr b="1" i="0" lang="en-US" sz="2100" u="none" cap="none" strike="noStrike">
                <a:solidFill>
                  <a:srgbClr val="000000"/>
                </a:solidFill>
                <a:latin typeface="Times New Roman"/>
                <a:ea typeface="Times New Roman"/>
                <a:cs typeface="Times New Roman"/>
                <a:sym typeface="Times New Roman"/>
              </a:rPr>
              <a:t>: Image After De-GAN       Fig </a:t>
            </a:r>
            <a:r>
              <a:rPr b="1" lang="en-US" sz="2100">
                <a:latin typeface="Times New Roman"/>
                <a:ea typeface="Times New Roman"/>
                <a:cs typeface="Times New Roman"/>
                <a:sym typeface="Times New Roman"/>
              </a:rPr>
              <a:t>8</a:t>
            </a:r>
            <a:r>
              <a:rPr b="1" i="0" lang="en-US" sz="2100" u="none" cap="none" strike="noStrike">
                <a:solidFill>
                  <a:srgbClr val="000000"/>
                </a:solidFill>
                <a:latin typeface="Times New Roman"/>
                <a:ea typeface="Times New Roman"/>
                <a:cs typeface="Times New Roman"/>
                <a:sym typeface="Times New Roman"/>
              </a:rPr>
              <a:t>: Image After CRAFT</a:t>
            </a:r>
            <a:endParaRPr b="1" i="0" sz="2100" u="none" cap="none" strike="noStrike">
              <a:solidFill>
                <a:srgbClr val="000000"/>
              </a:solidFill>
              <a:latin typeface="Times New Roman"/>
              <a:ea typeface="Times New Roman"/>
              <a:cs typeface="Times New Roman"/>
              <a:sym typeface="Times New Roman"/>
            </a:endParaRPr>
          </a:p>
        </p:txBody>
      </p:sp>
      <p:pic>
        <p:nvPicPr>
          <p:cNvPr descr="Google Shape;238;g2476a7b157a_2_19" id="193" name="Google Shape;193;g2b3ccc60d3d_1_13"/>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94" name="Google Shape;194;g2b3ccc60d3d_1_13"/>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195" name="Google Shape;195;g2b3ccc60d3d_1_13"/>
          <p:cNvSpPr txBox="1"/>
          <p:nvPr/>
        </p:nvSpPr>
        <p:spPr>
          <a:xfrm>
            <a:off x="229174" y="1275574"/>
            <a:ext cx="11399400" cy="523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1F2328"/>
              </a:buClr>
              <a:buSzPts val="2600"/>
              <a:buFont typeface="Times New Roman"/>
              <a:buNone/>
            </a:pPr>
            <a:r>
              <a:rPr b="1" lang="en-US" sz="2800">
                <a:solidFill>
                  <a:srgbClr val="1F2328"/>
                </a:solidFill>
                <a:latin typeface="Times New Roman"/>
                <a:ea typeface="Times New Roman"/>
                <a:cs typeface="Times New Roman"/>
                <a:sym typeface="Times New Roman"/>
              </a:rPr>
              <a:t>Screenshots of Modules</a:t>
            </a:r>
            <a:r>
              <a:rPr b="1" i="0" lang="en-US" sz="2800" u="none" cap="none" strike="noStrike">
                <a:solidFill>
                  <a:srgbClr val="1F2328"/>
                </a:solidFill>
                <a:latin typeface="Times New Roman"/>
                <a:ea typeface="Times New Roman"/>
                <a:cs typeface="Times New Roman"/>
                <a:sym typeface="Times New Roman"/>
              </a:rPr>
              <a:t>:</a:t>
            </a:r>
            <a:endParaRPr b="0" i="0" sz="2800" u="none" cap="none" strike="noStrike">
              <a:solidFill>
                <a:srgbClr val="000000"/>
              </a:solidFill>
              <a:latin typeface="Arial"/>
              <a:ea typeface="Arial"/>
              <a:cs typeface="Arial"/>
              <a:sym typeface="Arial"/>
            </a:endParaRPr>
          </a:p>
        </p:txBody>
      </p:sp>
      <p:sp>
        <p:nvSpPr>
          <p:cNvPr id="196" name="Google Shape;196;g2b3ccc60d3d_1_13"/>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pic>
        <p:nvPicPr>
          <p:cNvPr id="197" name="Google Shape;197;g2b3ccc60d3d_1_13"/>
          <p:cNvPicPr preferRelativeResize="0"/>
          <p:nvPr/>
        </p:nvPicPr>
        <p:blipFill rotWithShape="1">
          <a:blip r:embed="rId4">
            <a:alphaModFix/>
          </a:blip>
          <a:srcRect b="0" l="0" r="0" t="0"/>
          <a:stretch/>
        </p:blipFill>
        <p:spPr>
          <a:xfrm>
            <a:off x="4476400" y="2117875"/>
            <a:ext cx="3150249" cy="3194950"/>
          </a:xfrm>
          <a:prstGeom prst="rect">
            <a:avLst/>
          </a:prstGeom>
          <a:noFill/>
          <a:ln>
            <a:noFill/>
          </a:ln>
        </p:spPr>
      </p:pic>
      <p:pic>
        <p:nvPicPr>
          <p:cNvPr id="198" name="Google Shape;198;g2b3ccc60d3d_1_13"/>
          <p:cNvPicPr preferRelativeResize="0"/>
          <p:nvPr/>
        </p:nvPicPr>
        <p:blipFill rotWithShape="1">
          <a:blip r:embed="rId5">
            <a:alphaModFix/>
          </a:blip>
          <a:srcRect b="0" l="0" r="0" t="0"/>
          <a:stretch/>
        </p:blipFill>
        <p:spPr>
          <a:xfrm>
            <a:off x="8047225" y="2117875"/>
            <a:ext cx="3150250" cy="3194950"/>
          </a:xfrm>
          <a:prstGeom prst="rect">
            <a:avLst/>
          </a:prstGeom>
          <a:noFill/>
          <a:ln>
            <a:noFill/>
          </a:ln>
        </p:spPr>
      </p:pic>
      <p:pic>
        <p:nvPicPr>
          <p:cNvPr id="199" name="Google Shape;199;g2b3ccc60d3d_1_13"/>
          <p:cNvPicPr preferRelativeResize="0"/>
          <p:nvPr/>
        </p:nvPicPr>
        <p:blipFill rotWithShape="1">
          <a:blip r:embed="rId6">
            <a:alphaModFix/>
          </a:blip>
          <a:srcRect b="0" l="0" r="0" t="0"/>
          <a:stretch/>
        </p:blipFill>
        <p:spPr>
          <a:xfrm>
            <a:off x="831075" y="2117875"/>
            <a:ext cx="3150250" cy="319495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2b3ccc60d3d_0_46"/>
          <p:cNvSpPr txBox="1"/>
          <p:nvPr>
            <p:ph idx="4294967295" type="ctrTitle"/>
          </p:nvPr>
        </p:nvSpPr>
        <p:spPr>
          <a:xfrm>
            <a:off x="66875" y="1330375"/>
            <a:ext cx="11969700" cy="5455200"/>
          </a:xfrm>
          <a:prstGeom prst="rect">
            <a:avLst/>
          </a:prstGeom>
          <a:noFill/>
          <a:ln>
            <a:noFill/>
          </a:ln>
        </p:spPr>
        <p:txBody>
          <a:bodyPr anchorCtr="0" anchor="t" bIns="45675" lIns="45675" spcFirstLastPara="1" rIns="45675" wrap="square" tIns="45675">
            <a:normAutofit fontScale="90000"/>
          </a:bodyPr>
          <a:lstStyle/>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br>
              <a:rPr b="0" i="0" lang="en-US" sz="2700" u="none" cap="none" strike="noStrike">
                <a:solidFill>
                  <a:srgbClr val="000000"/>
                </a:solidFill>
                <a:latin typeface="Arial"/>
                <a:ea typeface="Arial"/>
                <a:cs typeface="Arial"/>
                <a:sym typeface="Arial"/>
              </a:rPr>
            </a:br>
            <a:r>
              <a:rPr b="0" i="0" lang="en-US" sz="2700" u="none" cap="none" strike="noStrike">
                <a:solidFill>
                  <a:srgbClr val="000000"/>
                </a:solidFill>
                <a:latin typeface="Arial"/>
                <a:ea typeface="Arial"/>
                <a:cs typeface="Arial"/>
                <a:sym typeface="Arial"/>
              </a:rPr>
              <a:t>        </a:t>
            </a:r>
            <a:r>
              <a:rPr b="1" lang="en-US" sz="2100">
                <a:solidFill>
                  <a:schemeClr val="dk1"/>
                </a:solidFill>
                <a:latin typeface="Times New Roman"/>
                <a:ea typeface="Times New Roman"/>
                <a:cs typeface="Times New Roman"/>
                <a:sym typeface="Times New Roman"/>
              </a:rPr>
              <a:t>Fig 9: Image After CRAFT                                              Fig 10: Word Images After Cropping</a:t>
            </a:r>
            <a:endParaRPr i="0" sz="27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sz="2700">
              <a:latin typeface="Arial"/>
              <a:ea typeface="Arial"/>
              <a:cs typeface="Arial"/>
              <a:sym typeface="Arial"/>
            </a:endParaRPr>
          </a:p>
        </p:txBody>
      </p:sp>
      <p:pic>
        <p:nvPicPr>
          <p:cNvPr descr="Google Shape;238;g2476a7b157a_2_19" id="205" name="Google Shape;205;g2b3ccc60d3d_0_46"/>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06" name="Google Shape;206;g2b3ccc60d3d_0_46"/>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0" i="0" sz="1400" u="none" cap="none" strike="noStrike">
              <a:solidFill>
                <a:srgbClr val="000000"/>
              </a:solidFill>
              <a:latin typeface="Arial"/>
              <a:ea typeface="Arial"/>
              <a:cs typeface="Arial"/>
              <a:sym typeface="Arial"/>
            </a:endParaRPr>
          </a:p>
        </p:txBody>
      </p:sp>
      <p:sp>
        <p:nvSpPr>
          <p:cNvPr id="207" name="Google Shape;207;g2b3ccc60d3d_0_46"/>
          <p:cNvSpPr txBox="1"/>
          <p:nvPr/>
        </p:nvSpPr>
        <p:spPr>
          <a:xfrm>
            <a:off x="229175" y="1275574"/>
            <a:ext cx="11399400" cy="523200"/>
          </a:xfrm>
          <a:prstGeom prst="rect">
            <a:avLst/>
          </a:prstGeom>
          <a:noFill/>
          <a:ln>
            <a:noFill/>
          </a:ln>
        </p:spPr>
        <p:txBody>
          <a:bodyPr anchorCtr="0" anchor="t" bIns="45675" lIns="45675" spcFirstLastPara="1" rIns="45675" wrap="square" tIns="45675">
            <a:spAutoFit/>
          </a:bodyPr>
          <a:lstStyle/>
          <a:p>
            <a:pPr indent="0" lvl="0" marL="0" rtl="0" algn="l">
              <a:lnSpc>
                <a:spcPct val="115000"/>
              </a:lnSpc>
              <a:spcBef>
                <a:spcPts val="0"/>
              </a:spcBef>
              <a:spcAft>
                <a:spcPts val="0"/>
              </a:spcAft>
              <a:buClr>
                <a:schemeClr val="dk1"/>
              </a:buClr>
              <a:buSzPts val="1100"/>
              <a:buFont typeface="Arial"/>
              <a:buNone/>
            </a:pPr>
            <a:r>
              <a:t/>
            </a:r>
            <a:endParaRPr b="1" i="0" sz="2800" u="none" cap="none" strike="noStrike">
              <a:solidFill>
                <a:srgbClr val="000000"/>
              </a:solidFill>
              <a:latin typeface="Times New Roman"/>
              <a:ea typeface="Times New Roman"/>
              <a:cs typeface="Times New Roman"/>
              <a:sym typeface="Times New Roman"/>
            </a:endParaRPr>
          </a:p>
        </p:txBody>
      </p:sp>
      <p:sp>
        <p:nvSpPr>
          <p:cNvPr id="208" name="Google Shape;208;g2b3ccc60d3d_0_46"/>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pic>
        <p:nvPicPr>
          <p:cNvPr id="209" name="Google Shape;209;g2b3ccc60d3d_0_46"/>
          <p:cNvPicPr preferRelativeResize="0"/>
          <p:nvPr/>
        </p:nvPicPr>
        <p:blipFill>
          <a:blip r:embed="rId4">
            <a:alphaModFix/>
          </a:blip>
          <a:stretch>
            <a:fillRect/>
          </a:stretch>
        </p:blipFill>
        <p:spPr>
          <a:xfrm>
            <a:off x="507625" y="1667800"/>
            <a:ext cx="3615474" cy="4636099"/>
          </a:xfrm>
          <a:prstGeom prst="rect">
            <a:avLst/>
          </a:prstGeom>
          <a:noFill/>
          <a:ln>
            <a:noFill/>
          </a:ln>
        </p:spPr>
      </p:pic>
      <p:pic>
        <p:nvPicPr>
          <p:cNvPr id="210" name="Google Shape;210;g2b3ccc60d3d_0_46"/>
          <p:cNvPicPr preferRelativeResize="0"/>
          <p:nvPr/>
        </p:nvPicPr>
        <p:blipFill>
          <a:blip r:embed="rId5">
            <a:alphaModFix/>
          </a:blip>
          <a:stretch>
            <a:fillRect/>
          </a:stretch>
        </p:blipFill>
        <p:spPr>
          <a:xfrm>
            <a:off x="4599625" y="1667800"/>
            <a:ext cx="7220575" cy="4636100"/>
          </a:xfrm>
          <a:prstGeom prst="rect">
            <a:avLst/>
          </a:prstGeom>
          <a:noFill/>
          <a:ln>
            <a:noFill/>
          </a:ln>
        </p:spPr>
      </p:pic>
      <p:sp>
        <p:nvSpPr>
          <p:cNvPr id="211" name="Google Shape;211;g2b3ccc60d3d_0_46"/>
          <p:cNvSpPr txBox="1"/>
          <p:nvPr/>
        </p:nvSpPr>
        <p:spPr>
          <a:xfrm>
            <a:off x="352024" y="1144599"/>
            <a:ext cx="11399400" cy="523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1F2328"/>
              </a:buClr>
              <a:buSzPts val="2600"/>
              <a:buFont typeface="Times New Roman"/>
              <a:buNone/>
            </a:pPr>
            <a:r>
              <a:rPr b="1" lang="en-US" sz="2800">
                <a:solidFill>
                  <a:srgbClr val="1F2328"/>
                </a:solidFill>
                <a:latin typeface="Times New Roman"/>
                <a:ea typeface="Times New Roman"/>
                <a:cs typeface="Times New Roman"/>
                <a:sym typeface="Times New Roman"/>
              </a:rPr>
              <a:t>Screenshots of Modules</a:t>
            </a:r>
            <a:r>
              <a:rPr b="1" i="0" lang="en-US" sz="2800" u="none" cap="none" strike="noStrike">
                <a:solidFill>
                  <a:srgbClr val="1F2328"/>
                </a:solidFill>
                <a:latin typeface="Times New Roman"/>
                <a:ea typeface="Times New Roman"/>
                <a:cs typeface="Times New Roman"/>
                <a:sym typeface="Times New Roman"/>
              </a:rPr>
              <a: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5"/>
          <p:cNvSpPr txBox="1"/>
          <p:nvPr/>
        </p:nvSpPr>
        <p:spPr>
          <a:xfrm>
            <a:off x="233674" y="2349949"/>
            <a:ext cx="11399400" cy="30015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               </a:t>
            </a:r>
            <a:r>
              <a:rPr b="0" i="0" lang="en-US" sz="2100" u="none" cap="none" strike="noStrike">
                <a:solidFill>
                  <a:srgbClr val="000000"/>
                </a:solidFill>
                <a:latin typeface="Times New Roman"/>
                <a:ea typeface="Times New Roman"/>
                <a:cs typeface="Times New Roman"/>
                <a:sym typeface="Times New Roman"/>
              </a:rPr>
              <a:t>In conclusion, an Automated Annotation System designed for document text images brings transformative benefits to various industries. By leveraging advanced image processing techniques, such as Optical Character Recognition (OCR) and deep learning algorithms, this system significantly enhances document analysis, data extraction, and information retrieval processes. It optimizes efficiency, accuracy, and productivity by automating the time-consuming task of manual annotation. This system finds applications in areas ranging from digitizing historical archives and cataloging large document databases to aiding in content indexing and semantic understanding. As technology continues to advance, the development and adoption of Automated Annotation Systems for Document Text Images hold the promise of revolutionizing the way we interact with and extract knowledge from textual documents.</a:t>
            </a:r>
            <a:endParaRPr b="0" i="0" sz="1500" u="none" cap="none" strike="noStrike">
              <a:solidFill>
                <a:srgbClr val="000000"/>
              </a:solidFill>
              <a:latin typeface="Arial"/>
              <a:ea typeface="Arial"/>
              <a:cs typeface="Arial"/>
              <a:sym typeface="Arial"/>
            </a:endParaRPr>
          </a:p>
        </p:txBody>
      </p:sp>
      <p:pic>
        <p:nvPicPr>
          <p:cNvPr descr="Google Shape;250;p16" id="217" name="Google Shape;217;p15"/>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18" name="Google Shape;218;p15"/>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r>
              <a:rPr b="1" i="0" lang="en-US" sz="2200" u="none" cap="none" strike="noStrike">
                <a:solidFill>
                  <a:srgbClr val="000000"/>
                </a:solidFill>
                <a:latin typeface="Arial Rounded"/>
                <a:ea typeface="Arial Rounded"/>
                <a:cs typeface="Arial Rounded"/>
                <a:sym typeface="Arial Rounded"/>
              </a:rPr>
              <a:t> </a:t>
            </a:r>
            <a:endParaRPr b="0" i="0" sz="1400" u="none" cap="none" strike="noStrike">
              <a:solidFill>
                <a:srgbClr val="000000"/>
              </a:solidFill>
              <a:latin typeface="Arial"/>
              <a:ea typeface="Arial"/>
              <a:cs typeface="Arial"/>
              <a:sym typeface="Arial"/>
            </a:endParaRPr>
          </a:p>
        </p:txBody>
      </p:sp>
      <p:sp>
        <p:nvSpPr>
          <p:cNvPr id="219" name="Google Shape;219;p15"/>
          <p:cNvSpPr txBox="1"/>
          <p:nvPr/>
        </p:nvSpPr>
        <p:spPr>
          <a:xfrm>
            <a:off x="233660" y="1210950"/>
            <a:ext cx="7308300" cy="954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Conclusion &amp; Scope</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0" name="Google Shape;220;p15"/>
          <p:cNvSpPr txBox="1"/>
          <p:nvPr>
            <p:ph idx="12" type="sldNum"/>
          </p:nvPr>
        </p:nvSpPr>
        <p:spPr>
          <a:xfrm>
            <a:off x="11095216" y="6414769"/>
            <a:ext cx="258584" cy="248266"/>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29ce8367354_2_40"/>
          <p:cNvSpPr txBox="1"/>
          <p:nvPr/>
        </p:nvSpPr>
        <p:spPr>
          <a:xfrm>
            <a:off x="233674" y="2349949"/>
            <a:ext cx="11399400" cy="7080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descr="Google Shape;260;p17" id="226" name="Google Shape;226;g29ce8367354_2_4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27" name="Google Shape;227;g29ce8367354_2_4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1" i="0" sz="22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chemeClr val="dk1"/>
              </a:buClr>
              <a:buSzPts val="2200"/>
              <a:buFont typeface="Arial Rounded"/>
              <a:buNone/>
            </a:pPr>
            <a:r>
              <a:rPr b="0" i="0" lang="en-US" sz="14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1" i="0" sz="2200" u="none" cap="none" strike="noStrike">
              <a:solidFill>
                <a:srgbClr val="000000"/>
              </a:solidFill>
              <a:latin typeface="Arial Rounded"/>
              <a:ea typeface="Arial Rounded"/>
              <a:cs typeface="Arial Rounded"/>
              <a:sym typeface="Arial Rounded"/>
            </a:endParaRPr>
          </a:p>
        </p:txBody>
      </p:sp>
      <p:sp>
        <p:nvSpPr>
          <p:cNvPr id="228" name="Google Shape;228;g29ce8367354_2_40"/>
          <p:cNvSpPr txBox="1"/>
          <p:nvPr/>
        </p:nvSpPr>
        <p:spPr>
          <a:xfrm>
            <a:off x="182860" y="1210424"/>
            <a:ext cx="11826300" cy="105777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Times New Roman"/>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References</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800" u="none" cap="none" strike="noStrike">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US" sz="2100">
                <a:solidFill>
                  <a:srgbClr val="1F1F1F"/>
                </a:solidFill>
                <a:highlight>
                  <a:schemeClr val="lt1"/>
                </a:highlight>
                <a:latin typeface="Times New Roman"/>
                <a:ea typeface="Times New Roman"/>
                <a:cs typeface="Times New Roman"/>
                <a:sym typeface="Times New Roman"/>
              </a:rPr>
              <a:t>1. Souibgui, M. A. and Kessentini, Y., “DE-GAN: A Conditional Generative Adversarial Network for Document Enhancement”, &lt;i&gt;arXiv e-prints&lt;/i&gt;, 2020. doi:10.48550/arXiv.2010.08764.9</a:t>
            </a:r>
            <a:endParaRPr sz="2100">
              <a:solidFill>
                <a:srgbClr val="181818"/>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sz="2100">
              <a:solidFill>
                <a:srgbClr val="181818"/>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lang="en-US" sz="2100">
                <a:solidFill>
                  <a:srgbClr val="181818"/>
                </a:solidFill>
                <a:latin typeface="Times New Roman"/>
                <a:ea typeface="Times New Roman"/>
                <a:cs typeface="Times New Roman"/>
                <a:sym typeface="Times New Roman"/>
              </a:rPr>
              <a:t>2</a:t>
            </a:r>
            <a:r>
              <a:rPr b="0" i="0" lang="en-US" sz="2100" u="none" cap="none" strike="noStrike">
                <a:solidFill>
                  <a:srgbClr val="181818"/>
                </a:solidFill>
                <a:latin typeface="Times New Roman"/>
                <a:ea typeface="Times New Roman"/>
                <a:cs typeface="Times New Roman"/>
                <a:sym typeface="Times New Roman"/>
              </a:rPr>
              <a:t>. </a:t>
            </a:r>
            <a:r>
              <a:rPr b="0" i="0" lang="en-US" sz="2100" u="none" cap="none" strike="noStrike">
                <a:solidFill>
                  <a:srgbClr val="222222"/>
                </a:solidFill>
                <a:highlight>
                  <a:srgbClr val="FFFFFF"/>
                </a:highlight>
                <a:latin typeface="Times New Roman"/>
                <a:ea typeface="Times New Roman"/>
                <a:cs typeface="Times New Roman"/>
                <a:sym typeface="Times New Roman"/>
              </a:rPr>
              <a:t>Y. Baek, B. Lee, D. Han, S. Yun and H. Lee, "Character Region Awareness for Text Detection," 2019 IEEE/CVF Conference on Computer Vision and Pattern Recognition (CVPR), Long Beach, CA, USA, 2019, pp. 9357-9366, doi: 10.1109/CVPR.2019.00959.</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sz="2100">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lang="en-US" sz="2100">
                <a:solidFill>
                  <a:srgbClr val="222222"/>
                </a:solidFill>
                <a:highlight>
                  <a:srgbClr val="FFFFFF"/>
                </a:highlight>
                <a:latin typeface="Times New Roman"/>
                <a:ea typeface="Times New Roman"/>
                <a:cs typeface="Times New Roman"/>
                <a:sym typeface="Times New Roman"/>
              </a:rPr>
              <a:t>3. </a:t>
            </a:r>
            <a:r>
              <a:rPr lang="en-US" sz="2100">
                <a:solidFill>
                  <a:schemeClr val="dk1"/>
                </a:solidFill>
                <a:latin typeface="Times New Roman"/>
                <a:ea typeface="Times New Roman"/>
                <a:cs typeface="Times New Roman"/>
                <a:sym typeface="Times New Roman"/>
              </a:rPr>
              <a:t>Base paper : Mondal, Ajoy &amp; Tulsyan, Krishna &amp; Jawahar, C.. (2022). Automatic Annotation of Handwritten Documents in Word Level. 10.1145/3571600.3571645.</a:t>
            </a:r>
            <a:endParaRPr sz="2100">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1900" u="none" cap="none" strike="noStrike">
                <a:solidFill>
                  <a:srgbClr val="222222"/>
                </a:solidFill>
                <a:highlight>
                  <a:srgbClr val="FFFFFF"/>
                </a:highlight>
                <a:latin typeface="Times New Roman"/>
                <a:ea typeface="Times New Roman"/>
                <a:cs typeface="Times New Roman"/>
                <a:sym typeface="Times New Roman"/>
              </a:rPr>
              <a:t> </a:t>
            </a:r>
            <a:endParaRPr b="0" i="0" sz="19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1100" u="none" cap="none" strike="noStrike">
              <a:solidFill>
                <a:srgbClr val="181818"/>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US" sz="2000" u="none" cap="none" strike="noStrike">
                <a:solidFill>
                  <a:schemeClr val="dk1"/>
                </a:solidFill>
                <a:latin typeface="Arial"/>
                <a:ea typeface="Arial"/>
                <a:cs typeface="Arial"/>
                <a:sym typeface="Aria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29" name="Google Shape;229;g29ce8367354_2_40"/>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2b43d7599d0_4_0"/>
          <p:cNvSpPr txBox="1"/>
          <p:nvPr/>
        </p:nvSpPr>
        <p:spPr>
          <a:xfrm>
            <a:off x="233674" y="2349949"/>
            <a:ext cx="11399400" cy="7080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descr="Google Shape;260;p17" id="235" name="Google Shape;235;g2b43d7599d0_4_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36" name="Google Shape;236;g2b43d7599d0_4_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1" i="0" sz="22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chemeClr val="dk1"/>
              </a:buClr>
              <a:buSzPts val="2200"/>
              <a:buFont typeface="Arial Rounded"/>
              <a:buNone/>
            </a:pPr>
            <a:r>
              <a:rPr b="0" i="0" lang="en-US" sz="14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1" i="0" sz="2200" u="none" cap="none" strike="noStrike">
              <a:solidFill>
                <a:srgbClr val="000000"/>
              </a:solidFill>
              <a:latin typeface="Arial Rounded"/>
              <a:ea typeface="Arial Rounded"/>
              <a:cs typeface="Arial Rounded"/>
              <a:sym typeface="Arial Rounded"/>
            </a:endParaRPr>
          </a:p>
        </p:txBody>
      </p:sp>
      <p:sp>
        <p:nvSpPr>
          <p:cNvPr id="237" name="Google Shape;237;g2b43d7599d0_4_0"/>
          <p:cNvSpPr txBox="1"/>
          <p:nvPr/>
        </p:nvSpPr>
        <p:spPr>
          <a:xfrm>
            <a:off x="182860" y="1210424"/>
            <a:ext cx="11826300" cy="114981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Times New Roman"/>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References</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800" u="none" cap="none" strike="noStrike">
              <a:solidFill>
                <a:srgbClr val="000000"/>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solidFill>
                  <a:srgbClr val="1F1F1F"/>
                </a:solidFill>
                <a:highlight>
                  <a:srgbClr val="FFFFFF"/>
                </a:highlight>
                <a:latin typeface="Times New Roman"/>
                <a:ea typeface="Times New Roman"/>
                <a:cs typeface="Times New Roman"/>
                <a:sym typeface="Times New Roman"/>
              </a:rPr>
              <a:t>4.  Marti, U-V., and Horst Bunke. "The IAM-database: an English sentence database for offline handwriting recognition." International Journal on Document Analysis and Recognition 5 (2002): 39-46.</a:t>
            </a:r>
            <a:endParaRPr sz="2000">
              <a:solidFill>
                <a:srgbClr val="1F1F1F"/>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2000">
              <a:solidFill>
                <a:srgbClr val="1F1F1F"/>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rgbClr val="181818"/>
                </a:solidFill>
                <a:latin typeface="Times New Roman"/>
                <a:ea typeface="Times New Roman"/>
                <a:cs typeface="Times New Roman"/>
                <a:sym typeface="Times New Roman"/>
              </a:rPr>
              <a:t>5. </a:t>
            </a:r>
            <a:r>
              <a:rPr lang="en-US" sz="2000">
                <a:solidFill>
                  <a:schemeClr val="dk1"/>
                </a:solidFill>
                <a:latin typeface="Times New Roman"/>
                <a:ea typeface="Times New Roman"/>
                <a:cs typeface="Times New Roman"/>
                <a:sym typeface="Times New Roman"/>
              </a:rPr>
              <a:t>Pippi, Vittorio, Silvia Cascianelli, and Rita Cucchiara. "Handwritten Text Generation from Visual Archetypes." Proceedings of the IEEE/CVF Conference on Computer Vision and Pattern Recognition. 2023.</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6</a:t>
            </a:r>
            <a:r>
              <a:rPr lang="en-US" sz="2000">
                <a:solidFill>
                  <a:srgbClr val="1A1A1A"/>
                </a:solidFill>
                <a:latin typeface="Times New Roman"/>
                <a:ea typeface="Times New Roman"/>
                <a:cs typeface="Times New Roman"/>
                <a:sym typeface="Times New Roman"/>
              </a:rPr>
              <a:t>. Mustafa, W. A., et al."A comprehensive review on document image (DIBCO) database."</a:t>
            </a:r>
            <a:r>
              <a:rPr i="1" lang="en-US" sz="2000">
                <a:solidFill>
                  <a:srgbClr val="1A1A1A"/>
                </a:solidFill>
                <a:latin typeface="Times New Roman"/>
                <a:ea typeface="Times New Roman"/>
                <a:cs typeface="Times New Roman"/>
                <a:sym typeface="Times New Roman"/>
              </a:rPr>
              <a:t>IOP Conference Series: Materials Science and Engineering</a:t>
            </a:r>
            <a:r>
              <a:rPr lang="en-US" sz="2000">
                <a:solidFill>
                  <a:srgbClr val="1A1A1A"/>
                </a:solidFill>
                <a:latin typeface="Times New Roman"/>
                <a:ea typeface="Times New Roman"/>
                <a:cs typeface="Times New Roman"/>
                <a:sym typeface="Times New Roman"/>
              </a:rPr>
              <a:t> . V ol. 557. No. 1. IOP Publishing, 2019.</a:t>
            </a:r>
            <a:endParaRPr sz="2000">
              <a:solidFill>
                <a:srgbClr val="1A1A1A"/>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2000">
              <a:solidFill>
                <a:srgbClr val="1A1A1A"/>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7. Zhou, X., “EAST: An Efficient and Accurate Scene Text Detector” , &lt;i&gt;arXiv e-prints&lt;/i&gt;, 2017.doi:10.48550/arXiv.1704.03155</a:t>
            </a:r>
            <a:r>
              <a:rPr lang="en-US" sz="2000">
                <a:solidFill>
                  <a:srgbClr val="181818"/>
                </a:solidFill>
                <a:latin typeface="Times New Roman"/>
                <a:ea typeface="Times New Roman"/>
                <a:cs typeface="Times New Roman"/>
                <a:sym typeface="Times New Roman"/>
              </a:rPr>
              <a:t> .</a:t>
            </a:r>
            <a:endParaRPr sz="2000">
              <a:solidFill>
                <a:srgbClr val="181818"/>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sz="2100">
              <a:solidFill>
                <a:srgbClr val="1F1F1F"/>
              </a:solidFill>
              <a:highlight>
                <a:schemeClr val="lt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1900" u="none" cap="none" strike="noStrike">
                <a:solidFill>
                  <a:srgbClr val="222222"/>
                </a:solidFill>
                <a:highlight>
                  <a:srgbClr val="FFFFFF"/>
                </a:highlight>
                <a:latin typeface="Times New Roman"/>
                <a:ea typeface="Times New Roman"/>
                <a:cs typeface="Times New Roman"/>
                <a:sym typeface="Times New Roman"/>
              </a:rPr>
              <a:t> </a:t>
            </a:r>
            <a:endParaRPr b="0" i="0" sz="19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1100" u="none" cap="none" strike="noStrike">
              <a:solidFill>
                <a:srgbClr val="181818"/>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US" sz="2000" u="none" cap="none" strike="noStrike">
                <a:solidFill>
                  <a:schemeClr val="dk1"/>
                </a:solidFill>
                <a:latin typeface="Arial"/>
                <a:ea typeface="Arial"/>
                <a:cs typeface="Arial"/>
                <a:sym typeface="Aria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38" name="Google Shape;238;g2b43d7599d0_4_0"/>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2b43d7599d0_4_9"/>
          <p:cNvSpPr txBox="1"/>
          <p:nvPr/>
        </p:nvSpPr>
        <p:spPr>
          <a:xfrm>
            <a:off x="233674" y="2349949"/>
            <a:ext cx="11399400" cy="7080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descr="Google Shape;260;p17" id="244" name="Google Shape;244;g2b43d7599d0_4_9"/>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45" name="Google Shape;245;g2b43d7599d0_4_9"/>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1" i="0" sz="22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chemeClr val="dk1"/>
              </a:buClr>
              <a:buSzPts val="2200"/>
              <a:buFont typeface="Arial Rounded"/>
              <a:buNone/>
            </a:pPr>
            <a:r>
              <a:rPr b="0" i="0" lang="en-US" sz="14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1" i="0" sz="2200" u="none" cap="none" strike="noStrike">
              <a:solidFill>
                <a:srgbClr val="000000"/>
              </a:solidFill>
              <a:latin typeface="Arial Rounded"/>
              <a:ea typeface="Arial Rounded"/>
              <a:cs typeface="Arial Rounded"/>
              <a:sym typeface="Arial Rounded"/>
            </a:endParaRPr>
          </a:p>
        </p:txBody>
      </p:sp>
      <p:sp>
        <p:nvSpPr>
          <p:cNvPr id="246" name="Google Shape;246;g2b43d7599d0_4_9"/>
          <p:cNvSpPr txBox="1"/>
          <p:nvPr/>
        </p:nvSpPr>
        <p:spPr>
          <a:xfrm>
            <a:off x="182860" y="1210424"/>
            <a:ext cx="11826300" cy="122238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Times New Roman"/>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References</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800" u="none" cap="none" strike="noStrike">
              <a:solidFill>
                <a:srgbClr val="000000"/>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solidFill>
                  <a:srgbClr val="222222"/>
                </a:solidFill>
                <a:highlight>
                  <a:srgbClr val="FFFFFF"/>
                </a:highlight>
                <a:latin typeface="Times New Roman"/>
                <a:ea typeface="Times New Roman"/>
                <a:cs typeface="Times New Roman"/>
                <a:sym typeface="Times New Roman"/>
              </a:rPr>
              <a:t>8. Liu, Yuliang, et al. "Abcnet: Real-time scene text spotting with adaptive bezier-curve network." </a:t>
            </a:r>
            <a:r>
              <a:rPr i="1" lang="en-US" sz="2000">
                <a:solidFill>
                  <a:srgbClr val="222222"/>
                </a:solidFill>
                <a:highlight>
                  <a:srgbClr val="FFFFFF"/>
                </a:highlight>
                <a:latin typeface="Times New Roman"/>
                <a:ea typeface="Times New Roman"/>
                <a:cs typeface="Times New Roman"/>
                <a:sym typeface="Times New Roman"/>
              </a:rPr>
              <a:t>proceedings of the IEEE/CVF conference on computer vision and pattern recognition</a:t>
            </a:r>
            <a:r>
              <a:rPr lang="en-US" sz="2000">
                <a:solidFill>
                  <a:srgbClr val="222222"/>
                </a:solidFill>
                <a:highlight>
                  <a:srgbClr val="FFFFFF"/>
                </a:highlight>
                <a:latin typeface="Times New Roman"/>
                <a:ea typeface="Times New Roman"/>
                <a:cs typeface="Times New Roman"/>
                <a:sym typeface="Times New Roman"/>
              </a:rPr>
              <a:t>. 2020.</a:t>
            </a:r>
            <a:endParaRPr sz="2000">
              <a:solidFill>
                <a:srgbClr val="222222"/>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2000">
              <a:solidFill>
                <a:srgbClr val="222222"/>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rgbClr val="222222"/>
                </a:solidFill>
                <a:highlight>
                  <a:srgbClr val="FFFFFF"/>
                </a:highlight>
                <a:latin typeface="Times New Roman"/>
                <a:ea typeface="Times New Roman"/>
                <a:cs typeface="Times New Roman"/>
                <a:sym typeface="Times New Roman"/>
              </a:rPr>
              <a:t>9. Z. Zhong, L. Jin and S. Huang, "DeepText: A new approach for text proposal generation and text detection in natural images," 2017 IEEE International Conference on Acoustics, Speech and Signal Processing (ICASSP), New Orleans, LA, USA, 2017, pp. 1208-1212, doi: 10.1109/ICASSP.2017.7952348.</a:t>
            </a:r>
            <a:endParaRPr sz="2000">
              <a:solidFill>
                <a:srgbClr val="222222"/>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2000">
              <a:solidFill>
                <a:srgbClr val="222222"/>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rgbClr val="222222"/>
                </a:solidFill>
                <a:highlight>
                  <a:srgbClr val="FFFFFF"/>
                </a:highlight>
                <a:latin typeface="Times New Roman"/>
                <a:ea typeface="Times New Roman"/>
                <a:cs typeface="Times New Roman"/>
                <a:sym typeface="Times New Roman"/>
              </a:rPr>
              <a:t>10. </a:t>
            </a:r>
            <a:r>
              <a:rPr lang="en-US" sz="2000">
                <a:solidFill>
                  <a:srgbClr val="1F1F1F"/>
                </a:solidFill>
                <a:highlight>
                  <a:srgbClr val="FFFFFF"/>
                </a:highlight>
                <a:latin typeface="Times New Roman"/>
                <a:ea typeface="Times New Roman"/>
                <a:cs typeface="Times New Roman"/>
                <a:sym typeface="Times New Roman"/>
              </a:rPr>
              <a:t>Ait Bella, F.Z., El Rhabi, M., Hakim, A. et al. An innovative document image binarization approach driven by the non-local p-Laplacian. EURASIP J. Adv. Signal Process. 2022, 50 (2022).</a:t>
            </a:r>
            <a:endParaRPr sz="2000">
              <a:solidFill>
                <a:srgbClr val="1F1F1F"/>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2000">
              <a:solidFill>
                <a:srgbClr val="1F1F1F"/>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rgbClr val="1F1F1F"/>
                </a:solidFill>
                <a:highlight>
                  <a:srgbClr val="FFFFFF"/>
                </a:highlight>
                <a:latin typeface="Times New Roman"/>
                <a:ea typeface="Times New Roman"/>
                <a:cs typeface="Times New Roman"/>
                <a:sym typeface="Times New Roman"/>
              </a:rPr>
              <a:t>11. Mustafa, Wan &amp; Kader, Mohamed. (2018). Binarization of Document Images: A Comprehensive Review. Journal of Physics: Conference Series. 1019. 012023. 10.1088/1742-6596/1019/1/012023.</a:t>
            </a:r>
            <a:r>
              <a:rPr lang="en-US" sz="2100">
                <a:solidFill>
                  <a:srgbClr val="1F1F1F"/>
                </a:solidFill>
                <a:highlight>
                  <a:srgbClr val="FFFFFF"/>
                </a:highlight>
              </a:rPr>
              <a:t> </a:t>
            </a:r>
            <a:endParaRPr sz="2100">
              <a:solidFill>
                <a:srgbClr val="1F1F1F"/>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2000">
              <a:solidFill>
                <a:srgbClr val="1F1F1F"/>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sz="2100">
              <a:solidFill>
                <a:srgbClr val="1F1F1F"/>
              </a:solidFill>
              <a:highlight>
                <a:schemeClr val="lt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1900" u="none" cap="none" strike="noStrike">
                <a:solidFill>
                  <a:srgbClr val="222222"/>
                </a:solidFill>
                <a:highlight>
                  <a:srgbClr val="FFFFFF"/>
                </a:highlight>
                <a:latin typeface="Times New Roman"/>
                <a:ea typeface="Times New Roman"/>
                <a:cs typeface="Times New Roman"/>
                <a:sym typeface="Times New Roman"/>
              </a:rPr>
              <a:t> </a:t>
            </a:r>
            <a:endParaRPr b="0" i="0" sz="19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1100" u="none" cap="none" strike="noStrike">
              <a:solidFill>
                <a:srgbClr val="181818"/>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US" sz="2000" u="none" cap="none" strike="noStrike">
                <a:solidFill>
                  <a:schemeClr val="dk1"/>
                </a:solidFill>
                <a:latin typeface="Arial"/>
                <a:ea typeface="Arial"/>
                <a:cs typeface="Arial"/>
                <a:sym typeface="Aria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47" name="Google Shape;247;g2b43d7599d0_4_9"/>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2b43d7599d0_4_28"/>
          <p:cNvSpPr txBox="1"/>
          <p:nvPr/>
        </p:nvSpPr>
        <p:spPr>
          <a:xfrm>
            <a:off x="233674" y="2349949"/>
            <a:ext cx="11399400" cy="7080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descr="Google Shape;260;p17" id="253" name="Google Shape;253;g2b43d7599d0_4_28"/>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54" name="Google Shape;254;g2b43d7599d0_4_28"/>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1" i="0" sz="22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chemeClr val="dk1"/>
              </a:buClr>
              <a:buSzPts val="2200"/>
              <a:buFont typeface="Arial Rounded"/>
              <a:buNone/>
            </a:pPr>
            <a:r>
              <a:rPr b="0" i="0" lang="en-US" sz="14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1" i="0" sz="2200" u="none" cap="none" strike="noStrike">
              <a:solidFill>
                <a:srgbClr val="000000"/>
              </a:solidFill>
              <a:latin typeface="Arial Rounded"/>
              <a:ea typeface="Arial Rounded"/>
              <a:cs typeface="Arial Rounded"/>
              <a:sym typeface="Arial Rounded"/>
            </a:endParaRPr>
          </a:p>
        </p:txBody>
      </p:sp>
      <p:sp>
        <p:nvSpPr>
          <p:cNvPr id="255" name="Google Shape;255;g2b43d7599d0_4_28"/>
          <p:cNvSpPr txBox="1"/>
          <p:nvPr/>
        </p:nvSpPr>
        <p:spPr>
          <a:xfrm>
            <a:off x="182860" y="1210424"/>
            <a:ext cx="11826300" cy="130857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Times New Roman"/>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References</a:t>
            </a:r>
            <a:r>
              <a:rPr b="1" i="0" lang="en-US" sz="2800" u="none" cap="none" strike="noStrike">
                <a:solidFill>
                  <a:srgbClr val="000000"/>
                </a:solidFill>
                <a:latin typeface="Arial"/>
                <a:ea typeface="Arial"/>
                <a:cs typeface="Arial"/>
                <a:sym typeface="Arial"/>
              </a:rPr>
              <a:t>:</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Times New Roman"/>
              <a:buNone/>
            </a:pPr>
            <a:r>
              <a:t/>
            </a:r>
            <a:endParaRPr b="1" sz="2800"/>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12. Coquenet, Denis &amp; Chatelain, Clement &amp; Paquet, Thierry. (2020). End-to-end Handwritten Paragraph Text Recognition Using a Vertical Attention Network.</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13. </a:t>
            </a:r>
            <a:r>
              <a:rPr lang="en-US" sz="2000">
                <a:solidFill>
                  <a:srgbClr val="1F1F1F"/>
                </a:solidFill>
                <a:highlight>
                  <a:srgbClr val="FFFFFF"/>
                </a:highlight>
                <a:latin typeface="Times New Roman"/>
                <a:ea typeface="Times New Roman"/>
                <a:cs typeface="Times New Roman"/>
                <a:sym typeface="Times New Roman"/>
              </a:rPr>
              <a:t>Ganji, T., Sekhar Velpuru, M., and Dugyala, R., “Multi Variant Handwritten Telugu Character Recognition Using Transfer Learning”, in &lt;i&gt;Materials Science and Engineering Conference Series&lt;/i&gt;, 2021, vol. 1042, no. 1, p. 012026. doi:10.1088/1757-899X/1042/1/012026.</a:t>
            </a:r>
            <a:endParaRPr sz="2000">
              <a:solidFill>
                <a:srgbClr val="1F1F1F"/>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rgbClr val="1F1F1F"/>
                </a:solidFill>
                <a:highlight>
                  <a:srgbClr val="FFFFFF"/>
                </a:highlight>
                <a:latin typeface="Times New Roman"/>
                <a:ea typeface="Times New Roman"/>
                <a:cs typeface="Times New Roman"/>
                <a:sym typeface="Times New Roman"/>
              </a:rPr>
              <a:t> </a:t>
            </a:r>
            <a:endParaRPr sz="2000">
              <a:solidFill>
                <a:srgbClr val="1F1F1F"/>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000">
                <a:solidFill>
                  <a:srgbClr val="1F1F1F"/>
                </a:solidFill>
                <a:highlight>
                  <a:srgbClr val="FFFFFF"/>
                </a:highlight>
                <a:latin typeface="Times New Roman"/>
                <a:ea typeface="Times New Roman"/>
                <a:cs typeface="Times New Roman"/>
                <a:sym typeface="Times New Roman"/>
              </a:rPr>
              <a:t>14. </a:t>
            </a:r>
            <a:r>
              <a:rPr lang="en-US" sz="2000">
                <a:solidFill>
                  <a:schemeClr val="dk1"/>
                </a:solidFill>
                <a:latin typeface="Times New Roman"/>
                <a:ea typeface="Times New Roman"/>
                <a:cs typeface="Times New Roman"/>
                <a:sym typeface="Times New Roman"/>
              </a:rPr>
              <a:t>Mathew, Minesh, and C. V. Jawahar. "An empirical study of CTC based models for OCR of Indian languages." arXiv preprint arXiv:2205.06740 (2022).</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Arial"/>
                <a:ea typeface="Arial"/>
                <a:cs typeface="Arial"/>
                <a:sym typeface="Arial"/>
              </a:rPr>
              <a:t> </a:t>
            </a:r>
            <a:endParaRPr sz="2800"/>
          </a:p>
          <a:p>
            <a:pPr indent="0" lvl="0" marL="0" rtl="0" algn="l">
              <a:lnSpc>
                <a:spcPct val="115000"/>
              </a:lnSpc>
              <a:spcBef>
                <a:spcPts val="0"/>
              </a:spcBef>
              <a:spcAft>
                <a:spcPts val="0"/>
              </a:spcAft>
              <a:buClr>
                <a:schemeClr val="dk1"/>
              </a:buClr>
              <a:buSzPts val="1100"/>
              <a:buFont typeface="Arial"/>
              <a:buNone/>
            </a:pPr>
            <a:r>
              <a:rPr lang="en-US" sz="2000">
                <a:solidFill>
                  <a:srgbClr val="1F1F1F"/>
                </a:solidFill>
                <a:highlight>
                  <a:schemeClr val="lt1"/>
                </a:highlight>
                <a:latin typeface="Times New Roman"/>
                <a:ea typeface="Times New Roman"/>
                <a:cs typeface="Times New Roman"/>
                <a:sym typeface="Times New Roman"/>
              </a:rPr>
              <a:t>15. Trippe, Theophil, et al. "Let's enhance: A deep learning approach to extreme deblurring of text images." arXiv preprint arXiv:2211.10103 (2022).</a:t>
            </a:r>
            <a:endParaRPr sz="2000">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800" u="none" cap="none" strike="noStrike">
              <a:solidFill>
                <a:srgbClr val="000000"/>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2100">
              <a:solidFill>
                <a:srgbClr val="1F1F1F"/>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2000">
              <a:solidFill>
                <a:srgbClr val="1F1F1F"/>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sz="2100">
              <a:solidFill>
                <a:srgbClr val="1F1F1F"/>
              </a:solidFill>
              <a:highlight>
                <a:schemeClr val="lt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1900" u="none" cap="none" strike="noStrike">
                <a:solidFill>
                  <a:srgbClr val="222222"/>
                </a:solidFill>
                <a:highlight>
                  <a:srgbClr val="FFFFFF"/>
                </a:highlight>
                <a:latin typeface="Times New Roman"/>
                <a:ea typeface="Times New Roman"/>
                <a:cs typeface="Times New Roman"/>
                <a:sym typeface="Times New Roman"/>
              </a:rPr>
              <a:t> </a:t>
            </a:r>
            <a:endParaRPr b="0" i="0" sz="1900" u="none" cap="none" strike="noStrike">
              <a:solidFill>
                <a:srgbClr val="222222"/>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1100" u="none" cap="none" strike="noStrike">
              <a:solidFill>
                <a:srgbClr val="181818"/>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US" sz="2000" u="none" cap="none" strike="noStrike">
                <a:solidFill>
                  <a:schemeClr val="dk1"/>
                </a:solidFill>
                <a:latin typeface="Arial"/>
                <a:ea typeface="Arial"/>
                <a:cs typeface="Arial"/>
                <a:sym typeface="Aria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56" name="Google Shape;256;g2b43d7599d0_4_28"/>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b3ccc60d3d_1_34"/>
          <p:cNvSpPr txBox="1"/>
          <p:nvPr/>
        </p:nvSpPr>
        <p:spPr>
          <a:xfrm>
            <a:off x="233674" y="2349949"/>
            <a:ext cx="11399400" cy="7080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Times New Roman"/>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descr="Google Shape;260;p17" id="262" name="Google Shape;262;g2b3ccc60d3d_1_34"/>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63" name="Google Shape;263;g2b3ccc60d3d_1_34"/>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1" i="0" sz="22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chemeClr val="dk1"/>
              </a:buClr>
              <a:buSzPts val="2200"/>
              <a:buFont typeface="Arial Rounded"/>
              <a:buNone/>
            </a:pPr>
            <a:r>
              <a:rPr b="0" i="0" lang="en-US" sz="14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1" i="0" sz="2200" u="none" cap="none" strike="noStrike">
              <a:solidFill>
                <a:srgbClr val="000000"/>
              </a:solidFill>
              <a:latin typeface="Arial Rounded"/>
              <a:ea typeface="Arial Rounded"/>
              <a:cs typeface="Arial Rounded"/>
              <a:sym typeface="Arial Rounded"/>
            </a:endParaRPr>
          </a:p>
        </p:txBody>
      </p:sp>
      <p:sp>
        <p:nvSpPr>
          <p:cNvPr id="264" name="Google Shape;264;g2b3ccc60d3d_1_34"/>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265" name="Google Shape;265;g2b3ccc60d3d_1_34"/>
          <p:cNvSpPr txBox="1"/>
          <p:nvPr/>
        </p:nvSpPr>
        <p:spPr>
          <a:xfrm>
            <a:off x="423275" y="1426275"/>
            <a:ext cx="10867800" cy="49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800">
                <a:solidFill>
                  <a:schemeClr val="dk1"/>
                </a:solidFill>
                <a:latin typeface="Times New Roman"/>
                <a:ea typeface="Times New Roman"/>
                <a:cs typeface="Times New Roman"/>
                <a:sym typeface="Times New Roman"/>
              </a:rPr>
              <a:t>Status of phase-1 Paper publication</a:t>
            </a:r>
            <a:r>
              <a:rPr b="1" lang="en-US" sz="2800">
                <a:latin typeface="Times New Roman"/>
                <a:ea typeface="Times New Roman"/>
                <a:cs typeface="Times New Roman"/>
                <a:sym typeface="Times New Roman"/>
              </a:rPr>
              <a:t> :</a:t>
            </a:r>
            <a:endParaRPr b="1" sz="2800">
              <a:latin typeface="Times New Roman"/>
              <a:ea typeface="Times New Roman"/>
              <a:cs typeface="Times New Roman"/>
              <a:sym typeface="Times New Roman"/>
            </a:endParaRPr>
          </a:p>
          <a:p>
            <a:pPr indent="0" lvl="0" marL="0" rtl="0" algn="l">
              <a:spcBef>
                <a:spcPts val="0"/>
              </a:spcBef>
              <a:spcAft>
                <a:spcPts val="0"/>
              </a:spcAft>
              <a:buNone/>
            </a:pPr>
            <a:r>
              <a:t/>
            </a:r>
            <a:endParaRPr sz="2000">
              <a:latin typeface="Times New Roman"/>
              <a:ea typeface="Times New Roman"/>
              <a:cs typeface="Times New Roman"/>
              <a:sym typeface="Times New Roman"/>
            </a:endParaRPr>
          </a:p>
          <a:p>
            <a:pPr indent="0" lvl="0" marL="0" rtl="0" algn="l">
              <a:spcBef>
                <a:spcPts val="0"/>
              </a:spcBef>
              <a:spcAft>
                <a:spcPts val="0"/>
              </a:spcAft>
              <a:buNone/>
            </a:pPr>
            <a:r>
              <a:rPr lang="en-US" sz="2000">
                <a:latin typeface="Times New Roman"/>
                <a:ea typeface="Times New Roman"/>
                <a:cs typeface="Times New Roman"/>
                <a:sym typeface="Times New Roman"/>
              </a:rPr>
              <a:t>We have submitted a major project phase-1 review paper titled “</a:t>
            </a:r>
            <a:r>
              <a:rPr b="1" lang="en-US" sz="2000">
                <a:latin typeface="Times New Roman"/>
                <a:ea typeface="Times New Roman"/>
                <a:cs typeface="Times New Roman"/>
                <a:sym typeface="Times New Roman"/>
              </a:rPr>
              <a:t> </a:t>
            </a:r>
            <a:r>
              <a:rPr b="1" lang="en-US" sz="2000">
                <a:solidFill>
                  <a:srgbClr val="282828"/>
                </a:solidFill>
                <a:latin typeface="Times New Roman"/>
                <a:ea typeface="Times New Roman"/>
                <a:cs typeface="Times New Roman"/>
                <a:sym typeface="Times New Roman"/>
              </a:rPr>
              <a:t>A review on Automated Annotation System for Document Text Images</a:t>
            </a:r>
            <a:r>
              <a:rPr lang="en-US" sz="2000">
                <a:latin typeface="Times New Roman"/>
                <a:ea typeface="Times New Roman"/>
                <a:cs typeface="Times New Roman"/>
                <a:sym typeface="Times New Roman"/>
              </a:rPr>
              <a:t>” at the 2024 International Conference on Cognitive, Green, and Ubiquitous Computing (IC-CGU) and are currently awaiting the results.</a:t>
            </a:r>
            <a:endParaRPr sz="2000">
              <a:latin typeface="Times New Roman"/>
              <a:ea typeface="Times New Roman"/>
              <a:cs typeface="Times New Roman"/>
              <a:sym typeface="Times New Roman"/>
            </a:endParaRPr>
          </a:p>
          <a:p>
            <a:pPr indent="0" lvl="0" marL="0" rtl="0" algn="l">
              <a:spcBef>
                <a:spcPts val="0"/>
              </a:spcBef>
              <a:spcAft>
                <a:spcPts val="0"/>
              </a:spcAft>
              <a:buNone/>
            </a:pPr>
            <a:r>
              <a:t/>
            </a:r>
            <a:endParaRPr b="1" sz="28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1"/>
          <p:cNvSpPr txBox="1"/>
          <p:nvPr>
            <p:ph idx="4294967295" type="ctrTitle"/>
          </p:nvPr>
        </p:nvSpPr>
        <p:spPr>
          <a:xfrm>
            <a:off x="931103" y="1880745"/>
            <a:ext cx="10487219" cy="4977253"/>
          </a:xfrm>
          <a:prstGeom prst="rect">
            <a:avLst/>
          </a:prstGeom>
          <a:noFill/>
          <a:ln>
            <a:noFill/>
          </a:ln>
        </p:spPr>
        <p:txBody>
          <a:bodyPr anchorCtr="0" anchor="b" bIns="45675" lIns="45675" spcFirstLastPara="1" rIns="45675" wrap="square" tIns="45675">
            <a:normAutofit/>
          </a:bodyPr>
          <a:lstStyle/>
          <a:p>
            <a:pPr indent="0" lvl="0" marL="0" marR="0" rtl="0" algn="ctr">
              <a:lnSpc>
                <a:spcPct val="90000"/>
              </a:lnSpc>
              <a:spcBef>
                <a:spcPts val="0"/>
              </a:spcBef>
              <a:spcAft>
                <a:spcPts val="0"/>
              </a:spcAft>
              <a:buClr>
                <a:srgbClr val="000000"/>
              </a:buClr>
              <a:buSzPts val="4000"/>
              <a:buFont typeface="Arial Rounded"/>
              <a:buNone/>
            </a:pPr>
            <a:r>
              <a:rPr b="1" i="0" lang="en-US" sz="4000" u="none" cap="none" strike="noStrike">
                <a:solidFill>
                  <a:srgbClr val="000000"/>
                </a:solidFill>
                <a:latin typeface="Arial Rounded"/>
                <a:ea typeface="Arial Rounded"/>
                <a:cs typeface="Arial Rounded"/>
                <a:sym typeface="Arial Rounded"/>
              </a:rPr>
              <a:t>THANK YOU  &amp; QUERY</a:t>
            </a: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endParaRPr b="0" i="0" sz="4400" u="none" cap="none" strike="noStrike">
              <a:solidFill>
                <a:srgbClr val="000000"/>
              </a:solidFill>
              <a:latin typeface="Calibri"/>
              <a:ea typeface="Calibri"/>
              <a:cs typeface="Calibri"/>
              <a:sym typeface="Calibri"/>
            </a:endParaRPr>
          </a:p>
        </p:txBody>
      </p:sp>
      <p:pic>
        <p:nvPicPr>
          <p:cNvPr descr="Google Shape;270;p18" id="271" name="Google Shape;271;p21"/>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272" name="Google Shape;272;p21"/>
          <p:cNvSpPr txBox="1"/>
          <p:nvPr/>
        </p:nvSpPr>
        <p:spPr>
          <a:xfrm>
            <a:off x="1371061" y="-42661"/>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Rounded"/>
              <a:buNone/>
            </a:pPr>
            <a:r>
              <a:rPr b="0" i="0" lang="en-US" sz="14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Rounded"/>
                <a:ea typeface="Arial Rounded"/>
                <a:cs typeface="Arial Rounded"/>
                <a:sym typeface="Arial Rounded"/>
              </a:rPr>
              <a:t>MAJOR Project </a:t>
            </a:r>
            <a:r>
              <a:rPr b="1" lang="en-US" sz="2200">
                <a:solidFill>
                  <a:schemeClr val="dk1"/>
                </a:solidFill>
                <a:latin typeface="Arial Rounded"/>
                <a:ea typeface="Arial Rounded"/>
                <a:cs typeface="Arial Rounded"/>
                <a:sym typeface="Arial Rounded"/>
              </a:rPr>
              <a:t>Phase-II Review-1</a:t>
            </a:r>
            <a:endParaRPr b="1" i="0" sz="2200" u="none" cap="none" strike="noStrike">
              <a:solidFill>
                <a:srgbClr val="000000"/>
              </a:solidFill>
              <a:latin typeface="Arial Rounded"/>
              <a:ea typeface="Arial Rounded"/>
              <a:cs typeface="Arial Rounded"/>
              <a:sym typeface="Arial Rounded"/>
            </a:endParaRPr>
          </a:p>
        </p:txBody>
      </p:sp>
      <p:sp>
        <p:nvSpPr>
          <p:cNvPr id="273" name="Google Shape;273;p21"/>
          <p:cNvSpPr txBox="1"/>
          <p:nvPr>
            <p:ph idx="12" type="sldNum"/>
          </p:nvPr>
        </p:nvSpPr>
        <p:spPr>
          <a:xfrm>
            <a:off x="11095216" y="6414769"/>
            <a:ext cx="258584" cy="248266"/>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