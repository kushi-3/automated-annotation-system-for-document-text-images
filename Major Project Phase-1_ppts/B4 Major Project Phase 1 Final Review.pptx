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inmAXSXyK3LhcmtMsk5Gxikdz0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 name="Google Shape;5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 name="Google Shape;6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 name="Google Shape;7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 name="Google Shape;8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9ce8367354_2_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g29ce8367354_2_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9ce8367354_2_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9ce8367354_2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9ce8367354_0_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29ce8367354_0_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9ce8367354_2_3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g29ce8367354_2_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9ce8367354_2_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g29ce8367354_2_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9ce8367354_0_5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g29ce8367354_0_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9ce8367354_0_6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g29ce8367354_0_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9ce8367354_0_3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g29ce8367354_0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9ce8367354_0_3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g29ce8367354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 name="Google Shape;248;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1524000" y="1122362"/>
            <a:ext cx="9144000" cy="2387601"/>
          </a:xfrm>
          <a:prstGeom prst="rect">
            <a:avLst/>
          </a:prstGeom>
          <a:noFill/>
          <a:ln>
            <a:noFill/>
          </a:ln>
        </p:spPr>
        <p:txBody>
          <a:bodyPr spcFirstLastPara="1" wrap="square" lIns="45675" tIns="45675" rIns="45675" bIns="45675" anchor="b" anchorCtr="0">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1" name="Google Shape;11;p23"/>
          <p:cNvSpPr txBox="1">
            <a:spLocks noGrp="1"/>
          </p:cNvSpPr>
          <p:nvPr>
            <p:ph type="body" idx="1"/>
          </p:nvPr>
        </p:nvSpPr>
        <p:spPr>
          <a:xfrm>
            <a:off x="1524000" y="3602037"/>
            <a:ext cx="9144000" cy="1655763"/>
          </a:xfrm>
          <a:prstGeom prst="rect">
            <a:avLst/>
          </a:prstGeom>
          <a:noFill/>
          <a:ln>
            <a:noFill/>
          </a:ln>
        </p:spPr>
        <p:txBody>
          <a:bodyPr spcFirstLastPara="1" wrap="square" lIns="45675" tIns="45675" rIns="45675" bIns="45675" anchor="t" anchorCtr="0">
            <a:normAutofit/>
          </a:bodyPr>
          <a:lstStyle>
            <a:lvl1pPr marL="457200" lvl="0" indent="-228600" algn="ctr">
              <a:lnSpc>
                <a:spcPct val="90000"/>
              </a:lnSpc>
              <a:spcBef>
                <a:spcPts val="1000"/>
              </a:spcBef>
              <a:spcAft>
                <a:spcPts val="0"/>
              </a:spcAft>
              <a:buClr>
                <a:srgbClr val="000000"/>
              </a:buClr>
              <a:buSzPts val="2400"/>
              <a:buFont typeface="Calibri"/>
              <a:buNone/>
              <a:defRPr sz="2400"/>
            </a:lvl1pPr>
            <a:lvl2pPr marL="914400" lvl="1" indent="-228600" algn="ctr">
              <a:lnSpc>
                <a:spcPct val="90000"/>
              </a:lnSpc>
              <a:spcBef>
                <a:spcPts val="1000"/>
              </a:spcBef>
              <a:spcAft>
                <a:spcPts val="0"/>
              </a:spcAft>
              <a:buClr>
                <a:srgbClr val="000000"/>
              </a:buClr>
              <a:buSzPts val="2400"/>
              <a:buFont typeface="Calibri"/>
              <a:buNone/>
              <a:defRPr sz="2400"/>
            </a:lvl2pPr>
            <a:lvl3pPr marL="1371600" lvl="2" indent="-228600" algn="ctr">
              <a:lnSpc>
                <a:spcPct val="90000"/>
              </a:lnSpc>
              <a:spcBef>
                <a:spcPts val="1000"/>
              </a:spcBef>
              <a:spcAft>
                <a:spcPts val="0"/>
              </a:spcAft>
              <a:buClr>
                <a:srgbClr val="000000"/>
              </a:buClr>
              <a:buSzPts val="2400"/>
              <a:buFont typeface="Calibri"/>
              <a:buNone/>
              <a:defRPr sz="2400"/>
            </a:lvl3pPr>
            <a:lvl4pPr marL="1828800" lvl="3" indent="-228600" algn="ctr">
              <a:lnSpc>
                <a:spcPct val="90000"/>
              </a:lnSpc>
              <a:spcBef>
                <a:spcPts val="1000"/>
              </a:spcBef>
              <a:spcAft>
                <a:spcPts val="0"/>
              </a:spcAft>
              <a:buClr>
                <a:srgbClr val="000000"/>
              </a:buClr>
              <a:buSzPts val="2400"/>
              <a:buFont typeface="Calibri"/>
              <a:buNone/>
              <a:defRPr sz="2400"/>
            </a:lvl4pPr>
            <a:lvl5pPr marL="2286000" lvl="4" indent="-228600" algn="ctr">
              <a:lnSpc>
                <a:spcPct val="90000"/>
              </a:lnSpc>
              <a:spcBef>
                <a:spcPts val="1000"/>
              </a:spcBef>
              <a:spcAft>
                <a:spcPts val="0"/>
              </a:spcAft>
              <a:buClr>
                <a:srgbClr val="000000"/>
              </a:buClr>
              <a:buSzPts val="2400"/>
              <a:buFont typeface="Calibri"/>
              <a:buNone/>
              <a:defRPr sz="2400"/>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12" name="Google Shape;12;p23"/>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tx">
  <p:cSld name="TITLE_AND_BODY">
    <p:spTree>
      <p:nvGrpSpPr>
        <p:cNvPr id="1" name="Shape 13"/>
        <p:cNvGrpSpPr/>
        <p:nvPr/>
      </p:nvGrpSpPr>
      <p:grpSpPr>
        <a:xfrm>
          <a:off x="0" y="0"/>
          <a:ext cx="0" cy="0"/>
          <a:chOff x="0" y="0"/>
          <a:chExt cx="0" cy="0"/>
        </a:xfrm>
      </p:grpSpPr>
      <p:sp>
        <p:nvSpPr>
          <p:cNvPr id="14" name="Google Shape;14;p24"/>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7"/>
            <a:ext cx="10515600"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7" name="Google Shape;17;p25"/>
          <p:cNvSpPr txBox="1">
            <a:spLocks noGrp="1"/>
          </p:cNvSpPr>
          <p:nvPr>
            <p:ph type="body" idx="1"/>
          </p:nvPr>
        </p:nvSpPr>
        <p:spPr>
          <a:xfrm>
            <a:off x="838200" y="1825625"/>
            <a:ext cx="5181600" cy="435133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18" name="Google Shape;18;p25"/>
          <p:cNvSpPr txBox="1">
            <a:spLocks noGrp="1"/>
          </p:cNvSpPr>
          <p:nvPr>
            <p:ph type="body" idx="2"/>
          </p:nvPr>
        </p:nvSpPr>
        <p:spPr>
          <a:xfrm>
            <a:off x="6172200" y="1825625"/>
            <a:ext cx="5181600" cy="435133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19" name="Google Shape;19;p25"/>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20"/>
        <p:cNvGrpSpPr/>
        <p:nvPr/>
      </p:nvGrpSpPr>
      <p:grpSpPr>
        <a:xfrm>
          <a:off x="0" y="0"/>
          <a:ext cx="0" cy="0"/>
          <a:chOff x="0" y="0"/>
          <a:chExt cx="0" cy="0"/>
        </a:xfrm>
      </p:grpSpPr>
      <p:sp>
        <p:nvSpPr>
          <p:cNvPr id="21" name="Google Shape;21;p26"/>
          <p:cNvSpPr txBox="1">
            <a:spLocks noGrp="1"/>
          </p:cNvSpPr>
          <p:nvPr>
            <p:ph type="title"/>
          </p:nvPr>
        </p:nvSpPr>
        <p:spPr>
          <a:xfrm>
            <a:off x="838200" y="365127"/>
            <a:ext cx="10515600"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2" name="Google Shape;22;p26"/>
          <p:cNvSpPr txBox="1">
            <a:spLocks noGrp="1"/>
          </p:cNvSpPr>
          <p:nvPr>
            <p:ph type="body" idx="1"/>
          </p:nvPr>
        </p:nvSpPr>
        <p:spPr>
          <a:xfrm>
            <a:off x="838200" y="1825625"/>
            <a:ext cx="10515600" cy="435133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23" name="Google Shape;23;p26"/>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24"/>
        <p:cNvGrpSpPr/>
        <p:nvPr/>
      </p:nvGrpSpPr>
      <p:grpSpPr>
        <a:xfrm>
          <a:off x="0" y="0"/>
          <a:ext cx="0" cy="0"/>
          <a:chOff x="0" y="0"/>
          <a:chExt cx="0" cy="0"/>
        </a:xfrm>
      </p:grpSpPr>
      <p:sp>
        <p:nvSpPr>
          <p:cNvPr id="25" name="Google Shape;25;p27"/>
          <p:cNvSpPr txBox="1">
            <a:spLocks noGrp="1"/>
          </p:cNvSpPr>
          <p:nvPr>
            <p:ph type="title"/>
          </p:nvPr>
        </p:nvSpPr>
        <p:spPr>
          <a:xfrm>
            <a:off x="831850" y="1709740"/>
            <a:ext cx="10515601" cy="2852737"/>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6" name="Google Shape;26;p27"/>
          <p:cNvSpPr txBox="1">
            <a:spLocks noGrp="1"/>
          </p:cNvSpPr>
          <p:nvPr>
            <p:ph type="body" idx="1"/>
          </p:nvPr>
        </p:nvSpPr>
        <p:spPr>
          <a:xfrm>
            <a:off x="831850" y="4589464"/>
            <a:ext cx="10515601" cy="1500188"/>
          </a:xfrm>
          <a:prstGeom prst="rect">
            <a:avLst/>
          </a:prstGeom>
          <a:noFill/>
          <a:ln>
            <a:noFill/>
          </a:ln>
        </p:spPr>
        <p:txBody>
          <a:bodyPr spcFirstLastPara="1" wrap="square" lIns="45675" tIns="45675" rIns="45675" bIns="45675" anchor="t" anchorCtr="0">
            <a:normAutofit/>
          </a:bodyPr>
          <a:lstStyle>
            <a:lvl1pPr marL="457200" lvl="0" indent="-228600" algn="l">
              <a:lnSpc>
                <a:spcPct val="90000"/>
              </a:lnSpc>
              <a:spcBef>
                <a:spcPts val="1000"/>
              </a:spcBef>
              <a:spcAft>
                <a:spcPts val="0"/>
              </a:spcAft>
              <a:buClr>
                <a:srgbClr val="888888"/>
              </a:buClr>
              <a:buSzPts val="2400"/>
              <a:buFont typeface="Calibri"/>
              <a:buNone/>
              <a:defRPr sz="2400">
                <a:solidFill>
                  <a:srgbClr val="888888"/>
                </a:solidFill>
              </a:defRPr>
            </a:lvl1pPr>
            <a:lvl2pPr marL="914400" lvl="1" indent="-228600" algn="l">
              <a:lnSpc>
                <a:spcPct val="90000"/>
              </a:lnSpc>
              <a:spcBef>
                <a:spcPts val="1000"/>
              </a:spcBef>
              <a:spcAft>
                <a:spcPts val="0"/>
              </a:spcAft>
              <a:buClr>
                <a:srgbClr val="888888"/>
              </a:buClr>
              <a:buSzPts val="2400"/>
              <a:buFont typeface="Calibri"/>
              <a:buNone/>
              <a:defRPr sz="2400">
                <a:solidFill>
                  <a:srgbClr val="888888"/>
                </a:solidFill>
              </a:defRPr>
            </a:lvl2pPr>
            <a:lvl3pPr marL="1371600" lvl="2" indent="-228600" algn="l">
              <a:lnSpc>
                <a:spcPct val="90000"/>
              </a:lnSpc>
              <a:spcBef>
                <a:spcPts val="1000"/>
              </a:spcBef>
              <a:spcAft>
                <a:spcPts val="0"/>
              </a:spcAft>
              <a:buClr>
                <a:srgbClr val="888888"/>
              </a:buClr>
              <a:buSzPts val="2400"/>
              <a:buFont typeface="Calibri"/>
              <a:buNone/>
              <a:defRPr sz="2400">
                <a:solidFill>
                  <a:srgbClr val="888888"/>
                </a:solidFill>
              </a:defRPr>
            </a:lvl3pPr>
            <a:lvl4pPr marL="1828800" lvl="3" indent="-228600" algn="l">
              <a:lnSpc>
                <a:spcPct val="90000"/>
              </a:lnSpc>
              <a:spcBef>
                <a:spcPts val="1000"/>
              </a:spcBef>
              <a:spcAft>
                <a:spcPts val="0"/>
              </a:spcAft>
              <a:buClr>
                <a:srgbClr val="888888"/>
              </a:buClr>
              <a:buSzPts val="2400"/>
              <a:buFont typeface="Calibri"/>
              <a:buNone/>
              <a:defRPr sz="2400">
                <a:solidFill>
                  <a:srgbClr val="888888"/>
                </a:solidFill>
              </a:defRPr>
            </a:lvl4pPr>
            <a:lvl5pPr marL="2286000" lvl="4" indent="-228600" algn="l">
              <a:lnSpc>
                <a:spcPct val="90000"/>
              </a:lnSpc>
              <a:spcBef>
                <a:spcPts val="1000"/>
              </a:spcBef>
              <a:spcAft>
                <a:spcPts val="0"/>
              </a:spcAft>
              <a:buClr>
                <a:srgbClr val="888888"/>
              </a:buClr>
              <a:buSzPts val="2400"/>
              <a:buFont typeface="Calibri"/>
              <a:buNone/>
              <a:defRPr sz="2400">
                <a:solidFill>
                  <a:srgbClr val="888888"/>
                </a:solidFill>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27" name="Google Shape;27;p27"/>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28"/>
        <p:cNvGrpSpPr/>
        <p:nvPr/>
      </p:nvGrpSpPr>
      <p:grpSpPr>
        <a:xfrm>
          <a:off x="0" y="0"/>
          <a:ext cx="0" cy="0"/>
          <a:chOff x="0" y="0"/>
          <a:chExt cx="0" cy="0"/>
        </a:xfrm>
      </p:grpSpPr>
      <p:sp>
        <p:nvSpPr>
          <p:cNvPr id="29" name="Google Shape;29;p28"/>
          <p:cNvSpPr txBox="1">
            <a:spLocks noGrp="1"/>
          </p:cNvSpPr>
          <p:nvPr>
            <p:ph type="title"/>
          </p:nvPr>
        </p:nvSpPr>
        <p:spPr>
          <a:xfrm>
            <a:off x="839787" y="365127"/>
            <a:ext cx="10515601"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0" name="Google Shape;30;p28"/>
          <p:cNvSpPr txBox="1">
            <a:spLocks noGrp="1"/>
          </p:cNvSpPr>
          <p:nvPr>
            <p:ph type="body" idx="1"/>
          </p:nvPr>
        </p:nvSpPr>
        <p:spPr>
          <a:xfrm>
            <a:off x="839788" y="1681163"/>
            <a:ext cx="5157789" cy="823913"/>
          </a:xfrm>
          <a:prstGeom prst="rect">
            <a:avLst/>
          </a:prstGeom>
          <a:noFill/>
          <a:ln>
            <a:noFill/>
          </a:ln>
        </p:spPr>
        <p:txBody>
          <a:bodyPr spcFirstLastPara="1" wrap="square" lIns="45675" tIns="45675" rIns="45675" bIns="45675" anchor="b" anchorCtr="0">
            <a:normAutofit/>
          </a:bodyPr>
          <a:lstStyle>
            <a:lvl1pPr marL="457200" lvl="0" indent="-228600" algn="l">
              <a:lnSpc>
                <a:spcPct val="90000"/>
              </a:lnSpc>
              <a:spcBef>
                <a:spcPts val="1000"/>
              </a:spcBef>
              <a:spcAft>
                <a:spcPts val="0"/>
              </a:spcAft>
              <a:buClr>
                <a:srgbClr val="000000"/>
              </a:buClr>
              <a:buSzPts val="2400"/>
              <a:buFont typeface="Calibri"/>
              <a:buNone/>
              <a:defRPr sz="2400" b="1"/>
            </a:lvl1pPr>
            <a:lvl2pPr marL="914400" lvl="1" indent="-228600" algn="l">
              <a:lnSpc>
                <a:spcPct val="90000"/>
              </a:lnSpc>
              <a:spcBef>
                <a:spcPts val="1000"/>
              </a:spcBef>
              <a:spcAft>
                <a:spcPts val="0"/>
              </a:spcAft>
              <a:buClr>
                <a:srgbClr val="000000"/>
              </a:buClr>
              <a:buSzPts val="2400"/>
              <a:buFont typeface="Calibri"/>
              <a:buNone/>
              <a:defRPr sz="2400" b="1"/>
            </a:lvl2pPr>
            <a:lvl3pPr marL="1371600" lvl="2" indent="-228600" algn="l">
              <a:lnSpc>
                <a:spcPct val="90000"/>
              </a:lnSpc>
              <a:spcBef>
                <a:spcPts val="1000"/>
              </a:spcBef>
              <a:spcAft>
                <a:spcPts val="0"/>
              </a:spcAft>
              <a:buClr>
                <a:srgbClr val="000000"/>
              </a:buClr>
              <a:buSzPts val="2400"/>
              <a:buFont typeface="Calibri"/>
              <a:buNone/>
              <a:defRPr sz="2400" b="1"/>
            </a:lvl3pPr>
            <a:lvl4pPr marL="1828800" lvl="3" indent="-228600" algn="l">
              <a:lnSpc>
                <a:spcPct val="90000"/>
              </a:lnSpc>
              <a:spcBef>
                <a:spcPts val="1000"/>
              </a:spcBef>
              <a:spcAft>
                <a:spcPts val="0"/>
              </a:spcAft>
              <a:buClr>
                <a:srgbClr val="000000"/>
              </a:buClr>
              <a:buSzPts val="2400"/>
              <a:buFont typeface="Calibri"/>
              <a:buNone/>
              <a:defRPr sz="2400" b="1"/>
            </a:lvl4pPr>
            <a:lvl5pPr marL="2286000" lvl="4" indent="-228600" algn="l">
              <a:lnSpc>
                <a:spcPct val="90000"/>
              </a:lnSpc>
              <a:spcBef>
                <a:spcPts val="1000"/>
              </a:spcBef>
              <a:spcAft>
                <a:spcPts val="0"/>
              </a:spcAft>
              <a:buClr>
                <a:srgbClr val="000000"/>
              </a:buClr>
              <a:buSzPts val="2400"/>
              <a:buFont typeface="Calibri"/>
              <a:buNone/>
              <a:defRPr sz="2400" b="1"/>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31" name="Google Shape;31;p28"/>
          <p:cNvSpPr txBox="1">
            <a:spLocks noGrp="1"/>
          </p:cNvSpPr>
          <p:nvPr>
            <p:ph type="body" idx="2"/>
          </p:nvPr>
        </p:nvSpPr>
        <p:spPr>
          <a:xfrm>
            <a:off x="839788" y="2505075"/>
            <a:ext cx="5157789" cy="368458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32" name="Google Shape;32;p28"/>
          <p:cNvSpPr txBox="1">
            <a:spLocks noGrp="1"/>
          </p:cNvSpPr>
          <p:nvPr>
            <p:ph type="body" idx="3"/>
          </p:nvPr>
        </p:nvSpPr>
        <p:spPr>
          <a:xfrm>
            <a:off x="6172201" y="1681163"/>
            <a:ext cx="5183189" cy="823913"/>
          </a:xfrm>
          <a:prstGeom prst="rect">
            <a:avLst/>
          </a:prstGeom>
          <a:noFill/>
          <a:ln>
            <a:noFill/>
          </a:ln>
        </p:spPr>
        <p:txBody>
          <a:bodyPr spcFirstLastPara="1" wrap="square" lIns="45675" tIns="45675" rIns="45675" bIns="45675" anchor="b"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33" name="Google Shape;33;p28"/>
          <p:cNvSpPr txBox="1">
            <a:spLocks noGrp="1"/>
          </p:cNvSpPr>
          <p:nvPr>
            <p:ph type="body" idx="4"/>
          </p:nvPr>
        </p:nvSpPr>
        <p:spPr>
          <a:xfrm>
            <a:off x="6172201" y="2505075"/>
            <a:ext cx="5183189" cy="368458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34" name="Google Shape;34;p28"/>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35"/>
        <p:cNvGrpSpPr/>
        <p:nvPr/>
      </p:nvGrpSpPr>
      <p:grpSpPr>
        <a:xfrm>
          <a:off x="0" y="0"/>
          <a:ext cx="0" cy="0"/>
          <a:chOff x="0" y="0"/>
          <a:chExt cx="0" cy="0"/>
        </a:xfrm>
      </p:grpSpPr>
      <p:sp>
        <p:nvSpPr>
          <p:cNvPr id="36" name="Google Shape;36;p29"/>
          <p:cNvSpPr txBox="1">
            <a:spLocks noGrp="1"/>
          </p:cNvSpPr>
          <p:nvPr>
            <p:ph type="title"/>
          </p:nvPr>
        </p:nvSpPr>
        <p:spPr>
          <a:xfrm>
            <a:off x="838200" y="365127"/>
            <a:ext cx="10515600"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7" name="Google Shape;37;p29"/>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38"/>
        <p:cNvGrpSpPr/>
        <p:nvPr/>
      </p:nvGrpSpPr>
      <p:grpSpPr>
        <a:xfrm>
          <a:off x="0" y="0"/>
          <a:ext cx="0" cy="0"/>
          <a:chOff x="0" y="0"/>
          <a:chExt cx="0" cy="0"/>
        </a:xfrm>
      </p:grpSpPr>
      <p:sp>
        <p:nvSpPr>
          <p:cNvPr id="39" name="Google Shape;39;p30"/>
          <p:cNvSpPr txBox="1">
            <a:spLocks noGrp="1"/>
          </p:cNvSpPr>
          <p:nvPr>
            <p:ph type="title"/>
          </p:nvPr>
        </p:nvSpPr>
        <p:spPr>
          <a:xfrm>
            <a:off x="839787" y="457200"/>
            <a:ext cx="3932239" cy="1600200"/>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0" name="Google Shape;40;p30"/>
          <p:cNvSpPr txBox="1">
            <a:spLocks noGrp="1"/>
          </p:cNvSpPr>
          <p:nvPr>
            <p:ph type="body" idx="1"/>
          </p:nvPr>
        </p:nvSpPr>
        <p:spPr>
          <a:xfrm>
            <a:off x="5183187" y="987427"/>
            <a:ext cx="6172201" cy="4873626"/>
          </a:xfrm>
          <a:prstGeom prst="rect">
            <a:avLst/>
          </a:prstGeom>
          <a:noFill/>
          <a:ln>
            <a:noFill/>
          </a:ln>
        </p:spPr>
        <p:txBody>
          <a:bodyPr spcFirstLastPara="1" wrap="square" lIns="45675" tIns="45675" rIns="45675" bIns="45675" anchor="t" anchorCtr="0">
            <a:normAutofit/>
          </a:bodyPr>
          <a:lstStyle>
            <a:lvl1pPr marL="457200" lvl="0" indent="-431800" algn="l">
              <a:lnSpc>
                <a:spcPct val="90000"/>
              </a:lnSpc>
              <a:spcBef>
                <a:spcPts val="1000"/>
              </a:spcBef>
              <a:spcAft>
                <a:spcPts val="0"/>
              </a:spcAft>
              <a:buSzPts val="3200"/>
              <a:buChar char="•"/>
              <a:defRPr sz="3200"/>
            </a:lvl1pPr>
            <a:lvl2pPr marL="914400" lvl="1" indent="-431800" algn="l">
              <a:lnSpc>
                <a:spcPct val="90000"/>
              </a:lnSpc>
              <a:spcBef>
                <a:spcPts val="1000"/>
              </a:spcBef>
              <a:spcAft>
                <a:spcPts val="0"/>
              </a:spcAft>
              <a:buSzPts val="3200"/>
              <a:buChar char="•"/>
              <a:defRPr sz="3200"/>
            </a:lvl2pPr>
            <a:lvl3pPr marL="1371600" lvl="2" indent="-431800" algn="l">
              <a:lnSpc>
                <a:spcPct val="90000"/>
              </a:lnSpc>
              <a:spcBef>
                <a:spcPts val="1000"/>
              </a:spcBef>
              <a:spcAft>
                <a:spcPts val="0"/>
              </a:spcAft>
              <a:buSzPts val="3200"/>
              <a:buChar char="•"/>
              <a:defRPr sz="3200"/>
            </a:lvl3pPr>
            <a:lvl4pPr marL="1828800" lvl="3" indent="-431800" algn="l">
              <a:lnSpc>
                <a:spcPct val="90000"/>
              </a:lnSpc>
              <a:spcBef>
                <a:spcPts val="1000"/>
              </a:spcBef>
              <a:spcAft>
                <a:spcPts val="0"/>
              </a:spcAft>
              <a:buSzPts val="3200"/>
              <a:buChar char="•"/>
              <a:defRPr sz="3200"/>
            </a:lvl4pPr>
            <a:lvl5pPr marL="2286000" lvl="4" indent="-431800" algn="l">
              <a:lnSpc>
                <a:spcPct val="90000"/>
              </a:lnSpc>
              <a:spcBef>
                <a:spcPts val="1000"/>
              </a:spcBef>
              <a:spcAft>
                <a:spcPts val="0"/>
              </a:spcAft>
              <a:buSzPts val="3200"/>
              <a:buChar char="•"/>
              <a:defRPr sz="3200"/>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41" name="Google Shape;41;p30"/>
          <p:cNvSpPr txBox="1">
            <a:spLocks noGrp="1"/>
          </p:cNvSpPr>
          <p:nvPr>
            <p:ph type="body" idx="2"/>
          </p:nvPr>
        </p:nvSpPr>
        <p:spPr>
          <a:xfrm>
            <a:off x="839787" y="2057400"/>
            <a:ext cx="3932239" cy="381158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42" name="Google Shape;42;p30"/>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43"/>
        <p:cNvGrpSpPr/>
        <p:nvPr/>
      </p:nvGrpSpPr>
      <p:grpSpPr>
        <a:xfrm>
          <a:off x="0" y="0"/>
          <a:ext cx="0" cy="0"/>
          <a:chOff x="0" y="0"/>
          <a:chExt cx="0" cy="0"/>
        </a:xfrm>
      </p:grpSpPr>
      <p:sp>
        <p:nvSpPr>
          <p:cNvPr id="44" name="Google Shape;44;p31"/>
          <p:cNvSpPr txBox="1">
            <a:spLocks noGrp="1"/>
          </p:cNvSpPr>
          <p:nvPr>
            <p:ph type="title"/>
          </p:nvPr>
        </p:nvSpPr>
        <p:spPr>
          <a:xfrm>
            <a:off x="839787" y="457200"/>
            <a:ext cx="3932239" cy="1600200"/>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5" name="Google Shape;45;p31"/>
          <p:cNvSpPr>
            <a:spLocks noGrp="1"/>
          </p:cNvSpPr>
          <p:nvPr>
            <p:ph type="pic" idx="2"/>
          </p:nvPr>
        </p:nvSpPr>
        <p:spPr>
          <a:xfrm>
            <a:off x="5183187" y="987427"/>
            <a:ext cx="6172201" cy="4873626"/>
          </a:xfrm>
          <a:prstGeom prst="rect">
            <a:avLst/>
          </a:prstGeom>
          <a:noFill/>
          <a:ln>
            <a:noFill/>
          </a:ln>
        </p:spPr>
      </p:sp>
      <p:sp>
        <p:nvSpPr>
          <p:cNvPr id="46" name="Google Shape;46;p31"/>
          <p:cNvSpPr txBox="1">
            <a:spLocks noGrp="1"/>
          </p:cNvSpPr>
          <p:nvPr>
            <p:ph type="body" idx="1"/>
          </p:nvPr>
        </p:nvSpPr>
        <p:spPr>
          <a:xfrm>
            <a:off x="839787" y="2057400"/>
            <a:ext cx="3932239" cy="3811588"/>
          </a:xfrm>
          <a:prstGeom prst="rect">
            <a:avLst/>
          </a:prstGeom>
          <a:noFill/>
          <a:ln>
            <a:noFill/>
          </a:ln>
        </p:spPr>
        <p:txBody>
          <a:bodyPr spcFirstLastPara="1" wrap="square" lIns="45675" tIns="45675" rIns="45675" bIns="45675" anchor="t" anchorCtr="0">
            <a:normAutofit/>
          </a:bodyPr>
          <a:lstStyle>
            <a:lvl1pPr marL="457200" lvl="0" indent="-228600" algn="l">
              <a:lnSpc>
                <a:spcPct val="90000"/>
              </a:lnSpc>
              <a:spcBef>
                <a:spcPts val="1000"/>
              </a:spcBef>
              <a:spcAft>
                <a:spcPts val="0"/>
              </a:spcAft>
              <a:buClr>
                <a:srgbClr val="000000"/>
              </a:buClr>
              <a:buSzPts val="1600"/>
              <a:buFont typeface="Calibri"/>
              <a:buNone/>
              <a:defRPr sz="1600"/>
            </a:lvl1pPr>
            <a:lvl2pPr marL="914400" lvl="1" indent="-228600" algn="l">
              <a:lnSpc>
                <a:spcPct val="90000"/>
              </a:lnSpc>
              <a:spcBef>
                <a:spcPts val="1000"/>
              </a:spcBef>
              <a:spcAft>
                <a:spcPts val="0"/>
              </a:spcAft>
              <a:buClr>
                <a:srgbClr val="000000"/>
              </a:buClr>
              <a:buSzPts val="1600"/>
              <a:buFont typeface="Calibri"/>
              <a:buNone/>
              <a:defRPr sz="1600"/>
            </a:lvl2pPr>
            <a:lvl3pPr marL="1371600" lvl="2" indent="-228600" algn="l">
              <a:lnSpc>
                <a:spcPct val="90000"/>
              </a:lnSpc>
              <a:spcBef>
                <a:spcPts val="1000"/>
              </a:spcBef>
              <a:spcAft>
                <a:spcPts val="0"/>
              </a:spcAft>
              <a:buClr>
                <a:srgbClr val="000000"/>
              </a:buClr>
              <a:buSzPts val="1600"/>
              <a:buFont typeface="Calibri"/>
              <a:buNone/>
              <a:defRPr sz="1600"/>
            </a:lvl3pPr>
            <a:lvl4pPr marL="1828800" lvl="3" indent="-228600" algn="l">
              <a:lnSpc>
                <a:spcPct val="90000"/>
              </a:lnSpc>
              <a:spcBef>
                <a:spcPts val="1000"/>
              </a:spcBef>
              <a:spcAft>
                <a:spcPts val="0"/>
              </a:spcAft>
              <a:buClr>
                <a:srgbClr val="000000"/>
              </a:buClr>
              <a:buSzPts val="1600"/>
              <a:buFont typeface="Calibri"/>
              <a:buNone/>
              <a:defRPr sz="1600"/>
            </a:lvl4pPr>
            <a:lvl5pPr marL="2286000" lvl="4" indent="-228600" algn="l">
              <a:lnSpc>
                <a:spcPct val="90000"/>
              </a:lnSpc>
              <a:spcBef>
                <a:spcPts val="1000"/>
              </a:spcBef>
              <a:spcAft>
                <a:spcPts val="0"/>
              </a:spcAft>
              <a:buClr>
                <a:srgbClr val="000000"/>
              </a:buClr>
              <a:buSzPts val="1600"/>
              <a:buFont typeface="Calibri"/>
              <a:buNone/>
              <a:defRPr sz="1600"/>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47" name="Google Shape;47;p31"/>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48"/>
        <p:cNvGrpSpPr/>
        <p:nvPr/>
      </p:nvGrpSpPr>
      <p:grpSpPr>
        <a:xfrm>
          <a:off x="0" y="0"/>
          <a:ext cx="0" cy="0"/>
          <a:chOff x="0" y="0"/>
          <a:chExt cx="0" cy="0"/>
        </a:xfrm>
      </p:grpSpPr>
      <p:sp>
        <p:nvSpPr>
          <p:cNvPr id="49" name="Google Shape;49;p32"/>
          <p:cNvSpPr txBox="1">
            <a:spLocks noGrp="1"/>
          </p:cNvSpPr>
          <p:nvPr>
            <p:ph type="title"/>
          </p:nvPr>
        </p:nvSpPr>
        <p:spPr>
          <a:xfrm>
            <a:off x="838200" y="365127"/>
            <a:ext cx="10515600"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50" name="Google Shape;50;p32"/>
          <p:cNvSpPr txBox="1">
            <a:spLocks noGrp="1"/>
          </p:cNvSpPr>
          <p:nvPr>
            <p:ph type="body" idx="1"/>
          </p:nvPr>
        </p:nvSpPr>
        <p:spPr>
          <a:xfrm rot="5400000">
            <a:off x="3920330" y="-1256506"/>
            <a:ext cx="4351339" cy="10515601"/>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51" name="Google Shape;51;p32"/>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52"/>
        <p:cNvGrpSpPr/>
        <p:nvPr/>
      </p:nvGrpSpPr>
      <p:grpSpPr>
        <a:xfrm>
          <a:off x="0" y="0"/>
          <a:ext cx="0" cy="0"/>
          <a:chOff x="0" y="0"/>
          <a:chExt cx="0" cy="0"/>
        </a:xfrm>
      </p:grpSpPr>
      <p:sp>
        <p:nvSpPr>
          <p:cNvPr id="53" name="Google Shape;53;p33"/>
          <p:cNvSpPr txBox="1">
            <a:spLocks noGrp="1"/>
          </p:cNvSpPr>
          <p:nvPr>
            <p:ph type="title"/>
          </p:nvPr>
        </p:nvSpPr>
        <p:spPr>
          <a:xfrm rot="5400000">
            <a:off x="7133432" y="1956593"/>
            <a:ext cx="5811838" cy="2628901"/>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54" name="Google Shape;54;p33"/>
          <p:cNvSpPr txBox="1">
            <a:spLocks noGrp="1"/>
          </p:cNvSpPr>
          <p:nvPr>
            <p:ph type="body" idx="1"/>
          </p:nvPr>
        </p:nvSpPr>
        <p:spPr>
          <a:xfrm rot="5400000">
            <a:off x="1799432" y="-596107"/>
            <a:ext cx="5811838" cy="7734301"/>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55" name="Google Shape;55;p33"/>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838200" y="365127"/>
            <a:ext cx="10515600" cy="1325563"/>
          </a:xfrm>
          <a:prstGeom prst="rect">
            <a:avLst/>
          </a:prstGeom>
          <a:noFill/>
          <a:ln>
            <a:noFill/>
          </a:ln>
        </p:spPr>
        <p:txBody>
          <a:bodyPr spcFirstLastPara="1" wrap="square" lIns="45675" tIns="45675" rIns="45675" bIns="45675" anchor="ctr" anchorCtr="0">
            <a:normAutofit/>
          </a:bodyPr>
          <a:lstStyle>
            <a:lvl1pPr marR="0" lvl="0"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1pPr>
            <a:lvl2pPr marR="0" lvl="1"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9pPr>
          </a:lstStyle>
          <a:p>
            <a:endParaRPr/>
          </a:p>
        </p:txBody>
      </p:sp>
      <p:sp>
        <p:nvSpPr>
          <p:cNvPr id="7" name="Google Shape;7;p22"/>
          <p:cNvSpPr txBox="1">
            <a:spLocks noGrp="1"/>
          </p:cNvSpPr>
          <p:nvPr>
            <p:ph type="body" idx="1"/>
          </p:nvPr>
        </p:nvSpPr>
        <p:spPr>
          <a:xfrm>
            <a:off x="838200" y="1825625"/>
            <a:ext cx="10515600" cy="4351338"/>
          </a:xfrm>
          <a:prstGeom prst="rect">
            <a:avLst/>
          </a:prstGeom>
          <a:noFill/>
          <a:ln>
            <a:noFill/>
          </a:ln>
        </p:spPr>
        <p:txBody>
          <a:bodyPr spcFirstLastPara="1" wrap="square" lIns="45675" tIns="45675" rIns="45675" bIns="45675" anchor="t" anchorCtr="0">
            <a:normAutofit/>
          </a:bodyPr>
          <a:lstStyle>
            <a:lvl1pPr marL="457200" marR="0" lvl="0"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1pPr>
            <a:lvl2pPr marL="914400" marR="0" lvl="1"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2pPr>
            <a:lvl3pPr marL="1371600" marR="0" lvl="2"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3pPr>
            <a:lvl4pPr marL="1828800" marR="0" lvl="3"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4pPr>
            <a:lvl5pPr marL="2286000" marR="0" lvl="4"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5pPr>
            <a:lvl6pPr marL="2743200" marR="0" lvl="5"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6pPr>
            <a:lvl7pPr marL="3200400" marR="0" lvl="6"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7pPr>
            <a:lvl8pPr marL="3657600" marR="0" lvl="7"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8pPr>
            <a:lvl9pPr marL="4114800" marR="0" lvl="8"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9pPr>
          </a:lstStyle>
          <a:p>
            <a:endParaRPr/>
          </a:p>
        </p:txBody>
      </p:sp>
      <p:sp>
        <p:nvSpPr>
          <p:cNvPr id="8" name="Google Shape;8;p22"/>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8.jp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doi.org/10.1186/s13634-022-00883-2"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
          <p:cNvSpPr txBox="1">
            <a:spLocks noGrp="1"/>
          </p:cNvSpPr>
          <p:nvPr>
            <p:ph type="subTitle" idx="4294967295"/>
          </p:nvPr>
        </p:nvSpPr>
        <p:spPr>
          <a:xfrm>
            <a:off x="5328820" y="4191663"/>
            <a:ext cx="7336200" cy="2343301"/>
          </a:xfrm>
          <a:prstGeom prst="rect">
            <a:avLst/>
          </a:prstGeom>
          <a:noFill/>
          <a:ln>
            <a:noFill/>
          </a:ln>
        </p:spPr>
        <p:txBody>
          <a:bodyPr spcFirstLastPara="1" wrap="square" lIns="45675" tIns="45675" rIns="45675" bIns="45675" anchor="t" anchorCtr="0">
            <a:normAutofit/>
          </a:bodyPr>
          <a:lstStyle/>
          <a:p>
            <a:pPr marL="0" marR="0" lvl="1" indent="457200" algn="ctr" rtl="0">
              <a:lnSpc>
                <a:spcPct val="72000"/>
              </a:lnSpc>
              <a:spcBef>
                <a:spcPts val="0"/>
              </a:spcBef>
              <a:spcAft>
                <a:spcPts val="0"/>
              </a:spcAft>
              <a:buClr>
                <a:srgbClr val="000000"/>
              </a:buClr>
              <a:buSzPts val="500"/>
              <a:buFont typeface="Arial"/>
              <a:buNone/>
            </a:pPr>
            <a:endParaRPr sz="500" b="0" i="0" u="none" strike="noStrike" cap="none">
              <a:solidFill>
                <a:srgbClr val="000000"/>
              </a:solidFill>
              <a:latin typeface="Calibri"/>
              <a:ea typeface="Calibri"/>
              <a:cs typeface="Calibri"/>
              <a:sym typeface="Calibri"/>
            </a:endParaRPr>
          </a:p>
          <a:p>
            <a:pPr marL="0" marR="0" lvl="1" indent="457200" algn="just" rtl="0">
              <a:lnSpc>
                <a:spcPct val="100000"/>
              </a:lnSpc>
              <a:spcBef>
                <a:spcPts val="50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	</a:t>
            </a:r>
            <a:r>
              <a:rPr lang="en-US" sz="500" b="0" i="0" u="none" strike="noStrike" cap="none">
                <a:solidFill>
                  <a:srgbClr val="000000"/>
                </a:solidFill>
                <a:latin typeface="Times New Roman"/>
                <a:ea typeface="Times New Roman"/>
                <a:cs typeface="Times New Roman"/>
                <a:sym typeface="Times New Roman"/>
              </a:rPr>
              <a:t>       </a:t>
            </a:r>
            <a:r>
              <a:rPr lang="en-US" sz="2500" b="0" i="0" u="none" strike="noStrike" cap="none">
                <a:solidFill>
                  <a:srgbClr val="000000"/>
                </a:solidFill>
                <a:latin typeface="Times New Roman"/>
                <a:ea typeface="Times New Roman"/>
                <a:cs typeface="Times New Roman"/>
                <a:sym typeface="Times New Roman"/>
              </a:rPr>
              <a:t>Jhansi Lakshmi -     20241A0566</a:t>
            </a:r>
            <a:endParaRPr sz="10000" b="0" i="0" u="none" strike="noStrike" cap="none">
              <a:solidFill>
                <a:srgbClr val="000000"/>
              </a:solidFill>
              <a:latin typeface="Times New Roman"/>
              <a:ea typeface="Times New Roman"/>
              <a:cs typeface="Times New Roman"/>
              <a:sym typeface="Times New Roman"/>
            </a:endParaRPr>
          </a:p>
          <a:p>
            <a:pPr marL="0" marR="0" lvl="2" indent="914400" algn="just" rtl="0">
              <a:lnSpc>
                <a:spcPct val="100000"/>
              </a:lnSpc>
              <a:spcBef>
                <a:spcPts val="500"/>
              </a:spcBef>
              <a:spcAft>
                <a:spcPts val="0"/>
              </a:spcAft>
              <a:buClr>
                <a:srgbClr val="000000"/>
              </a:buClr>
              <a:buSzPts val="2500"/>
              <a:buFont typeface="Arial"/>
              <a:buNone/>
            </a:pPr>
            <a:r>
              <a:rPr lang="en-US" sz="2500" b="0" i="0" u="none" strike="noStrike" cap="none">
                <a:solidFill>
                  <a:srgbClr val="000000"/>
                </a:solidFill>
                <a:latin typeface="Times New Roman"/>
                <a:ea typeface="Times New Roman"/>
                <a:cs typeface="Times New Roman"/>
                <a:sym typeface="Times New Roman"/>
              </a:rPr>
              <a:t> B. Srija -                  20241A0564</a:t>
            </a:r>
            <a:endParaRPr sz="10000" b="0" i="0" u="none" strike="noStrike" cap="none">
              <a:solidFill>
                <a:srgbClr val="000000"/>
              </a:solidFill>
              <a:latin typeface="Calibri"/>
              <a:ea typeface="Calibri"/>
              <a:cs typeface="Calibri"/>
              <a:sym typeface="Calibri"/>
            </a:endParaRPr>
          </a:p>
          <a:p>
            <a:pPr marL="0" marR="0" lvl="2" indent="914400" algn="just" rtl="0">
              <a:lnSpc>
                <a:spcPct val="100000"/>
              </a:lnSpc>
              <a:spcBef>
                <a:spcPts val="500"/>
              </a:spcBef>
              <a:spcAft>
                <a:spcPts val="0"/>
              </a:spcAft>
              <a:buClr>
                <a:srgbClr val="000000"/>
              </a:buClr>
              <a:buSzPts val="2500"/>
              <a:buFont typeface="Arial"/>
              <a:buNone/>
            </a:pPr>
            <a:r>
              <a:rPr lang="en-US" sz="2500" b="0" i="0" u="none" strike="noStrike" cap="none">
                <a:solidFill>
                  <a:srgbClr val="000000"/>
                </a:solidFill>
                <a:latin typeface="Times New Roman"/>
                <a:ea typeface="Times New Roman"/>
                <a:cs typeface="Times New Roman"/>
                <a:sym typeface="Times New Roman"/>
              </a:rPr>
              <a:t> Maria Jabeen -         20241A0593</a:t>
            </a:r>
            <a:endParaRPr sz="10000" b="0" i="0" u="none" strike="noStrike" cap="none">
              <a:solidFill>
                <a:srgbClr val="000000"/>
              </a:solidFill>
              <a:latin typeface="Calibri"/>
              <a:ea typeface="Calibri"/>
              <a:cs typeface="Calibri"/>
              <a:sym typeface="Calibri"/>
            </a:endParaRPr>
          </a:p>
          <a:p>
            <a:pPr marL="0" marR="0" lvl="2" indent="914400" algn="just" rtl="0">
              <a:lnSpc>
                <a:spcPct val="100000"/>
              </a:lnSpc>
              <a:spcBef>
                <a:spcPts val="500"/>
              </a:spcBef>
              <a:spcAft>
                <a:spcPts val="0"/>
              </a:spcAft>
              <a:buClr>
                <a:srgbClr val="000000"/>
              </a:buClr>
              <a:buSzPts val="2500"/>
              <a:buFont typeface="Arial"/>
              <a:buNone/>
            </a:pPr>
            <a:r>
              <a:rPr lang="en-US" sz="2500" b="0" i="0" u="none" strike="noStrike" cap="none">
                <a:solidFill>
                  <a:srgbClr val="000000"/>
                </a:solidFill>
                <a:latin typeface="Times New Roman"/>
                <a:ea typeface="Times New Roman"/>
                <a:cs typeface="Times New Roman"/>
                <a:sym typeface="Times New Roman"/>
              </a:rPr>
              <a:t> K. Kushi Reddy -     20241A0583</a:t>
            </a:r>
            <a:endParaRPr sz="2800" b="0" i="0" u="none" strike="noStrike" cap="none">
              <a:solidFill>
                <a:srgbClr val="000000"/>
              </a:solidFill>
              <a:latin typeface="Calibri"/>
              <a:ea typeface="Calibri"/>
              <a:cs typeface="Calibri"/>
              <a:sym typeface="Calibri"/>
            </a:endParaRPr>
          </a:p>
        </p:txBody>
      </p:sp>
      <p:pic>
        <p:nvPicPr>
          <p:cNvPr id="61" name="Google Shape;61;p1" descr="Google Shape;89;p1"/>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62" name="Google Shape;62;p1"/>
          <p:cNvSpPr txBox="1"/>
          <p:nvPr/>
        </p:nvSpPr>
        <p:spPr>
          <a:xfrm>
            <a:off x="1331800" y="102225"/>
            <a:ext cx="10659000" cy="14469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63" name="Google Shape;63;p1"/>
          <p:cNvSpPr txBox="1">
            <a:spLocks noGrp="1"/>
          </p:cNvSpPr>
          <p:nvPr>
            <p:ph type="sldNum" idx="12"/>
          </p:nvPr>
        </p:nvSpPr>
        <p:spPr>
          <a:xfrm>
            <a:off x="11172458" y="6414769"/>
            <a:ext cx="181343"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a:t>
            </a:fld>
            <a:endParaRPr/>
          </a:p>
        </p:txBody>
      </p:sp>
      <p:sp>
        <p:nvSpPr>
          <p:cNvPr id="64" name="Google Shape;64;p1"/>
          <p:cNvSpPr txBox="1">
            <a:spLocks noGrp="1"/>
          </p:cNvSpPr>
          <p:nvPr>
            <p:ph type="ctrTitle" idx="4294967295"/>
          </p:nvPr>
        </p:nvSpPr>
        <p:spPr>
          <a:xfrm>
            <a:off x="838199" y="1038828"/>
            <a:ext cx="10069500" cy="2387700"/>
          </a:xfrm>
          <a:prstGeom prst="rect">
            <a:avLst/>
          </a:prstGeom>
          <a:noFill/>
          <a:ln>
            <a:noFill/>
          </a:ln>
        </p:spPr>
        <p:txBody>
          <a:bodyPr spcFirstLastPara="1" wrap="square" lIns="45675" tIns="45675" rIns="45675" bIns="45675" anchor="b" anchorCtr="0">
            <a:normAutofit/>
          </a:bodyPr>
          <a:lstStyle/>
          <a:p>
            <a:pPr marL="0" marR="0" lvl="0" indent="0" algn="ctr" rtl="0">
              <a:lnSpc>
                <a:spcPct val="90000"/>
              </a:lnSpc>
              <a:spcBef>
                <a:spcPts val="0"/>
              </a:spcBef>
              <a:spcAft>
                <a:spcPts val="0"/>
              </a:spcAft>
              <a:buClr>
                <a:srgbClr val="000000"/>
              </a:buClr>
              <a:buSzPts val="5400"/>
              <a:buFont typeface="Times New Roman"/>
              <a:buNone/>
            </a:pPr>
            <a:r>
              <a:rPr lang="en-US" sz="5400" b="0" i="0" u="none" strike="noStrike" cap="none">
                <a:solidFill>
                  <a:srgbClr val="000000"/>
                </a:solidFill>
                <a:latin typeface="Times New Roman"/>
                <a:ea typeface="Times New Roman"/>
                <a:cs typeface="Times New Roman"/>
                <a:sym typeface="Times New Roman"/>
              </a:rPr>
              <a:t>An Automated Annotation System for Document Text Images</a:t>
            </a:r>
            <a:endParaRPr sz="4400" b="0" i="0" u="none" strike="noStrike" cap="none">
              <a:solidFill>
                <a:srgbClr val="000000"/>
              </a:solidFill>
              <a:latin typeface="Calibri"/>
              <a:ea typeface="Calibri"/>
              <a:cs typeface="Calibri"/>
              <a:sym typeface="Calibri"/>
            </a:endParaRPr>
          </a:p>
        </p:txBody>
      </p:sp>
      <p:sp>
        <p:nvSpPr>
          <p:cNvPr id="65" name="Google Shape;65;p1"/>
          <p:cNvSpPr txBox="1"/>
          <p:nvPr/>
        </p:nvSpPr>
        <p:spPr>
          <a:xfrm>
            <a:off x="3533324" y="3426525"/>
            <a:ext cx="5546100" cy="4617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000"/>
              <a:buFont typeface="Times New Roman"/>
              <a:buNone/>
            </a:pPr>
            <a:r>
              <a:rPr lang="en-US" sz="2300" b="0" i="0" u="none" strike="noStrike" cap="none">
                <a:solidFill>
                  <a:srgbClr val="000000"/>
                </a:solidFill>
                <a:latin typeface="Times New Roman"/>
                <a:ea typeface="Times New Roman"/>
                <a:cs typeface="Times New Roman"/>
                <a:sym typeface="Times New Roman"/>
              </a:rPr>
              <a:t>~Dr. Ashlin </a:t>
            </a:r>
            <a:r>
              <a:rPr lang="en-US" sz="2400" b="0" i="0" u="none" strike="noStrike" cap="none">
                <a:solidFill>
                  <a:srgbClr val="000000"/>
                </a:solidFill>
                <a:latin typeface="Times New Roman"/>
                <a:ea typeface="Times New Roman"/>
                <a:cs typeface="Times New Roman"/>
                <a:sym typeface="Times New Roman"/>
              </a:rPr>
              <a:t>Deepa</a:t>
            </a:r>
            <a:r>
              <a:rPr lang="en-US" sz="2300" b="0" i="0" u="none" strike="noStrike" cap="none">
                <a:solidFill>
                  <a:srgbClr val="000000"/>
                </a:solidFill>
                <a:latin typeface="Times New Roman"/>
                <a:ea typeface="Times New Roman"/>
                <a:cs typeface="Times New Roman"/>
                <a:sym typeface="Times New Roman"/>
              </a:rPr>
              <a:t> R N, Associate Professor </a:t>
            </a:r>
            <a:endParaRPr sz="23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2"/>
          <p:cNvSpPr txBox="1">
            <a:spLocks noGrp="1"/>
          </p:cNvSpPr>
          <p:nvPr>
            <p:ph type="ctrTitle" idx="4294967295"/>
          </p:nvPr>
        </p:nvSpPr>
        <p:spPr>
          <a:xfrm>
            <a:off x="568550" y="1367988"/>
            <a:ext cx="10099500" cy="550801"/>
          </a:xfrm>
          <a:prstGeom prst="rect">
            <a:avLst/>
          </a:prstGeom>
          <a:noFill/>
          <a:ln>
            <a:noFill/>
          </a:ln>
        </p:spPr>
        <p:txBody>
          <a:bodyPr spcFirstLastPara="1" wrap="square" lIns="45675" tIns="45675" rIns="45675" bIns="45675" anchor="b" anchorCtr="0">
            <a:normAutofit/>
          </a:bodyPr>
          <a:lstStyle/>
          <a:p>
            <a:pPr marL="0" marR="0" lvl="0" indent="0" algn="l" rtl="0">
              <a:lnSpc>
                <a:spcPct val="9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Abstract:</a:t>
            </a:r>
            <a:endParaRPr sz="2800" b="0" i="0" u="none" strike="noStrike" cap="none">
              <a:solidFill>
                <a:srgbClr val="000000"/>
              </a:solidFill>
              <a:latin typeface="Calibri"/>
              <a:ea typeface="Calibri"/>
              <a:cs typeface="Calibri"/>
              <a:sym typeface="Calibri"/>
            </a:endParaRPr>
          </a:p>
        </p:txBody>
      </p:sp>
      <p:sp>
        <p:nvSpPr>
          <p:cNvPr id="71" name="Google Shape;71;p2"/>
          <p:cNvSpPr txBox="1">
            <a:spLocks noGrp="1"/>
          </p:cNvSpPr>
          <p:nvPr>
            <p:ph type="subTitle" idx="4294967295"/>
          </p:nvPr>
        </p:nvSpPr>
        <p:spPr>
          <a:xfrm>
            <a:off x="444174" y="2007649"/>
            <a:ext cx="11335202" cy="4548301"/>
          </a:xfrm>
          <a:prstGeom prst="rect">
            <a:avLst/>
          </a:prstGeom>
          <a:noFill/>
          <a:ln>
            <a:noFill/>
          </a:ln>
        </p:spPr>
        <p:txBody>
          <a:bodyPr spcFirstLastPara="1" wrap="square" lIns="45675" tIns="45675" rIns="45675" bIns="45675" anchor="t" anchorCtr="0">
            <a:normAutofit/>
          </a:bodyPr>
          <a:lstStyle/>
          <a:p>
            <a:pPr marL="0" marR="0" lvl="0" indent="0" algn="just" rtl="0">
              <a:lnSpc>
                <a:spcPct val="90000"/>
              </a:lnSpc>
              <a:spcBef>
                <a:spcPts val="0"/>
              </a:spcBef>
              <a:spcAft>
                <a:spcPts val="0"/>
              </a:spcAft>
              <a:buClr>
                <a:srgbClr val="000000"/>
              </a:buClr>
              <a:buSzPts val="2400"/>
              <a:buFont typeface="Arial"/>
              <a:buNone/>
            </a:pPr>
            <a:r>
              <a:rPr lang="en-US" sz="2100" b="0" i="0" u="none" strike="noStrike" cap="none">
                <a:solidFill>
                  <a:srgbClr val="000000"/>
                </a:solidFill>
                <a:latin typeface="Calibri"/>
                <a:ea typeface="Calibri"/>
                <a:cs typeface="Calibri"/>
                <a:sym typeface="Calibri"/>
              </a:rPr>
              <a:t>               </a:t>
            </a:r>
            <a:r>
              <a:rPr lang="en-US" sz="2100" b="0" i="0" u="none" strike="noStrike" cap="none">
                <a:solidFill>
                  <a:srgbClr val="000000"/>
                </a:solidFill>
                <a:latin typeface="Times New Roman"/>
                <a:ea typeface="Times New Roman"/>
                <a:cs typeface="Times New Roman"/>
                <a:sym typeface="Times New Roman"/>
              </a:rPr>
              <a:t>Annotation is the practice of supplementing text with extra details or labels to offer context, enhance comprehension, or facilitate the refinement of Natural Language Processing (NLP) models. The project's core objective is to develop a robust system capable of annotating document text images with minimal human intervention. This entails outlining distinct regions within an image and then generating descriptive text that effectively encapsulates the characteristics of these outlined areas. While manual annotation is time-consuming and error-prone, automatic image annotation tools step in to address these challenges, boosting efficiency and reliability. A key focus lies in achieving word-level annotations for handwritten document images. The resultant system not only mitigates the time and resource demands of manual annotation but also enhances the reliability and accuracy of annotations. This project stands to contribute significantly to the advancement of NLP applications, particularly in scenarios involving handwritten document analysis and understanding.</a:t>
            </a:r>
            <a:endParaRPr sz="2100" b="0" i="0" u="none" strike="noStrike" cap="none">
              <a:solidFill>
                <a:srgbClr val="000000"/>
              </a:solidFill>
              <a:latin typeface="Calibri"/>
              <a:ea typeface="Calibri"/>
              <a:cs typeface="Calibri"/>
              <a:sym typeface="Calibri"/>
            </a:endParaRPr>
          </a:p>
        </p:txBody>
      </p:sp>
      <p:sp>
        <p:nvSpPr>
          <p:cNvPr id="72" name="Google Shape;72;p2"/>
          <p:cNvSpPr txBox="1">
            <a:spLocks noGrp="1"/>
          </p:cNvSpPr>
          <p:nvPr>
            <p:ph type="sldNum" idx="12"/>
          </p:nvPr>
        </p:nvSpPr>
        <p:spPr>
          <a:xfrm>
            <a:off x="11172458" y="6414769"/>
            <a:ext cx="181343"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2</a:t>
            </a:fld>
            <a:endParaRPr/>
          </a:p>
        </p:txBody>
      </p:sp>
      <p:sp>
        <p:nvSpPr>
          <p:cNvPr id="73" name="Google Shape;73;p2"/>
          <p:cNvSpPr txBox="1"/>
          <p:nvPr/>
        </p:nvSpPr>
        <p:spPr>
          <a:xfrm>
            <a:off x="1172599" y="0"/>
            <a:ext cx="11157600" cy="1200600"/>
          </a:xfrm>
          <a:prstGeom prst="rect">
            <a:avLst/>
          </a:prstGeom>
          <a:noFill/>
          <a:ln>
            <a:noFill/>
          </a:ln>
        </p:spPr>
        <p:txBody>
          <a:bodyPr spcFirstLastPara="1" wrap="square" lIns="91400" tIns="91400" rIns="91400" bIns="91400"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pic>
        <p:nvPicPr>
          <p:cNvPr id="74" name="Google Shape;74;p2" descr="Google Shape;103;g2826bdb998c_1_0"/>
          <p:cNvPicPr preferRelativeResize="0"/>
          <p:nvPr/>
        </p:nvPicPr>
        <p:blipFill rotWithShape="1">
          <a:blip r:embed="rId3">
            <a:alphaModFix/>
          </a:blip>
          <a:srcRect/>
          <a:stretch/>
        </p:blipFill>
        <p:spPr>
          <a:xfrm>
            <a:off x="106599" y="0"/>
            <a:ext cx="1296976" cy="10837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7"/>
          <p:cNvSpPr txBox="1">
            <a:spLocks noGrp="1"/>
          </p:cNvSpPr>
          <p:nvPr>
            <p:ph type="ctrTitle" idx="4294967295"/>
          </p:nvPr>
        </p:nvSpPr>
        <p:spPr>
          <a:xfrm>
            <a:off x="187949" y="1144600"/>
            <a:ext cx="11715902" cy="5500200"/>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3100"/>
              <a:buFont typeface="Calibri"/>
              <a:buNone/>
            </a:pPr>
            <a:endParaRPr sz="3100" b="1"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700"/>
              <a:buFont typeface="Times New Roman"/>
              <a:buNone/>
            </a:pPr>
            <a:r>
              <a:rPr lang="en-US" sz="2800" b="1" i="0" u="none" strike="noStrike" cap="none">
                <a:solidFill>
                  <a:srgbClr val="000000"/>
                </a:solidFill>
                <a:latin typeface="Times New Roman"/>
                <a:ea typeface="Times New Roman"/>
                <a:cs typeface="Times New Roman"/>
                <a:sym typeface="Times New Roman"/>
              </a:rPr>
              <a:t>Proposed </a:t>
            </a:r>
            <a:r>
              <a:rPr lang="en-US" sz="2800" b="1">
                <a:latin typeface="Times New Roman"/>
                <a:ea typeface="Times New Roman"/>
                <a:cs typeface="Times New Roman"/>
                <a:sym typeface="Times New Roman"/>
              </a:rPr>
              <a:t>Approach</a:t>
            </a:r>
            <a:r>
              <a:rPr lang="en-US" sz="2800" b="1"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Calibri"/>
              <a:ea typeface="Calibri"/>
              <a:cs typeface="Calibri"/>
              <a:sym typeface="Calibri"/>
            </a:endParaRPr>
          </a:p>
          <a:p>
            <a:pPr marL="0" marR="0" lvl="0" indent="0" algn="l" rtl="0">
              <a:lnSpc>
                <a:spcPct val="90000"/>
              </a:lnSpc>
              <a:spcBef>
                <a:spcPts val="0"/>
              </a:spcBef>
              <a:spcAft>
                <a:spcPts val="0"/>
              </a:spcAft>
              <a:buClr>
                <a:srgbClr val="000000"/>
              </a:buClr>
              <a:buSzPts val="3100"/>
              <a:buFont typeface="Calibri"/>
              <a:buNone/>
            </a:pPr>
            <a:endParaRPr sz="2100" b="1" i="0" u="none" strike="noStrike" cap="none">
              <a:solidFill>
                <a:srgbClr val="000000"/>
              </a:solidFill>
              <a:latin typeface="Times New Roman"/>
              <a:ea typeface="Times New Roman"/>
              <a:cs typeface="Times New Roman"/>
              <a:sym typeface="Times New Roman"/>
            </a:endParaRPr>
          </a:p>
          <a:p>
            <a:pPr marL="457200" marR="0" lvl="0" indent="-361950" algn="l" rtl="0">
              <a:lnSpc>
                <a:spcPct val="90000"/>
              </a:lnSpc>
              <a:spcBef>
                <a:spcPts val="0"/>
              </a:spcBef>
              <a:spcAft>
                <a:spcPts val="0"/>
              </a:spcAft>
              <a:buClr>
                <a:srgbClr val="343541"/>
              </a:buClr>
              <a:buSzPts val="2100"/>
              <a:buFont typeface="Times New Roman"/>
              <a:buChar char="●"/>
            </a:pPr>
            <a:r>
              <a:rPr lang="en-US" sz="2100" b="0" i="0" u="none" strike="noStrike" cap="none">
                <a:solidFill>
                  <a:srgbClr val="343541"/>
                </a:solidFill>
                <a:latin typeface="Times New Roman"/>
                <a:ea typeface="Times New Roman"/>
                <a:cs typeface="Times New Roman"/>
                <a:sym typeface="Times New Roman"/>
              </a:rPr>
              <a:t>The proposed system initiates by constructing a Telugu-page-level dataset, which undergoes thorough pre-processing employing De-GAN and CRAFT techniques. </a:t>
            </a:r>
            <a:endParaRPr sz="2100" b="0" i="0" u="none" strike="noStrike" cap="none">
              <a:solidFill>
                <a:srgbClr val="000000"/>
              </a:solidFill>
              <a:latin typeface="Calibri"/>
              <a:ea typeface="Calibri"/>
              <a:cs typeface="Calibri"/>
              <a:sym typeface="Calibri"/>
            </a:endParaRPr>
          </a:p>
          <a:p>
            <a:pPr marL="457200" marR="0" lvl="0" indent="-361950" algn="l" rtl="0">
              <a:lnSpc>
                <a:spcPct val="90000"/>
              </a:lnSpc>
              <a:spcBef>
                <a:spcPts val="0"/>
              </a:spcBef>
              <a:spcAft>
                <a:spcPts val="0"/>
              </a:spcAft>
              <a:buClr>
                <a:srgbClr val="343541"/>
              </a:buClr>
              <a:buSzPts val="2100"/>
              <a:buFont typeface="Times New Roman"/>
              <a:buChar char="●"/>
            </a:pPr>
            <a:r>
              <a:rPr lang="en-US" sz="2100" b="0" i="0" u="none" strike="noStrike" cap="none">
                <a:solidFill>
                  <a:srgbClr val="343541"/>
                </a:solidFill>
                <a:latin typeface="Times New Roman"/>
                <a:ea typeface="Times New Roman"/>
                <a:cs typeface="Times New Roman"/>
                <a:sym typeface="Times New Roman"/>
              </a:rPr>
              <a:t>Subsequently, this meticulously prepared data is subjected to training across a spectrum of advanced algorithms, encompassing Convolutional Neural Networks (CNNs), Gated Convolutional Neural Networks (GCN), LSTM-based models, and encoder-decoder architectures enriched with attention mechanisms.</a:t>
            </a:r>
            <a:endParaRPr sz="2100" b="0" i="0" u="none" strike="noStrike" cap="none">
              <a:solidFill>
                <a:srgbClr val="000000"/>
              </a:solidFill>
              <a:latin typeface="Calibri"/>
              <a:ea typeface="Calibri"/>
              <a:cs typeface="Calibri"/>
              <a:sym typeface="Calibri"/>
            </a:endParaRPr>
          </a:p>
          <a:p>
            <a:pPr marL="457200" marR="0" lvl="0" indent="-361950" algn="l" rtl="0">
              <a:lnSpc>
                <a:spcPct val="90000"/>
              </a:lnSpc>
              <a:spcBef>
                <a:spcPts val="0"/>
              </a:spcBef>
              <a:spcAft>
                <a:spcPts val="0"/>
              </a:spcAft>
              <a:buClr>
                <a:srgbClr val="343541"/>
              </a:buClr>
              <a:buSzPts val="2100"/>
              <a:buFont typeface="Times New Roman"/>
              <a:buChar char="●"/>
            </a:pPr>
            <a:r>
              <a:rPr lang="en-US" sz="2100" b="0" i="0" u="none" strike="noStrike" cap="none">
                <a:solidFill>
                  <a:srgbClr val="343541"/>
                </a:solidFill>
                <a:latin typeface="Times New Roman"/>
                <a:ea typeface="Times New Roman"/>
                <a:cs typeface="Times New Roman"/>
                <a:sym typeface="Times New Roman"/>
              </a:rPr>
              <a:t>This comprehensive approach not only holds the promise of significantly enhancing annotation accuracy but also streamlines the entire annotation workflow, reducing the need for manual intervention. </a:t>
            </a:r>
            <a:endParaRPr sz="2100" b="0" i="0" u="none" strike="noStrike" cap="none">
              <a:solidFill>
                <a:srgbClr val="000000"/>
              </a:solidFill>
              <a:latin typeface="Calibri"/>
              <a:ea typeface="Calibri"/>
              <a:cs typeface="Calibri"/>
              <a:sym typeface="Calibri"/>
            </a:endParaRPr>
          </a:p>
          <a:p>
            <a:pPr marL="457200" marR="0" lvl="0" indent="-361950" algn="l" rtl="0">
              <a:lnSpc>
                <a:spcPct val="90000"/>
              </a:lnSpc>
              <a:spcBef>
                <a:spcPts val="0"/>
              </a:spcBef>
              <a:spcAft>
                <a:spcPts val="0"/>
              </a:spcAft>
              <a:buClr>
                <a:srgbClr val="343541"/>
              </a:buClr>
              <a:buSzPts val="2100"/>
              <a:buFont typeface="Times New Roman"/>
              <a:buChar char="●"/>
            </a:pPr>
            <a:r>
              <a:rPr lang="en-US" sz="2100" b="0" i="0" u="none" strike="noStrike" cap="none">
                <a:solidFill>
                  <a:srgbClr val="343541"/>
                </a:solidFill>
                <a:latin typeface="Times New Roman"/>
                <a:ea typeface="Times New Roman"/>
                <a:cs typeface="Times New Roman"/>
                <a:sym typeface="Times New Roman"/>
              </a:rPr>
              <a:t>In these fields, where precise and efficient annotations of Telugu handwritten documents are of utmost significance, our system plays a pivotal role in facilitating in-depth analysis and insightful outcomes. </a:t>
            </a:r>
            <a:endParaRPr sz="2100" b="0" i="0" u="none" strike="noStrike" cap="none">
              <a:solidFill>
                <a:srgbClr val="000000"/>
              </a:solidFill>
              <a:latin typeface="Calibri"/>
              <a:ea typeface="Calibri"/>
              <a:cs typeface="Calibri"/>
              <a:sym typeface="Calibri"/>
            </a:endParaRPr>
          </a:p>
          <a:p>
            <a:pPr marL="0" marR="0" lvl="0" indent="0" algn="l" rtl="0">
              <a:lnSpc>
                <a:spcPct val="90000"/>
              </a:lnSpc>
              <a:spcBef>
                <a:spcPts val="0"/>
              </a:spcBef>
              <a:spcAft>
                <a:spcPts val="0"/>
              </a:spcAft>
              <a:buClr>
                <a:srgbClr val="000000"/>
              </a:buClr>
              <a:buSzPts val="2000"/>
              <a:buFont typeface="Calibri"/>
              <a:buNone/>
            </a:pPr>
            <a:endParaRPr sz="2000" b="0" i="0" u="none" strike="noStrike" cap="none">
              <a:solidFill>
                <a:srgbClr val="343541"/>
              </a:solidFill>
              <a:latin typeface="Times New Roman"/>
              <a:ea typeface="Times New Roman"/>
              <a:cs typeface="Times New Roman"/>
              <a:sym typeface="Times New Roman"/>
            </a:endParaRPr>
          </a:p>
        </p:txBody>
      </p:sp>
      <p:pic>
        <p:nvPicPr>
          <p:cNvPr id="80" name="Google Shape;80;p7" descr="Google Shape;153;p4"/>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81" name="Google Shape;81;p7"/>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lvl="0" indent="0" algn="ctr" rtl="0">
              <a:spcBef>
                <a:spcPts val="0"/>
              </a:spcBef>
              <a:spcAft>
                <a:spcPts val="0"/>
              </a:spcAft>
              <a:buClr>
                <a:schemeClr val="dk1"/>
              </a:buClr>
              <a:buSzPts val="2200"/>
              <a:buFont typeface="Arial Rounded"/>
              <a:buNone/>
            </a:pPr>
            <a:r>
              <a:rPr lang="en-US" sz="2200" b="1">
                <a:solidFill>
                  <a:schemeClr val="dk1"/>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82" name="Google Shape;82;p7"/>
          <p:cNvSpPr txBox="1">
            <a:spLocks noGrp="1"/>
          </p:cNvSpPr>
          <p:nvPr>
            <p:ph type="sldNum" idx="12"/>
          </p:nvPr>
        </p:nvSpPr>
        <p:spPr>
          <a:xfrm>
            <a:off x="11154683" y="6468069"/>
            <a:ext cx="181343"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8"/>
          <p:cNvSpPr txBox="1">
            <a:spLocks noGrp="1"/>
          </p:cNvSpPr>
          <p:nvPr>
            <p:ph type="ctrTitle" idx="4294967295"/>
          </p:nvPr>
        </p:nvSpPr>
        <p:spPr>
          <a:xfrm>
            <a:off x="187949" y="1144600"/>
            <a:ext cx="11715900" cy="5500200"/>
          </a:xfrm>
          <a:prstGeom prst="rect">
            <a:avLst/>
          </a:prstGeom>
          <a:noFill/>
          <a:ln>
            <a:noFill/>
          </a:ln>
        </p:spPr>
        <p:txBody>
          <a:bodyPr spcFirstLastPara="1" wrap="square" lIns="45675" tIns="45675" rIns="45675" bIns="45675" anchor="t" anchorCtr="0">
            <a:normAutofit/>
          </a:bodyPr>
          <a:lstStyle/>
          <a:p>
            <a:pPr marL="0" marR="0" lvl="0" indent="0" algn="just" rtl="0">
              <a:lnSpc>
                <a:spcPct val="100000"/>
              </a:lnSpc>
              <a:spcBef>
                <a:spcPts val="0"/>
              </a:spcBef>
              <a:spcAft>
                <a:spcPts val="0"/>
              </a:spcAft>
              <a:buClr>
                <a:schemeClr val="dk1"/>
              </a:buClr>
              <a:buSzPts val="2600"/>
              <a:buFont typeface="Times New Roman"/>
              <a:buNone/>
            </a:pPr>
            <a:r>
              <a:rPr lang="en-US" sz="2800" b="1">
                <a:solidFill>
                  <a:schemeClr val="dk1"/>
                </a:solidFill>
                <a:latin typeface="Times New Roman"/>
                <a:ea typeface="Times New Roman"/>
                <a:cs typeface="Times New Roman"/>
                <a:sym typeface="Times New Roman"/>
              </a:rPr>
              <a:t>Proposed </a:t>
            </a:r>
            <a:r>
              <a:rPr lang="en-US" sz="2800" b="1" i="0" u="none" strike="noStrike" cap="none">
                <a:solidFill>
                  <a:schemeClr val="dk1"/>
                </a:solidFill>
                <a:latin typeface="Times New Roman"/>
                <a:ea typeface="Times New Roman"/>
                <a:cs typeface="Times New Roman"/>
                <a:sym typeface="Times New Roman"/>
              </a:rPr>
              <a:t>Architecture:</a:t>
            </a:r>
            <a:endParaRPr sz="28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endParaRPr sz="2000" b="1">
              <a:solidFill>
                <a:srgbClr val="34354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Calibri"/>
              <a:buNone/>
            </a:pPr>
            <a:r>
              <a:rPr lang="en-US" sz="2000" b="1">
                <a:solidFill>
                  <a:srgbClr val="343541"/>
                </a:solidFill>
                <a:latin typeface="Times New Roman"/>
                <a:ea typeface="Times New Roman"/>
                <a:cs typeface="Times New Roman"/>
                <a:sym typeface="Times New Roman"/>
              </a:rPr>
              <a:t>                                                    Fig 1: Automated Annotation System </a:t>
            </a:r>
            <a:r>
              <a:rPr lang="en-US" sz="2000" b="1">
                <a:solidFill>
                  <a:schemeClr val="dk1"/>
                </a:solidFill>
                <a:latin typeface="Times New Roman"/>
                <a:ea typeface="Times New Roman"/>
                <a:cs typeface="Times New Roman"/>
                <a:sym typeface="Times New Roman"/>
              </a:rPr>
              <a:t>Architecture</a:t>
            </a:r>
            <a:endParaRPr sz="2000" b="1">
              <a:solidFill>
                <a:srgbClr val="343541"/>
              </a:solidFill>
              <a:latin typeface="Times New Roman"/>
              <a:ea typeface="Times New Roman"/>
              <a:cs typeface="Times New Roman"/>
              <a:sym typeface="Times New Roman"/>
            </a:endParaRPr>
          </a:p>
        </p:txBody>
      </p:sp>
      <p:pic>
        <p:nvPicPr>
          <p:cNvPr id="88" name="Google Shape;88;p8" descr="Google Shape;153;p4"/>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89" name="Google Shape;89;p8"/>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lvl="0" indent="0" algn="ctr" rtl="0">
              <a:spcBef>
                <a:spcPts val="0"/>
              </a:spcBef>
              <a:spcAft>
                <a:spcPts val="0"/>
              </a:spcAft>
              <a:buClr>
                <a:schemeClr val="dk1"/>
              </a:buClr>
              <a:buSzPts val="2200"/>
              <a:buFont typeface="Arial Rounded"/>
              <a:buNone/>
            </a:pPr>
            <a:r>
              <a:rPr lang="en-US" sz="2200" b="1">
                <a:solidFill>
                  <a:schemeClr val="dk1"/>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90" name="Google Shape;90;p8"/>
          <p:cNvSpPr txBox="1">
            <a:spLocks noGrp="1"/>
          </p:cNvSpPr>
          <p:nvPr>
            <p:ph type="sldNum" idx="12"/>
          </p:nvPr>
        </p:nvSpPr>
        <p:spPr>
          <a:xfrm>
            <a:off x="11154683" y="6468069"/>
            <a:ext cx="1812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4</a:t>
            </a:fld>
            <a:endParaRPr/>
          </a:p>
        </p:txBody>
      </p:sp>
      <p:pic>
        <p:nvPicPr>
          <p:cNvPr id="91" name="Google Shape;91;p8" descr="Google Shape;220;p7"/>
          <p:cNvPicPr preferRelativeResize="0"/>
          <p:nvPr/>
        </p:nvPicPr>
        <p:blipFill rotWithShape="1">
          <a:blip r:embed="rId4">
            <a:alphaModFix/>
          </a:blip>
          <a:srcRect/>
          <a:stretch/>
        </p:blipFill>
        <p:spPr>
          <a:xfrm>
            <a:off x="1838299" y="2014625"/>
            <a:ext cx="8295053" cy="38817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9"/>
          <p:cNvSpPr txBox="1">
            <a:spLocks noGrp="1"/>
          </p:cNvSpPr>
          <p:nvPr>
            <p:ph type="ctrTitle" idx="4294967295"/>
          </p:nvPr>
        </p:nvSpPr>
        <p:spPr>
          <a:xfrm>
            <a:off x="66675" y="1210944"/>
            <a:ext cx="11969700" cy="5361302"/>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2700"/>
              <a:buFont typeface="Arial"/>
              <a:buNone/>
            </a:pP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endParaRPr sz="4400" b="0" i="0" u="none" strike="noStrike" cap="none">
              <a:solidFill>
                <a:srgbClr val="000000"/>
              </a:solidFill>
              <a:latin typeface="Calibri"/>
              <a:ea typeface="Calibri"/>
              <a:cs typeface="Calibri"/>
              <a:sym typeface="Calibri"/>
            </a:endParaRPr>
          </a:p>
        </p:txBody>
      </p:sp>
      <p:pic>
        <p:nvPicPr>
          <p:cNvPr id="97" name="Google Shape;97;p9" descr="Google Shape;173;p5"/>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98" name="Google Shape;98;p9"/>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lvl="0" indent="0" algn="ctr" rtl="0">
              <a:spcBef>
                <a:spcPts val="0"/>
              </a:spcBef>
              <a:spcAft>
                <a:spcPts val="0"/>
              </a:spcAft>
              <a:buClr>
                <a:schemeClr val="dk1"/>
              </a:buClr>
              <a:buSzPts val="2200"/>
              <a:buFont typeface="Arial Rounded"/>
              <a:buNone/>
            </a:pPr>
            <a:r>
              <a:rPr lang="en-US" sz="2200" b="1">
                <a:solidFill>
                  <a:schemeClr val="dk1"/>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99" name="Google Shape;99;p9"/>
          <p:cNvSpPr txBox="1"/>
          <p:nvPr/>
        </p:nvSpPr>
        <p:spPr>
          <a:xfrm>
            <a:off x="201151" y="816864"/>
            <a:ext cx="4341000" cy="9543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a:latin typeface="Times New Roman"/>
                <a:ea typeface="Times New Roman"/>
                <a:cs typeface="Times New Roman"/>
                <a:sym typeface="Times New Roman"/>
              </a:rPr>
              <a:t>Design </a:t>
            </a:r>
            <a:r>
              <a:rPr lang="en-US" sz="2800" b="1" i="0" u="none" strike="noStrike" cap="none">
                <a:solidFill>
                  <a:srgbClr val="000000"/>
                </a:solidFill>
                <a:latin typeface="Times New Roman"/>
                <a:ea typeface="Times New Roman"/>
                <a:cs typeface="Times New Roman"/>
                <a:sym typeface="Times New Roman"/>
              </a:rPr>
              <a:t>Methodology:</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p:txBody>
      </p:sp>
      <p:sp>
        <p:nvSpPr>
          <p:cNvPr id="100" name="Google Shape;100;p9"/>
          <p:cNvSpPr txBox="1"/>
          <p:nvPr/>
        </p:nvSpPr>
        <p:spPr>
          <a:xfrm>
            <a:off x="201150" y="1757071"/>
            <a:ext cx="11399400" cy="46329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200"/>
              <a:buFont typeface="Arial"/>
              <a:buNone/>
            </a:pPr>
            <a:endParaRPr sz="2100" b="0" i="0" u="none" strike="noStrike" cap="none">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200"/>
              <a:buFont typeface="Times New Roman"/>
              <a:buNone/>
            </a:pPr>
            <a:r>
              <a:rPr lang="en-US" sz="2100" b="0" i="0" u="none" strike="noStrike" cap="none">
                <a:solidFill>
                  <a:srgbClr val="1F2328"/>
                </a:solidFill>
                <a:latin typeface="Times New Roman"/>
                <a:ea typeface="Times New Roman"/>
                <a:cs typeface="Times New Roman"/>
                <a:sym typeface="Times New Roman"/>
              </a:rPr>
              <a:t>Methodology for Telugu Page-Level Dataset Creation and Enhancement:</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100" b="0" i="0" u="none" strike="noStrike" cap="none">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200"/>
              <a:buFont typeface="Times New Roman"/>
              <a:buNone/>
            </a:pPr>
            <a:r>
              <a:rPr lang="en-US" sz="2100" b="0" i="0" u="none" strike="noStrike" cap="none">
                <a:solidFill>
                  <a:srgbClr val="1F2328"/>
                </a:solidFill>
                <a:latin typeface="Times New Roman"/>
                <a:ea typeface="Times New Roman"/>
                <a:cs typeface="Times New Roman"/>
                <a:sym typeface="Times New Roman"/>
              </a:rPr>
              <a:t>1. Dataset Creation: Collect and digitize diverse Telugu handwritten documents with annotations.</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100" b="0" i="0" u="none" strike="noStrike" cap="none">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200"/>
              <a:buFont typeface="Times New Roman"/>
              <a:buNone/>
            </a:pPr>
            <a:r>
              <a:rPr lang="en-US" sz="2100" b="0" i="0" u="none" strike="noStrike" cap="none">
                <a:solidFill>
                  <a:srgbClr val="1F2328"/>
                </a:solidFill>
                <a:latin typeface="Times New Roman"/>
                <a:ea typeface="Times New Roman"/>
                <a:cs typeface="Times New Roman"/>
                <a:sym typeface="Times New Roman"/>
              </a:rPr>
              <a:t>2. Pre-processing: Use De-GAN and CRAFT for noise reduction and text extraction.</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100" b="0" i="0" u="none" strike="noStrike" cap="none">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200"/>
              <a:buFont typeface="Times New Roman"/>
              <a:buNone/>
            </a:pPr>
            <a:r>
              <a:rPr lang="en-US" sz="2100" b="0" i="0" u="none" strike="noStrike" cap="none">
                <a:solidFill>
                  <a:srgbClr val="1F2328"/>
                </a:solidFill>
                <a:latin typeface="Times New Roman"/>
                <a:ea typeface="Times New Roman"/>
                <a:cs typeface="Times New Roman"/>
                <a:sym typeface="Times New Roman"/>
              </a:rPr>
              <a:t>3. Data Splitting: Divide the dataset into training, validation, and test sets.</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100" b="0" i="0" u="none" strike="noStrike" cap="none">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200"/>
              <a:buFont typeface="Times New Roman"/>
              <a:buNone/>
            </a:pPr>
            <a:r>
              <a:rPr lang="en-US" sz="2100" b="0" i="0" u="none" strike="noStrike" cap="none">
                <a:solidFill>
                  <a:srgbClr val="1F2328"/>
                </a:solidFill>
                <a:latin typeface="Times New Roman"/>
                <a:ea typeface="Times New Roman"/>
                <a:cs typeface="Times New Roman"/>
                <a:sym typeface="Times New Roman"/>
              </a:rPr>
              <a:t>4. Model Selection: Choose advanced algorithms like CNNs, GCN, LSTM-based models, and encoder-decoder with attention.</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100" b="0" i="0" u="none" strike="noStrike" cap="none">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200"/>
              <a:buFont typeface="Times New Roman"/>
              <a:buNone/>
            </a:pPr>
            <a:r>
              <a:rPr lang="en-US" sz="2100" b="0" i="0" u="none" strike="noStrike" cap="none">
                <a:solidFill>
                  <a:srgbClr val="1F2328"/>
                </a:solidFill>
                <a:latin typeface="Times New Roman"/>
                <a:ea typeface="Times New Roman"/>
                <a:cs typeface="Times New Roman"/>
                <a:sym typeface="Times New Roman"/>
              </a:rPr>
              <a:t>5. Training: Train models on the dataset, fine-tune with validation set, and cross-validate.</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rgbClr val="1F2328"/>
              </a:solidFill>
              <a:latin typeface="Times New Roman"/>
              <a:ea typeface="Times New Roman"/>
              <a:cs typeface="Times New Roman"/>
              <a:sym typeface="Times New Roman"/>
            </a:endParaRPr>
          </a:p>
        </p:txBody>
      </p:sp>
      <p:sp>
        <p:nvSpPr>
          <p:cNvPr id="101" name="Google Shape;101;p9"/>
          <p:cNvSpPr txBox="1">
            <a:spLocks noGrp="1"/>
          </p:cNvSpPr>
          <p:nvPr>
            <p:ph type="sldNum" idx="12"/>
          </p:nvPr>
        </p:nvSpPr>
        <p:spPr>
          <a:xfrm>
            <a:off x="11172458" y="6414769"/>
            <a:ext cx="181343"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0"/>
          <p:cNvSpPr txBox="1">
            <a:spLocks noGrp="1"/>
          </p:cNvSpPr>
          <p:nvPr>
            <p:ph type="ctrTitle" idx="4294967295"/>
          </p:nvPr>
        </p:nvSpPr>
        <p:spPr>
          <a:xfrm>
            <a:off x="66675" y="1210944"/>
            <a:ext cx="11969700" cy="5361302"/>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2700"/>
              <a:buFont typeface="Arial"/>
              <a:buNone/>
            </a:pP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endParaRPr sz="4400" b="0" i="0" u="none" strike="noStrike" cap="none">
              <a:solidFill>
                <a:srgbClr val="000000"/>
              </a:solidFill>
              <a:latin typeface="Calibri"/>
              <a:ea typeface="Calibri"/>
              <a:cs typeface="Calibri"/>
              <a:sym typeface="Calibri"/>
            </a:endParaRPr>
          </a:p>
        </p:txBody>
      </p:sp>
      <p:pic>
        <p:nvPicPr>
          <p:cNvPr id="107" name="Google Shape;107;p10" descr="Google Shape;184;g2826546880a_0_45"/>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108" name="Google Shape;108;p10"/>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lvl="0" indent="0" algn="ctr" rtl="0">
              <a:spcBef>
                <a:spcPts val="0"/>
              </a:spcBef>
              <a:spcAft>
                <a:spcPts val="0"/>
              </a:spcAft>
              <a:buClr>
                <a:schemeClr val="dk1"/>
              </a:buClr>
              <a:buSzPts val="2200"/>
              <a:buFont typeface="Arial Rounded"/>
              <a:buNone/>
            </a:pPr>
            <a:r>
              <a:rPr lang="en-US" sz="2200" b="1">
                <a:solidFill>
                  <a:schemeClr val="dk1"/>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109" name="Google Shape;109;p10"/>
          <p:cNvSpPr txBox="1"/>
          <p:nvPr/>
        </p:nvSpPr>
        <p:spPr>
          <a:xfrm>
            <a:off x="201151" y="816864"/>
            <a:ext cx="4341050" cy="892567"/>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110" name="Google Shape;110;p10"/>
          <p:cNvSpPr txBox="1"/>
          <p:nvPr/>
        </p:nvSpPr>
        <p:spPr>
          <a:xfrm>
            <a:off x="201150" y="1757071"/>
            <a:ext cx="11399400" cy="36633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1F2328"/>
              </a:buClr>
              <a:buSzPts val="2200"/>
              <a:buFont typeface="Times New Roman"/>
              <a:buNone/>
            </a:pPr>
            <a:r>
              <a:rPr lang="en-US" sz="2100" b="0" i="0" u="none" strike="noStrike" cap="none">
                <a:solidFill>
                  <a:srgbClr val="1F2328"/>
                </a:solidFill>
                <a:latin typeface="Times New Roman"/>
                <a:ea typeface="Times New Roman"/>
                <a:cs typeface="Times New Roman"/>
                <a:sym typeface="Times New Roman"/>
              </a:rPr>
              <a:t>6. Model Evaluation: Assess accuracy, precision, recall, and F1-score; perform error analysis and manual verification.</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100" b="0" i="0" u="none" strike="noStrike" cap="none">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200"/>
              <a:buFont typeface="Times New Roman"/>
              <a:buNone/>
            </a:pPr>
            <a:r>
              <a:rPr lang="en-US" sz="2100" b="0" i="0" u="none" strike="noStrike" cap="none">
                <a:solidFill>
                  <a:srgbClr val="1F2328"/>
                </a:solidFill>
                <a:latin typeface="Times New Roman"/>
                <a:ea typeface="Times New Roman"/>
                <a:cs typeface="Times New Roman"/>
                <a:sym typeface="Times New Roman"/>
              </a:rPr>
              <a:t>7. Architecture Optimization: Select the best-performing model architecture and explore ensemble techniques.</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100" b="0" i="0" u="none" strike="noStrike" cap="none">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200"/>
              <a:buFont typeface="Times New Roman"/>
              <a:buNone/>
            </a:pPr>
            <a:r>
              <a:rPr lang="en-US" sz="2100" b="0" i="0" u="none" strike="noStrike" cap="none">
                <a:solidFill>
                  <a:srgbClr val="1F2328"/>
                </a:solidFill>
                <a:latin typeface="Times New Roman"/>
                <a:ea typeface="Times New Roman"/>
                <a:cs typeface="Times New Roman"/>
                <a:sym typeface="Times New Roman"/>
              </a:rPr>
              <a:t>8. Annotation Enhancement: Apply post-processing and evaluate the system's enhanced accuracy.</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100" b="0" i="0" u="none" strike="noStrike" cap="none">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200"/>
              <a:buFont typeface="Times New Roman"/>
              <a:buNone/>
            </a:pPr>
            <a:r>
              <a:rPr lang="en-US" sz="2100" b="0" i="0" u="none" strike="noStrike" cap="none">
                <a:solidFill>
                  <a:srgbClr val="1F2328"/>
                </a:solidFill>
                <a:latin typeface="Times New Roman"/>
                <a:ea typeface="Times New Roman"/>
                <a:cs typeface="Times New Roman"/>
                <a:sym typeface="Times New Roman"/>
              </a:rPr>
              <a:t>9. Testing and Reporting: Evaluate real-world performance, validate against benchmarks, and document results.</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rgbClr val="1F2328"/>
              </a:solidFill>
              <a:latin typeface="Times New Roman"/>
              <a:ea typeface="Times New Roman"/>
              <a:cs typeface="Times New Roman"/>
              <a:sym typeface="Times New Roman"/>
            </a:endParaRPr>
          </a:p>
        </p:txBody>
      </p:sp>
      <p:sp>
        <p:nvSpPr>
          <p:cNvPr id="111" name="Google Shape;111;p10"/>
          <p:cNvSpPr txBox="1">
            <a:spLocks noGrp="1"/>
          </p:cNvSpPr>
          <p:nvPr>
            <p:ph type="sldNum" idx="12"/>
          </p:nvPr>
        </p:nvSpPr>
        <p:spPr>
          <a:xfrm>
            <a:off x="11172458" y="6414769"/>
            <a:ext cx="181343"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1"/>
          <p:cNvSpPr txBox="1">
            <a:spLocks noGrp="1"/>
          </p:cNvSpPr>
          <p:nvPr>
            <p:ph type="ctrTitle" idx="4294967295"/>
          </p:nvPr>
        </p:nvSpPr>
        <p:spPr>
          <a:xfrm>
            <a:off x="66675" y="1822399"/>
            <a:ext cx="11969700" cy="4749901"/>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4717"/>
              <a:buFont typeface="Calibri"/>
              <a:buNone/>
            </a:pP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endParaRPr sz="4400" b="0" i="0" u="none" strike="noStrike" cap="none">
              <a:solidFill>
                <a:srgbClr val="000000"/>
              </a:solidFill>
              <a:latin typeface="Calibri"/>
              <a:ea typeface="Calibri"/>
              <a:cs typeface="Calibri"/>
              <a:sym typeface="Calibri"/>
            </a:endParaRPr>
          </a:p>
        </p:txBody>
      </p:sp>
      <p:pic>
        <p:nvPicPr>
          <p:cNvPr id="117" name="Google Shape;117;p11" descr="Google Shape;195;p6"/>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118" name="Google Shape;118;p11"/>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a:solidFill>
                  <a:schemeClr val="dk1"/>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119" name="Google Shape;119;p11"/>
          <p:cNvSpPr txBox="1"/>
          <p:nvPr/>
        </p:nvSpPr>
        <p:spPr>
          <a:xfrm>
            <a:off x="233674" y="2349950"/>
            <a:ext cx="10980600" cy="36324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1F2328"/>
              </a:buClr>
              <a:buSzPts val="2000"/>
              <a:buFont typeface="Times New Roman"/>
              <a:buNone/>
            </a:pPr>
            <a:r>
              <a:rPr lang="en-US" sz="2100" b="0" i="0" u="none" strike="noStrike" cap="none">
                <a:solidFill>
                  <a:srgbClr val="1F2328"/>
                </a:solidFill>
                <a:latin typeface="Times New Roman"/>
                <a:ea typeface="Times New Roman"/>
                <a:cs typeface="Times New Roman"/>
                <a:sym typeface="Times New Roman"/>
              </a:rPr>
              <a:t>There are three main modules in our project.</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100" b="0" i="0" u="none" strike="noStrike" cap="none">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000"/>
              <a:buFont typeface="Times New Roman"/>
              <a:buNone/>
            </a:pPr>
            <a:r>
              <a:rPr lang="en-US" sz="2100" b="0" i="0" u="none" strike="noStrike" cap="none">
                <a:solidFill>
                  <a:srgbClr val="1F2328"/>
                </a:solidFill>
                <a:latin typeface="Times New Roman"/>
                <a:ea typeface="Times New Roman"/>
                <a:cs typeface="Times New Roman"/>
                <a:sym typeface="Times New Roman"/>
              </a:rPr>
              <a:t>De-GAN Module:</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De-GAN utilizes Generative Adversarial Networks (GANs) for denoising handwritten documents.</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It identifies and removes various types of noise, such as background artifacts and smudges.</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It enhances the overall quality of scanned documents, making them more legible and suitable for annotation.</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It employs deep learning techniques to learn and generate denoised versions of input documents.</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It significantly improves dataset readiness for subsequent annotation and analysis.</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1F2328"/>
              </a:solidFill>
              <a:latin typeface="Times New Roman"/>
              <a:ea typeface="Times New Roman"/>
              <a:cs typeface="Times New Roman"/>
              <a:sym typeface="Times New Roman"/>
            </a:endParaRPr>
          </a:p>
        </p:txBody>
      </p:sp>
      <p:sp>
        <p:nvSpPr>
          <p:cNvPr id="120" name="Google Shape;120;p11"/>
          <p:cNvSpPr txBox="1"/>
          <p:nvPr/>
        </p:nvSpPr>
        <p:spPr>
          <a:xfrm>
            <a:off x="187949" y="1538599"/>
            <a:ext cx="6610800" cy="6156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Module Description:</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2"/>
          <p:cNvSpPr txBox="1">
            <a:spLocks noGrp="1"/>
          </p:cNvSpPr>
          <p:nvPr>
            <p:ph type="ctrTitle" idx="4294967295"/>
          </p:nvPr>
        </p:nvSpPr>
        <p:spPr>
          <a:xfrm>
            <a:off x="66675" y="1822399"/>
            <a:ext cx="11969700" cy="4749901"/>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4717"/>
              <a:buFont typeface="Calibri"/>
              <a:buNone/>
            </a:pP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endParaRPr sz="4400" b="0" i="0" u="none" strike="noStrike" cap="none">
              <a:solidFill>
                <a:srgbClr val="000000"/>
              </a:solidFill>
              <a:latin typeface="Calibri"/>
              <a:ea typeface="Calibri"/>
              <a:cs typeface="Calibri"/>
              <a:sym typeface="Calibri"/>
            </a:endParaRPr>
          </a:p>
        </p:txBody>
      </p:sp>
      <p:pic>
        <p:nvPicPr>
          <p:cNvPr id="126" name="Google Shape;126;p12" descr="Google Shape;205;g2826546880a_3_4"/>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127" name="Google Shape;127;p12"/>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lvl="0" indent="0" algn="ctr" rtl="0">
              <a:spcBef>
                <a:spcPts val="0"/>
              </a:spcBef>
              <a:spcAft>
                <a:spcPts val="0"/>
              </a:spcAft>
              <a:buClr>
                <a:schemeClr val="dk1"/>
              </a:buClr>
              <a:buSzPts val="2200"/>
              <a:buFont typeface="Arial Rounded"/>
              <a:buNone/>
            </a:pPr>
            <a:r>
              <a:rPr lang="en-US" sz="2200" b="1">
                <a:solidFill>
                  <a:schemeClr val="dk1"/>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128" name="Google Shape;128;p12"/>
          <p:cNvSpPr txBox="1"/>
          <p:nvPr/>
        </p:nvSpPr>
        <p:spPr>
          <a:xfrm>
            <a:off x="233674" y="1486801"/>
            <a:ext cx="10980600" cy="49410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1F2328"/>
              </a:buClr>
              <a:buSzPts val="2000"/>
              <a:buFont typeface="Times New Roman"/>
              <a:buNone/>
            </a:pPr>
            <a:r>
              <a:rPr lang="en-US" sz="2100" b="0" i="0" u="none" strike="noStrike" cap="none">
                <a:solidFill>
                  <a:srgbClr val="1F2328"/>
                </a:solidFill>
                <a:latin typeface="Times New Roman"/>
                <a:ea typeface="Times New Roman"/>
                <a:cs typeface="Times New Roman"/>
                <a:sym typeface="Times New Roman"/>
              </a:rPr>
              <a:t>CRAFT Module:</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After binarizing the image using De-GAN, it is sent to CRAFT model.</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CRAFT is a text detection model that uses a Convolutional Neural Network(CNN) model to accurately extract text regions from the document images. </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It analyzes pixel-level information to determine character and word boundaries. </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It utilizes computer vision algorithms to identify regions containing textual content. </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The purpose of this model is to minimizes errors and enhances annotation efficiency by focusing solely on relevant text.</a:t>
            </a:r>
            <a:endParaRPr sz="2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100" b="0" i="0" u="none" strike="noStrike" cap="none">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000"/>
              <a:buFont typeface="Times New Roman"/>
              <a:buNone/>
            </a:pPr>
            <a:r>
              <a:rPr lang="en-US" sz="2100" b="0" i="0" u="none" strike="noStrike" cap="none">
                <a:solidFill>
                  <a:srgbClr val="1F2328"/>
                </a:solidFill>
                <a:latin typeface="Times New Roman"/>
                <a:ea typeface="Times New Roman"/>
                <a:cs typeface="Times New Roman"/>
                <a:sym typeface="Times New Roman"/>
              </a:rPr>
              <a:t>Annotation Module:</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Annotation involves the automated labeling of pre-processed documents to make it recognizable and usable for various applications. </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It employs machine learning models like CNNs, GCN, LSTM-based and encoder-decoder with attention models for automated text recognition.</a:t>
            </a:r>
            <a:endParaRPr sz="2100" b="0" i="0" u="none" strike="noStrike" cap="none">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a:solidFill>
                  <a:srgbClr val="1F2328"/>
                </a:solidFill>
                <a:latin typeface="Times New Roman"/>
                <a:ea typeface="Times New Roman"/>
                <a:cs typeface="Times New Roman"/>
                <a:sym typeface="Times New Roman"/>
              </a:rPr>
              <a:t>It involves manual review to rectify discrepancies and ensure high accuracy.</a:t>
            </a:r>
            <a:endParaRPr sz="21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3"/>
          <p:cNvSpPr txBox="1">
            <a:spLocks noGrp="1"/>
          </p:cNvSpPr>
          <p:nvPr>
            <p:ph type="ctrTitle" idx="4294967295"/>
          </p:nvPr>
        </p:nvSpPr>
        <p:spPr>
          <a:xfrm>
            <a:off x="111150" y="1417844"/>
            <a:ext cx="11969700" cy="5361300"/>
          </a:xfrm>
          <a:prstGeom prst="rect">
            <a:avLst/>
          </a:prstGeom>
          <a:noFill/>
          <a:ln>
            <a:noFill/>
          </a:ln>
        </p:spPr>
        <p:txBody>
          <a:bodyPr spcFirstLastPara="1" wrap="square" lIns="45675" tIns="45675" rIns="45675" bIns="45675" anchor="t" anchorCtr="0">
            <a:normAutofit fontScale="90000"/>
          </a:bodyPr>
          <a:lstStyle/>
          <a:p>
            <a:pPr marL="0" marR="0" lvl="0" indent="0" algn="l" rtl="0">
              <a:lnSpc>
                <a:spcPct val="90000"/>
              </a:lnSpc>
              <a:spcBef>
                <a:spcPts val="0"/>
              </a:spcBef>
              <a:spcAft>
                <a:spcPts val="0"/>
              </a:spcAft>
              <a:buNone/>
            </a:pPr>
            <a:br>
              <a:rPr lang="en-US" sz="2700" b="0" i="0" u="none" strike="noStrike" cap="none">
                <a:solidFill>
                  <a:srgbClr val="000000"/>
                </a:solidFill>
                <a:latin typeface="Arial"/>
                <a:ea typeface="Arial"/>
                <a:cs typeface="Arial"/>
                <a:sym typeface="Arial"/>
              </a:rPr>
            </a:br>
            <a:br>
              <a:rPr lang="en-US" sz="2200" b="0" i="0" u="none" strike="noStrike" cap="none">
                <a:solidFill>
                  <a:srgbClr val="000000"/>
                </a:solidFill>
                <a:latin typeface="Arial"/>
                <a:ea typeface="Arial"/>
                <a:cs typeface="Arial"/>
                <a:sym typeface="Arial"/>
              </a:rPr>
            </a:br>
            <a:endParaRPr sz="2300">
              <a:latin typeface="Arial"/>
              <a:ea typeface="Arial"/>
              <a:cs typeface="Arial"/>
              <a:sym typeface="Arial"/>
            </a:endParaRPr>
          </a:p>
          <a:p>
            <a:pPr marL="457200" marR="0" lvl="0" indent="-360045" algn="l" rtl="0">
              <a:lnSpc>
                <a:spcPct val="90000"/>
              </a:lnSpc>
              <a:spcBef>
                <a:spcPts val="0"/>
              </a:spcBef>
              <a:spcAft>
                <a:spcPts val="0"/>
              </a:spcAft>
              <a:buClr>
                <a:srgbClr val="0F0F0F"/>
              </a:buClr>
              <a:buSzPct val="100000"/>
              <a:buFont typeface="Times New Roman"/>
              <a:buChar char="●"/>
            </a:pPr>
            <a:r>
              <a:rPr lang="en-US" sz="2300">
                <a:solidFill>
                  <a:srgbClr val="0F0F0F"/>
                </a:solidFill>
                <a:latin typeface="Times New Roman"/>
                <a:ea typeface="Times New Roman"/>
                <a:cs typeface="Times New Roman"/>
                <a:sym typeface="Times New Roman"/>
              </a:rPr>
              <a:t>The process begins with the acquisition of an image, ensuring it is taken without the influence of any filters.</a:t>
            </a:r>
            <a:endParaRPr sz="2300">
              <a:solidFill>
                <a:srgbClr val="0F0F0F"/>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ct val="117391"/>
              <a:buFont typeface="Arial"/>
              <a:buNone/>
            </a:pPr>
            <a:endParaRPr sz="2300">
              <a:solidFill>
                <a:srgbClr val="0F0F0F"/>
              </a:solidFill>
              <a:latin typeface="Times New Roman"/>
              <a:ea typeface="Times New Roman"/>
              <a:cs typeface="Times New Roman"/>
              <a:sym typeface="Times New Roman"/>
            </a:endParaRPr>
          </a:p>
          <a:p>
            <a:pPr marL="457200" marR="0" lvl="0" indent="-360045" algn="l" rtl="0">
              <a:lnSpc>
                <a:spcPct val="90000"/>
              </a:lnSpc>
              <a:spcBef>
                <a:spcPts val="0"/>
              </a:spcBef>
              <a:spcAft>
                <a:spcPts val="0"/>
              </a:spcAft>
              <a:buClr>
                <a:srgbClr val="0F0F0F"/>
              </a:buClr>
              <a:buSzPct val="100000"/>
              <a:buFont typeface="Times New Roman"/>
              <a:buChar char="●"/>
            </a:pPr>
            <a:r>
              <a:rPr lang="en-US" sz="2300">
                <a:solidFill>
                  <a:srgbClr val="0F0F0F"/>
                </a:solidFill>
                <a:latin typeface="Times New Roman"/>
                <a:ea typeface="Times New Roman"/>
                <a:cs typeface="Times New Roman"/>
                <a:sym typeface="Times New Roman"/>
              </a:rPr>
              <a:t>The unfiltered image is fed into the pretrained De-GAN (Denoising GAN) model.</a:t>
            </a:r>
            <a:endParaRPr sz="2300">
              <a:solidFill>
                <a:srgbClr val="0F0F0F"/>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ct val="117391"/>
              <a:buFont typeface="Arial"/>
              <a:buNone/>
            </a:pPr>
            <a:endParaRPr sz="2300">
              <a:solidFill>
                <a:srgbClr val="0F0F0F"/>
              </a:solidFill>
              <a:latin typeface="Times New Roman"/>
              <a:ea typeface="Times New Roman"/>
              <a:cs typeface="Times New Roman"/>
              <a:sym typeface="Times New Roman"/>
            </a:endParaRPr>
          </a:p>
          <a:p>
            <a:pPr marL="457200" marR="0" lvl="0" indent="-360045" algn="l" rtl="0">
              <a:lnSpc>
                <a:spcPct val="90000"/>
              </a:lnSpc>
              <a:spcBef>
                <a:spcPts val="0"/>
              </a:spcBef>
              <a:spcAft>
                <a:spcPts val="0"/>
              </a:spcAft>
              <a:buClr>
                <a:srgbClr val="0F0F0F"/>
              </a:buClr>
              <a:buSzPct val="100000"/>
              <a:buFont typeface="Times New Roman"/>
              <a:buChar char="●"/>
            </a:pPr>
            <a:r>
              <a:rPr lang="en-US" sz="2300">
                <a:solidFill>
                  <a:srgbClr val="0F0F0F"/>
                </a:solidFill>
                <a:latin typeface="Times New Roman"/>
                <a:ea typeface="Times New Roman"/>
                <a:cs typeface="Times New Roman"/>
                <a:sym typeface="Times New Roman"/>
              </a:rPr>
              <a:t>De-GAN specializes in denoising and enhances the image quality, generating a binarized version that eliminates background noises.</a:t>
            </a:r>
            <a:endParaRPr sz="2300">
              <a:solidFill>
                <a:srgbClr val="0F0F0F"/>
              </a:solidFill>
              <a:latin typeface="Times New Roman"/>
              <a:ea typeface="Times New Roman"/>
              <a:cs typeface="Times New Roman"/>
              <a:sym typeface="Times New Roman"/>
            </a:endParaRPr>
          </a:p>
          <a:p>
            <a:pPr marL="0" marR="0" lvl="0" indent="0" algn="l" rtl="0">
              <a:lnSpc>
                <a:spcPct val="90000"/>
              </a:lnSpc>
              <a:spcBef>
                <a:spcPts val="0"/>
              </a:spcBef>
              <a:spcAft>
                <a:spcPts val="0"/>
              </a:spcAft>
              <a:buNone/>
            </a:pPr>
            <a:endParaRPr sz="2300">
              <a:solidFill>
                <a:srgbClr val="0F0F0F"/>
              </a:solidFill>
              <a:latin typeface="Times New Roman"/>
              <a:ea typeface="Times New Roman"/>
              <a:cs typeface="Times New Roman"/>
              <a:sym typeface="Times New Roman"/>
            </a:endParaRPr>
          </a:p>
          <a:p>
            <a:pPr marL="457200" marR="0" lvl="0" indent="-360045" algn="l" rtl="0">
              <a:lnSpc>
                <a:spcPct val="90000"/>
              </a:lnSpc>
              <a:spcBef>
                <a:spcPts val="0"/>
              </a:spcBef>
              <a:spcAft>
                <a:spcPts val="0"/>
              </a:spcAft>
              <a:buClr>
                <a:srgbClr val="0F0F0F"/>
              </a:buClr>
              <a:buSzPct val="100000"/>
              <a:buFont typeface="Times New Roman"/>
              <a:buChar char="●"/>
            </a:pPr>
            <a:r>
              <a:rPr lang="en-US" sz="2300">
                <a:latin typeface="Times New Roman"/>
                <a:ea typeface="Times New Roman"/>
                <a:cs typeface="Times New Roman"/>
                <a:sym typeface="Times New Roman"/>
              </a:rPr>
              <a:t>The binarized image produced from De-GAN serves as input for the CRAFT model, which generates a bounding box image and a mask image highlighting detected text regions. </a:t>
            </a:r>
            <a:endParaRPr sz="2300">
              <a:latin typeface="Times New Roman"/>
              <a:ea typeface="Times New Roman"/>
              <a:cs typeface="Times New Roman"/>
              <a:sym typeface="Times New Roman"/>
            </a:endParaRPr>
          </a:p>
          <a:p>
            <a:pPr marL="0" marR="0" lvl="0" indent="0" algn="l" rtl="0">
              <a:lnSpc>
                <a:spcPct val="90000"/>
              </a:lnSpc>
              <a:spcBef>
                <a:spcPts val="0"/>
              </a:spcBef>
              <a:spcAft>
                <a:spcPts val="0"/>
              </a:spcAft>
              <a:buNone/>
            </a:pPr>
            <a:endParaRPr sz="2300">
              <a:latin typeface="Times New Roman"/>
              <a:ea typeface="Times New Roman"/>
              <a:cs typeface="Times New Roman"/>
              <a:sym typeface="Times New Roman"/>
            </a:endParaRPr>
          </a:p>
          <a:p>
            <a:pPr marL="457200" marR="0" lvl="0" indent="-354330" algn="l" rtl="0">
              <a:lnSpc>
                <a:spcPct val="90000"/>
              </a:lnSpc>
              <a:spcBef>
                <a:spcPts val="0"/>
              </a:spcBef>
              <a:spcAft>
                <a:spcPts val="0"/>
              </a:spcAft>
              <a:buClr>
                <a:srgbClr val="0F0F0F"/>
              </a:buClr>
              <a:buSzPct val="95652"/>
              <a:buFont typeface="Roboto"/>
              <a:buChar char="●"/>
            </a:pPr>
            <a:r>
              <a:rPr lang="en-US" sz="2300">
                <a:latin typeface="Times New Roman"/>
                <a:ea typeface="Times New Roman"/>
                <a:cs typeface="Times New Roman"/>
                <a:sym typeface="Times New Roman"/>
              </a:rPr>
              <a:t>Additionally, a text file is created, containing coordinates detailing the position of bounding boxes.</a:t>
            </a:r>
            <a:br>
              <a:rPr lang="en-US" sz="2200" i="0" u="none" strike="noStrike" cap="none">
                <a:solidFill>
                  <a:srgbClr val="000000"/>
                </a:solidFill>
                <a:latin typeface="Times New Roman"/>
                <a:ea typeface="Times New Roman"/>
                <a:cs typeface="Times New Roman"/>
                <a:sym typeface="Times New Roman"/>
              </a:rPr>
            </a:br>
            <a:br>
              <a:rPr lang="en-US" sz="2200" i="0" u="none" strike="noStrike" cap="none">
                <a:solidFill>
                  <a:srgbClr val="000000"/>
                </a:solidFill>
                <a:latin typeface="Times New Roman"/>
                <a:ea typeface="Times New Roman"/>
                <a:cs typeface="Times New Roman"/>
                <a:sym typeface="Times New Roman"/>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endParaRPr sz="4400" b="0" i="0" u="none" strike="noStrike" cap="none">
              <a:solidFill>
                <a:srgbClr val="000000"/>
              </a:solidFill>
              <a:latin typeface="Calibri"/>
              <a:ea typeface="Calibri"/>
              <a:cs typeface="Calibri"/>
              <a:sym typeface="Calibri"/>
            </a:endParaRPr>
          </a:p>
        </p:txBody>
      </p:sp>
      <p:pic>
        <p:nvPicPr>
          <p:cNvPr id="134" name="Google Shape;134;p13" descr="Google Shape;238;g2476a7b157a_2_19"/>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135" name="Google Shape;135;p13"/>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lvl="0" indent="0" algn="ctr" rtl="0">
              <a:spcBef>
                <a:spcPts val="0"/>
              </a:spcBef>
              <a:spcAft>
                <a:spcPts val="0"/>
              </a:spcAft>
              <a:buClr>
                <a:schemeClr val="dk1"/>
              </a:buClr>
              <a:buSzPts val="2200"/>
              <a:buFont typeface="Arial Rounded"/>
              <a:buNone/>
            </a:pPr>
            <a:r>
              <a:rPr lang="en-US" sz="2200" b="1">
                <a:solidFill>
                  <a:schemeClr val="dk1"/>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136" name="Google Shape;136;p13"/>
          <p:cNvSpPr txBox="1"/>
          <p:nvPr/>
        </p:nvSpPr>
        <p:spPr>
          <a:xfrm>
            <a:off x="229174" y="1417849"/>
            <a:ext cx="11399400" cy="5232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1F2328"/>
              </a:buClr>
              <a:buSzPts val="2600"/>
              <a:buFont typeface="Times New Roman"/>
              <a:buNone/>
            </a:pPr>
            <a:r>
              <a:rPr lang="en-US" sz="2800" b="1">
                <a:solidFill>
                  <a:srgbClr val="1F2328"/>
                </a:solidFill>
                <a:latin typeface="Times New Roman"/>
                <a:ea typeface="Times New Roman"/>
                <a:cs typeface="Times New Roman"/>
                <a:sym typeface="Times New Roman"/>
              </a:rPr>
              <a:t>Implementation:</a:t>
            </a:r>
            <a:endParaRPr sz="2800" b="0" i="0" u="none" strike="noStrike" cap="none">
              <a:solidFill>
                <a:srgbClr val="000000"/>
              </a:solidFill>
              <a:latin typeface="Arial"/>
              <a:ea typeface="Arial"/>
              <a:cs typeface="Arial"/>
              <a:sym typeface="Arial"/>
            </a:endParaRPr>
          </a:p>
        </p:txBody>
      </p:sp>
      <p:sp>
        <p:nvSpPr>
          <p:cNvPr id="137" name="Google Shape;137;p13"/>
          <p:cNvSpPr txBox="1">
            <a:spLocks noGrp="1"/>
          </p:cNvSpPr>
          <p:nvPr>
            <p:ph type="sldNum" idx="12"/>
          </p:nvPr>
        </p:nvSpPr>
        <p:spPr>
          <a:xfrm>
            <a:off x="11095216" y="6414769"/>
            <a:ext cx="258584"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29ce8367354_2_10"/>
          <p:cNvSpPr txBox="1">
            <a:spLocks noGrp="1"/>
          </p:cNvSpPr>
          <p:nvPr>
            <p:ph type="ctrTitle" idx="4294967295"/>
          </p:nvPr>
        </p:nvSpPr>
        <p:spPr>
          <a:xfrm>
            <a:off x="66675" y="1210944"/>
            <a:ext cx="11969700" cy="5361300"/>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2700"/>
              <a:buFont typeface="Arial"/>
              <a:buNone/>
            </a:pP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r>
              <a:rPr lang="en-US" sz="2700" b="0" i="0" u="none" strike="noStrike" cap="none">
                <a:solidFill>
                  <a:srgbClr val="000000"/>
                </a:solidFill>
                <a:latin typeface="Arial"/>
                <a:ea typeface="Arial"/>
                <a:cs typeface="Arial"/>
                <a:sym typeface="Arial"/>
              </a:rPr>
              <a:t>           </a:t>
            </a:r>
            <a:r>
              <a:rPr lang="en-US" sz="2700">
                <a:latin typeface="Arial"/>
                <a:ea typeface="Arial"/>
                <a:cs typeface="Arial"/>
                <a:sym typeface="Arial"/>
              </a:rPr>
              <a:t> </a:t>
            </a:r>
            <a:r>
              <a:rPr lang="en-US" sz="2000" b="1">
                <a:latin typeface="Times New Roman"/>
                <a:ea typeface="Times New Roman"/>
                <a:cs typeface="Times New Roman"/>
                <a:sym typeface="Times New Roman"/>
              </a:rPr>
              <a:t>Fig 2:</a:t>
            </a:r>
            <a:r>
              <a:rPr lang="en-US" sz="2000">
                <a:latin typeface="Arial"/>
                <a:ea typeface="Arial"/>
                <a:cs typeface="Arial"/>
                <a:sym typeface="Arial"/>
              </a:rPr>
              <a:t> </a:t>
            </a:r>
            <a:r>
              <a:rPr lang="en-US" sz="2000" b="1">
                <a:latin typeface="Times New Roman"/>
                <a:ea typeface="Times New Roman"/>
                <a:cs typeface="Times New Roman"/>
                <a:sym typeface="Times New Roman"/>
              </a:rPr>
              <a:t>Original Image </a:t>
            </a:r>
            <a:r>
              <a:rPr lang="en-US" sz="2100" b="1">
                <a:latin typeface="Times New Roman"/>
                <a:ea typeface="Times New Roman"/>
                <a:cs typeface="Times New Roman"/>
                <a:sym typeface="Times New Roman"/>
              </a:rPr>
              <a:t>            Fig 3: Image After De-GAN       Fig 4: Image After CRAFT</a:t>
            </a:r>
            <a:endParaRPr sz="2100" b="1">
              <a:latin typeface="Times New Roman"/>
              <a:ea typeface="Times New Roman"/>
              <a:cs typeface="Times New Roman"/>
              <a:sym typeface="Times New Roman"/>
            </a:endParaRPr>
          </a:p>
        </p:txBody>
      </p:sp>
      <p:pic>
        <p:nvPicPr>
          <p:cNvPr id="143" name="Google Shape;143;g29ce8367354_2_10" descr="Google Shape;238;g2476a7b157a_2_19"/>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144" name="Google Shape;144;g29ce8367354_2_10"/>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lvl="0" indent="0" algn="ctr" rtl="0">
              <a:spcBef>
                <a:spcPts val="0"/>
              </a:spcBef>
              <a:spcAft>
                <a:spcPts val="0"/>
              </a:spcAft>
              <a:buClr>
                <a:schemeClr val="dk1"/>
              </a:buClr>
              <a:buSzPts val="2200"/>
              <a:buFont typeface="Arial Rounded"/>
              <a:buNone/>
            </a:pPr>
            <a:r>
              <a:rPr lang="en-US" sz="2200" b="1">
                <a:solidFill>
                  <a:schemeClr val="dk1"/>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145" name="Google Shape;145;g29ce8367354_2_10"/>
          <p:cNvSpPr txBox="1"/>
          <p:nvPr/>
        </p:nvSpPr>
        <p:spPr>
          <a:xfrm>
            <a:off x="229174" y="1275574"/>
            <a:ext cx="11399400" cy="5232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1F2328"/>
              </a:buClr>
              <a:buSzPts val="2600"/>
              <a:buFont typeface="Times New Roman"/>
              <a:buNone/>
            </a:pPr>
            <a:r>
              <a:rPr lang="en-US" sz="2800" b="1">
                <a:solidFill>
                  <a:srgbClr val="1F2328"/>
                </a:solidFill>
                <a:latin typeface="Times New Roman"/>
                <a:ea typeface="Times New Roman"/>
                <a:cs typeface="Times New Roman"/>
                <a:sym typeface="Times New Roman"/>
              </a:rPr>
              <a:t>Execution</a:t>
            </a:r>
            <a:r>
              <a:rPr lang="en-US" sz="2800" b="1" i="0" u="none" strike="noStrike" cap="none">
                <a:solidFill>
                  <a:srgbClr val="1F2328"/>
                </a:solidFill>
                <a:latin typeface="Times New Roman"/>
                <a:ea typeface="Times New Roman"/>
                <a:cs typeface="Times New Roman"/>
                <a:sym typeface="Times New Roman"/>
              </a:rPr>
              <a:t>:</a:t>
            </a:r>
            <a:endParaRPr sz="2800" b="0" i="0" u="none" strike="noStrike" cap="none">
              <a:solidFill>
                <a:srgbClr val="000000"/>
              </a:solidFill>
              <a:latin typeface="Arial"/>
              <a:ea typeface="Arial"/>
              <a:cs typeface="Arial"/>
              <a:sym typeface="Arial"/>
            </a:endParaRPr>
          </a:p>
        </p:txBody>
      </p:sp>
      <p:sp>
        <p:nvSpPr>
          <p:cNvPr id="146" name="Google Shape;146;g29ce8367354_2_10"/>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10</a:t>
            </a:fld>
            <a:endParaRPr/>
          </a:p>
        </p:txBody>
      </p:sp>
      <p:pic>
        <p:nvPicPr>
          <p:cNvPr id="147" name="Google Shape;147;g29ce8367354_2_10"/>
          <p:cNvPicPr preferRelativeResize="0"/>
          <p:nvPr/>
        </p:nvPicPr>
        <p:blipFill>
          <a:blip r:embed="rId4">
            <a:alphaModFix/>
          </a:blip>
          <a:stretch>
            <a:fillRect/>
          </a:stretch>
        </p:blipFill>
        <p:spPr>
          <a:xfrm>
            <a:off x="4476400" y="2117875"/>
            <a:ext cx="3150249" cy="3194950"/>
          </a:xfrm>
          <a:prstGeom prst="rect">
            <a:avLst/>
          </a:prstGeom>
          <a:noFill/>
          <a:ln>
            <a:noFill/>
          </a:ln>
        </p:spPr>
      </p:pic>
      <p:pic>
        <p:nvPicPr>
          <p:cNvPr id="148" name="Google Shape;148;g29ce8367354_2_10"/>
          <p:cNvPicPr preferRelativeResize="0"/>
          <p:nvPr/>
        </p:nvPicPr>
        <p:blipFill>
          <a:blip r:embed="rId5">
            <a:alphaModFix/>
          </a:blip>
          <a:stretch>
            <a:fillRect/>
          </a:stretch>
        </p:blipFill>
        <p:spPr>
          <a:xfrm>
            <a:off x="8047225" y="2117875"/>
            <a:ext cx="3150250" cy="3194950"/>
          </a:xfrm>
          <a:prstGeom prst="rect">
            <a:avLst/>
          </a:prstGeom>
          <a:noFill/>
          <a:ln>
            <a:noFill/>
          </a:ln>
        </p:spPr>
      </p:pic>
      <p:pic>
        <p:nvPicPr>
          <p:cNvPr id="149" name="Google Shape;149;g29ce8367354_2_10"/>
          <p:cNvPicPr preferRelativeResize="0"/>
          <p:nvPr/>
        </p:nvPicPr>
        <p:blipFill>
          <a:blip r:embed="rId6">
            <a:alphaModFix/>
          </a:blip>
          <a:stretch>
            <a:fillRect/>
          </a:stretch>
        </p:blipFill>
        <p:spPr>
          <a:xfrm>
            <a:off x="831075" y="2117875"/>
            <a:ext cx="3150250" cy="319495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29ce8367354_2_19"/>
          <p:cNvSpPr txBox="1">
            <a:spLocks noGrp="1"/>
          </p:cNvSpPr>
          <p:nvPr>
            <p:ph type="ctrTitle" idx="4294967295"/>
          </p:nvPr>
        </p:nvSpPr>
        <p:spPr>
          <a:xfrm>
            <a:off x="111150" y="1301919"/>
            <a:ext cx="11969700" cy="5361300"/>
          </a:xfrm>
          <a:prstGeom prst="rect">
            <a:avLst/>
          </a:prstGeom>
          <a:noFill/>
          <a:ln>
            <a:noFill/>
          </a:ln>
        </p:spPr>
        <p:txBody>
          <a:bodyPr spcFirstLastPara="1" wrap="square" lIns="45675" tIns="45675" rIns="45675" bIns="45675" anchor="t" anchorCtr="0">
            <a:normAutofit fontScale="90000"/>
          </a:bodyPr>
          <a:lstStyle/>
          <a:p>
            <a:pPr marL="0" marR="0" lvl="0" indent="0" algn="l" rtl="0">
              <a:lnSpc>
                <a:spcPct val="90000"/>
              </a:lnSpc>
              <a:spcBef>
                <a:spcPts val="0"/>
              </a:spcBef>
              <a:spcAft>
                <a:spcPts val="0"/>
              </a:spcAft>
              <a:buClr>
                <a:srgbClr val="000000"/>
              </a:buClr>
              <a:buSzPct val="100000"/>
              <a:buFont typeface="Arial"/>
              <a:buNone/>
            </a:pP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19704"/>
              <a:buFont typeface="Arial"/>
              <a:buNone/>
            </a:pPr>
            <a:r>
              <a:rPr lang="en-US" sz="2255">
                <a:latin typeface="Arial"/>
                <a:ea typeface="Arial"/>
                <a:cs typeface="Arial"/>
                <a:sym typeface="Arial"/>
              </a:rPr>
              <a:t>                                 </a:t>
            </a:r>
            <a:r>
              <a:rPr lang="en-US" sz="2255" b="1">
                <a:latin typeface="Times New Roman"/>
                <a:ea typeface="Times New Roman"/>
                <a:cs typeface="Times New Roman"/>
                <a:sym typeface="Times New Roman"/>
              </a:rPr>
              <a:t> Fig 5 Automated Annotation System Use Case Diagram</a:t>
            </a:r>
            <a:endParaRPr sz="2255" b="1">
              <a:latin typeface="Times New Roman"/>
              <a:ea typeface="Times New Roman"/>
              <a:cs typeface="Times New Roman"/>
              <a:sym typeface="Times New Roman"/>
            </a:endParaRPr>
          </a:p>
        </p:txBody>
      </p:sp>
      <p:pic>
        <p:nvPicPr>
          <p:cNvPr id="155" name="Google Shape;155;g29ce8367354_2_19" descr="Google Shape;238;g2476a7b157a_2_19"/>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156" name="Google Shape;156;g29ce8367354_2_19"/>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lvl="0" indent="0" algn="ctr" rtl="0">
              <a:spcBef>
                <a:spcPts val="0"/>
              </a:spcBef>
              <a:spcAft>
                <a:spcPts val="0"/>
              </a:spcAft>
              <a:buClr>
                <a:schemeClr val="dk1"/>
              </a:buClr>
              <a:buSzPts val="2200"/>
              <a:buFont typeface="Arial Rounded"/>
              <a:buNone/>
            </a:pPr>
            <a:r>
              <a:rPr lang="en-US" sz="2200" b="1">
                <a:solidFill>
                  <a:schemeClr val="dk1"/>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157" name="Google Shape;157;g29ce8367354_2_19"/>
          <p:cNvSpPr txBox="1"/>
          <p:nvPr/>
        </p:nvSpPr>
        <p:spPr>
          <a:xfrm>
            <a:off x="200724" y="1210949"/>
            <a:ext cx="11399400" cy="5232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1F2328"/>
              </a:buClr>
              <a:buSzPts val="2600"/>
              <a:buFont typeface="Times New Roman"/>
              <a:buNone/>
            </a:pPr>
            <a:r>
              <a:rPr lang="en-US" sz="2800" b="1" i="0" u="none" strike="noStrike" cap="none">
                <a:solidFill>
                  <a:srgbClr val="1F2328"/>
                </a:solidFill>
                <a:latin typeface="Times New Roman"/>
                <a:ea typeface="Times New Roman"/>
                <a:cs typeface="Times New Roman"/>
                <a:sym typeface="Times New Roman"/>
              </a:rPr>
              <a:t>Use Case Diagram:</a:t>
            </a:r>
            <a:endParaRPr sz="2800" b="0" i="0" u="none" strike="noStrike" cap="none">
              <a:solidFill>
                <a:srgbClr val="000000"/>
              </a:solidFill>
              <a:latin typeface="Arial"/>
              <a:ea typeface="Arial"/>
              <a:cs typeface="Arial"/>
              <a:sym typeface="Arial"/>
            </a:endParaRPr>
          </a:p>
        </p:txBody>
      </p:sp>
      <p:sp>
        <p:nvSpPr>
          <p:cNvPr id="158" name="Google Shape;158;g29ce8367354_2_19"/>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11</a:t>
            </a:fld>
            <a:endParaRPr/>
          </a:p>
        </p:txBody>
      </p:sp>
      <p:pic>
        <p:nvPicPr>
          <p:cNvPr id="159" name="Google Shape;159;g29ce8367354_2_19"/>
          <p:cNvPicPr preferRelativeResize="0"/>
          <p:nvPr/>
        </p:nvPicPr>
        <p:blipFill rotWithShape="1">
          <a:blip r:embed="rId4">
            <a:alphaModFix/>
          </a:blip>
          <a:srcRect/>
          <a:stretch/>
        </p:blipFill>
        <p:spPr>
          <a:xfrm>
            <a:off x="2777350" y="1734675"/>
            <a:ext cx="5862025" cy="4495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4"/>
          <p:cNvSpPr txBox="1">
            <a:spLocks noGrp="1"/>
          </p:cNvSpPr>
          <p:nvPr>
            <p:ph type="ctrTitle" idx="4294967295"/>
          </p:nvPr>
        </p:nvSpPr>
        <p:spPr>
          <a:xfrm>
            <a:off x="66675" y="1210944"/>
            <a:ext cx="11969700" cy="5361302"/>
          </a:xfrm>
          <a:prstGeom prst="rect">
            <a:avLst/>
          </a:prstGeom>
          <a:noFill/>
          <a:ln>
            <a:noFill/>
          </a:ln>
        </p:spPr>
        <p:txBody>
          <a:bodyPr spcFirstLastPara="1" wrap="square" lIns="45675" tIns="45675" rIns="45675" bIns="45675" anchor="t" anchorCtr="0">
            <a:normAutofit fontScale="90000"/>
          </a:bodyPr>
          <a:lstStyle/>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r>
              <a:rPr lang="en-US" sz="2700">
                <a:latin typeface="Arial"/>
                <a:ea typeface="Arial"/>
                <a:cs typeface="Arial"/>
                <a:sym typeface="Arial"/>
              </a:rPr>
              <a:t>                             </a:t>
            </a:r>
            <a:r>
              <a:rPr lang="en-US" sz="2200" b="1">
                <a:latin typeface="Times New Roman"/>
                <a:ea typeface="Times New Roman"/>
                <a:cs typeface="Times New Roman"/>
                <a:sym typeface="Times New Roman"/>
              </a:rPr>
              <a:t>Fig 6: </a:t>
            </a:r>
            <a:r>
              <a:rPr lang="en-US" sz="2200" b="1">
                <a:solidFill>
                  <a:schemeClr val="dk1"/>
                </a:solidFill>
                <a:latin typeface="Times New Roman"/>
                <a:ea typeface="Times New Roman"/>
                <a:cs typeface="Times New Roman"/>
                <a:sym typeface="Times New Roman"/>
              </a:rPr>
              <a:t>Automated Annotation System Data Flow Diagram</a:t>
            </a:r>
            <a:r>
              <a:rPr lang="en-US" sz="2200" b="1">
                <a:latin typeface="Times New Roman"/>
                <a:ea typeface="Times New Roman"/>
                <a:cs typeface="Times New Roman"/>
                <a:sym typeface="Times New Roman"/>
              </a:rPr>
              <a:t> </a:t>
            </a:r>
            <a:endParaRPr sz="2200" b="1">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ct val="100000"/>
              <a:buFont typeface="Arial"/>
              <a:buNone/>
            </a:pP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endParaRPr sz="4400" b="0" i="0" u="none" strike="noStrike" cap="none">
              <a:solidFill>
                <a:srgbClr val="000000"/>
              </a:solidFill>
              <a:latin typeface="Calibri"/>
              <a:ea typeface="Calibri"/>
              <a:cs typeface="Calibri"/>
              <a:sym typeface="Calibri"/>
            </a:endParaRPr>
          </a:p>
        </p:txBody>
      </p:sp>
      <p:pic>
        <p:nvPicPr>
          <p:cNvPr id="165" name="Google Shape;165;p14" descr="Google Shape;226;g2476a7b157a_2_8"/>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166" name="Google Shape;166;p14"/>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lvl="0" indent="0" algn="ctr" rtl="0">
              <a:spcBef>
                <a:spcPts val="0"/>
              </a:spcBef>
              <a:spcAft>
                <a:spcPts val="0"/>
              </a:spcAft>
              <a:buClr>
                <a:schemeClr val="dk1"/>
              </a:buClr>
              <a:buSzPts val="2200"/>
              <a:buFont typeface="Arial Rounded"/>
              <a:buNone/>
            </a:pPr>
            <a:r>
              <a:rPr lang="en-US" sz="2200" b="1">
                <a:solidFill>
                  <a:schemeClr val="dk1"/>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167" name="Google Shape;167;p14"/>
          <p:cNvSpPr txBox="1"/>
          <p:nvPr/>
        </p:nvSpPr>
        <p:spPr>
          <a:xfrm>
            <a:off x="214924" y="1210424"/>
            <a:ext cx="11399400" cy="5232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1F2328"/>
              </a:buClr>
              <a:buSzPts val="2600"/>
              <a:buFont typeface="Times New Roman"/>
              <a:buNone/>
            </a:pPr>
            <a:r>
              <a:rPr lang="en-US" sz="2800" b="1" i="0" u="none" strike="noStrike" cap="none">
                <a:solidFill>
                  <a:srgbClr val="1F2328"/>
                </a:solidFill>
                <a:latin typeface="Times New Roman"/>
                <a:ea typeface="Times New Roman"/>
                <a:cs typeface="Times New Roman"/>
                <a:sym typeface="Times New Roman"/>
              </a:rPr>
              <a:t>Data Flow Diagram:</a:t>
            </a:r>
            <a:endParaRPr sz="1600" b="0" i="0" u="none" strike="noStrike" cap="none">
              <a:solidFill>
                <a:srgbClr val="000000"/>
              </a:solidFill>
              <a:latin typeface="Arial"/>
              <a:ea typeface="Arial"/>
              <a:cs typeface="Arial"/>
              <a:sym typeface="Arial"/>
            </a:endParaRPr>
          </a:p>
        </p:txBody>
      </p:sp>
      <p:sp>
        <p:nvSpPr>
          <p:cNvPr id="168" name="Google Shape;168;p14"/>
          <p:cNvSpPr txBox="1">
            <a:spLocks noGrp="1"/>
          </p:cNvSpPr>
          <p:nvPr>
            <p:ph type="sldNum" idx="12"/>
          </p:nvPr>
        </p:nvSpPr>
        <p:spPr>
          <a:xfrm>
            <a:off x="11095216" y="6414769"/>
            <a:ext cx="258584"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12</a:t>
            </a:fld>
            <a:endParaRPr/>
          </a:p>
        </p:txBody>
      </p:sp>
      <p:pic>
        <p:nvPicPr>
          <p:cNvPr id="169" name="Google Shape;169;p14"/>
          <p:cNvPicPr preferRelativeResize="0"/>
          <p:nvPr/>
        </p:nvPicPr>
        <p:blipFill rotWithShape="1">
          <a:blip r:embed="rId4">
            <a:alphaModFix/>
          </a:blip>
          <a:srcRect/>
          <a:stretch/>
        </p:blipFill>
        <p:spPr>
          <a:xfrm>
            <a:off x="2706200" y="1733625"/>
            <a:ext cx="6160825" cy="4496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29ce8367354_0_10"/>
          <p:cNvSpPr txBox="1">
            <a:spLocks noGrp="1"/>
          </p:cNvSpPr>
          <p:nvPr>
            <p:ph type="ctrTitle" idx="4294967295"/>
          </p:nvPr>
        </p:nvSpPr>
        <p:spPr>
          <a:xfrm>
            <a:off x="66675" y="1210950"/>
            <a:ext cx="11998200" cy="6078000"/>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2700"/>
              <a:buFont typeface="Arial"/>
              <a:buNone/>
            </a:pPr>
            <a:r>
              <a:rPr lang="en-US" sz="2700">
                <a:latin typeface="Arial"/>
                <a:ea typeface="Arial"/>
                <a:cs typeface="Arial"/>
                <a:sym typeface="Arial"/>
              </a:rPr>
              <a:t>  </a:t>
            </a: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endParaRPr sz="4400" b="0" i="0" u="none" strike="noStrike" cap="none">
              <a:solidFill>
                <a:srgbClr val="000000"/>
              </a:solidFill>
              <a:latin typeface="Calibri"/>
              <a:ea typeface="Calibri"/>
              <a:cs typeface="Calibri"/>
              <a:sym typeface="Calibri"/>
            </a:endParaRPr>
          </a:p>
        </p:txBody>
      </p:sp>
      <p:pic>
        <p:nvPicPr>
          <p:cNvPr id="175" name="Google Shape;175;g29ce8367354_0_10" descr="Google Shape;226;g2476a7b157a_2_8"/>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176" name="Google Shape;176;g29ce8367354_0_10"/>
          <p:cNvSpPr txBox="1"/>
          <p:nvPr/>
        </p:nvSpPr>
        <p:spPr>
          <a:xfrm>
            <a:off x="1331800" y="102224"/>
            <a:ext cx="10659000" cy="14469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lvl="0" indent="0" algn="ctr" rtl="0">
              <a:spcBef>
                <a:spcPts val="0"/>
              </a:spcBef>
              <a:spcAft>
                <a:spcPts val="0"/>
              </a:spcAft>
              <a:buClr>
                <a:schemeClr val="dk1"/>
              </a:buClr>
              <a:buSzPts val="2200"/>
              <a:buFont typeface="Arial Rounded"/>
              <a:buNone/>
            </a:pPr>
            <a:r>
              <a:rPr lang="en-US" sz="2200" b="1">
                <a:solidFill>
                  <a:schemeClr val="dk1"/>
                </a:solidFill>
                <a:latin typeface="Arial Rounded"/>
                <a:ea typeface="Arial Rounded"/>
                <a:cs typeface="Arial Rounded"/>
                <a:sym typeface="Arial Rounded"/>
              </a:rPr>
              <a:t>MAJOR Project Final Review</a:t>
            </a:r>
            <a:endParaRPr sz="1400" b="0" i="0" u="none" strike="noStrike" cap="none">
              <a:solidFill>
                <a:srgbClr val="000000"/>
              </a:solidFill>
              <a:latin typeface="Arial"/>
              <a:ea typeface="Arial"/>
              <a:cs typeface="Arial"/>
              <a:sym typeface="Arial"/>
            </a:endParaRPr>
          </a:p>
        </p:txBody>
      </p:sp>
      <p:sp>
        <p:nvSpPr>
          <p:cNvPr id="177" name="Google Shape;177;g29ce8367354_0_10"/>
          <p:cNvSpPr txBox="1"/>
          <p:nvPr/>
        </p:nvSpPr>
        <p:spPr>
          <a:xfrm>
            <a:off x="229174" y="1417849"/>
            <a:ext cx="11399400" cy="3078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1F2328"/>
              </a:buClr>
              <a:buSzPts val="2600"/>
              <a:buFont typeface="Times New Roman"/>
              <a:buNone/>
            </a:pPr>
            <a:endParaRPr sz="1400" b="0" i="0" u="none" strike="noStrike" cap="none">
              <a:solidFill>
                <a:srgbClr val="000000"/>
              </a:solidFill>
              <a:latin typeface="Arial"/>
              <a:ea typeface="Arial"/>
              <a:cs typeface="Arial"/>
              <a:sym typeface="Arial"/>
            </a:endParaRPr>
          </a:p>
        </p:txBody>
      </p:sp>
      <p:sp>
        <p:nvSpPr>
          <p:cNvPr id="178" name="Google Shape;178;g29ce8367354_0_10"/>
          <p:cNvSpPr txBox="1">
            <a:spLocks noGrp="1"/>
          </p:cNvSpPr>
          <p:nvPr>
            <p:ph type="sldNum" idx="12"/>
          </p:nvPr>
        </p:nvSpPr>
        <p:spPr>
          <a:xfrm>
            <a:off x="11095216" y="6414782"/>
            <a:ext cx="258600" cy="276900"/>
          </a:xfrm>
          <a:prstGeom prst="rect">
            <a:avLst/>
          </a:prstGeom>
          <a:noFill/>
          <a:ln>
            <a:noFill/>
          </a:ln>
        </p:spPr>
        <p:txBody>
          <a:bodyPr spcFirstLastPara="1" wrap="square" lIns="45675" tIns="45675" rIns="45675" bIns="45675"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en-US"/>
              <a:t>13</a:t>
            </a:fld>
            <a:endParaRPr/>
          </a:p>
        </p:txBody>
      </p:sp>
      <p:sp>
        <p:nvSpPr>
          <p:cNvPr id="179" name="Google Shape;179;g29ce8367354_0_10"/>
          <p:cNvSpPr txBox="1">
            <a:spLocks noGrp="1"/>
          </p:cNvSpPr>
          <p:nvPr>
            <p:ph type="title"/>
          </p:nvPr>
        </p:nvSpPr>
        <p:spPr>
          <a:xfrm>
            <a:off x="768650" y="1144600"/>
            <a:ext cx="3932100" cy="706800"/>
          </a:xfrm>
          <a:prstGeom prst="rect">
            <a:avLst/>
          </a:prstGeom>
        </p:spPr>
        <p:txBody>
          <a:bodyPr spcFirstLastPara="1" wrap="square" lIns="45675" tIns="45675" rIns="45675" bIns="45675" anchor="b" anchorCtr="0">
            <a:normAutofit/>
          </a:bodyPr>
          <a:lstStyle/>
          <a:p>
            <a:pPr marL="0" lvl="0" indent="0" algn="l" rtl="0">
              <a:spcBef>
                <a:spcPts val="0"/>
              </a:spcBef>
              <a:spcAft>
                <a:spcPts val="0"/>
              </a:spcAft>
              <a:buNone/>
            </a:pPr>
            <a:r>
              <a:rPr lang="en-US" sz="2800" b="1">
                <a:latin typeface="Times New Roman"/>
                <a:ea typeface="Times New Roman"/>
                <a:cs typeface="Times New Roman"/>
                <a:sym typeface="Times New Roman"/>
              </a:rPr>
              <a:t>Scope Limitations:</a:t>
            </a:r>
            <a:endParaRPr sz="2800" b="1">
              <a:latin typeface="Times New Roman"/>
              <a:ea typeface="Times New Roman"/>
              <a:cs typeface="Times New Roman"/>
              <a:sym typeface="Times New Roman"/>
            </a:endParaRPr>
          </a:p>
        </p:txBody>
      </p:sp>
      <p:sp>
        <p:nvSpPr>
          <p:cNvPr id="180" name="Google Shape;180;g29ce8367354_0_10"/>
          <p:cNvSpPr txBox="1">
            <a:spLocks noGrp="1"/>
          </p:cNvSpPr>
          <p:nvPr>
            <p:ph type="body" idx="1"/>
          </p:nvPr>
        </p:nvSpPr>
        <p:spPr>
          <a:xfrm>
            <a:off x="839787" y="2057400"/>
            <a:ext cx="3932100" cy="3811500"/>
          </a:xfrm>
          <a:prstGeom prst="rect">
            <a:avLst/>
          </a:prstGeom>
        </p:spPr>
        <p:txBody>
          <a:bodyPr spcFirstLastPara="1" wrap="square" lIns="45675" tIns="45675" rIns="45675" bIns="45675" anchor="t" anchorCtr="0">
            <a:noAutofit/>
          </a:bodyPr>
          <a:lstStyle/>
          <a:p>
            <a:pPr marL="457200" lvl="0" indent="-361950" algn="l" rtl="0">
              <a:lnSpc>
                <a:spcPct val="80000"/>
              </a:lnSpc>
              <a:spcBef>
                <a:spcPts val="1000"/>
              </a:spcBef>
              <a:spcAft>
                <a:spcPts val="0"/>
              </a:spcAft>
              <a:buClr>
                <a:srgbClr val="0F0F0F"/>
              </a:buClr>
              <a:buSzPts val="2100"/>
              <a:buFont typeface="Times New Roman"/>
              <a:buChar char="●"/>
            </a:pPr>
            <a:r>
              <a:rPr lang="en-US" sz="2100">
                <a:solidFill>
                  <a:srgbClr val="0F0F0F"/>
                </a:solidFill>
                <a:latin typeface="Times New Roman"/>
                <a:ea typeface="Times New Roman"/>
                <a:cs typeface="Times New Roman"/>
                <a:sym typeface="Times New Roman"/>
              </a:rPr>
              <a:t>If the document text images are subjected to filters or image enhancements, the recognition process may be impeded.</a:t>
            </a:r>
            <a:endParaRPr sz="2100">
              <a:solidFill>
                <a:srgbClr val="0F0F0F"/>
              </a:solidFill>
              <a:latin typeface="Times New Roman"/>
              <a:ea typeface="Times New Roman"/>
              <a:cs typeface="Times New Roman"/>
              <a:sym typeface="Times New Roman"/>
            </a:endParaRPr>
          </a:p>
          <a:p>
            <a:pPr marL="457200" lvl="0" indent="-361950" algn="l" rtl="0">
              <a:lnSpc>
                <a:spcPct val="80000"/>
              </a:lnSpc>
              <a:spcBef>
                <a:spcPts val="0"/>
              </a:spcBef>
              <a:spcAft>
                <a:spcPts val="0"/>
              </a:spcAft>
              <a:buClr>
                <a:srgbClr val="0F0F0F"/>
              </a:buClr>
              <a:buSzPts val="2100"/>
              <a:buFont typeface="Times New Roman"/>
              <a:buChar char="●"/>
            </a:pPr>
            <a:r>
              <a:rPr lang="en-US" sz="2100">
                <a:solidFill>
                  <a:srgbClr val="0F0F0F"/>
                </a:solidFill>
                <a:latin typeface="Times New Roman"/>
                <a:ea typeface="Times New Roman"/>
                <a:cs typeface="Times New Roman"/>
                <a:sym typeface="Times New Roman"/>
              </a:rPr>
              <a:t>Recognition difficulties arise when the text in the document lacks sufficient spacing and is densely packed, making cleaning and generating bounding boxes challenging as shown in fig 7.</a:t>
            </a:r>
            <a:endParaRPr sz="2100">
              <a:solidFill>
                <a:srgbClr val="0F0F0F"/>
              </a:solidFill>
              <a:latin typeface="Times New Roman"/>
              <a:ea typeface="Times New Roman"/>
              <a:cs typeface="Times New Roman"/>
              <a:sym typeface="Times New Roman"/>
            </a:endParaRPr>
          </a:p>
          <a:p>
            <a:pPr marL="457200" lvl="0" indent="-361950" algn="l" rtl="0">
              <a:lnSpc>
                <a:spcPct val="80000"/>
              </a:lnSpc>
              <a:spcBef>
                <a:spcPts val="0"/>
              </a:spcBef>
              <a:spcAft>
                <a:spcPts val="0"/>
              </a:spcAft>
              <a:buClr>
                <a:srgbClr val="0F0F0F"/>
              </a:buClr>
              <a:buSzPts val="2100"/>
              <a:buFont typeface="Times New Roman"/>
              <a:buChar char="●"/>
            </a:pPr>
            <a:r>
              <a:rPr lang="en-US" sz="2100">
                <a:solidFill>
                  <a:srgbClr val="0F0F0F"/>
                </a:solidFill>
                <a:latin typeface="Times New Roman"/>
                <a:ea typeface="Times New Roman"/>
                <a:cs typeface="Times New Roman"/>
                <a:sym typeface="Times New Roman"/>
              </a:rPr>
              <a:t>The model faces challenges when processing text containing special characters, such as question marks or numbers, as recognition may be hindered.</a:t>
            </a:r>
            <a:endParaRPr sz="1700">
              <a:latin typeface="Times New Roman"/>
              <a:ea typeface="Times New Roman"/>
              <a:cs typeface="Times New Roman"/>
              <a:sym typeface="Times New Roman"/>
            </a:endParaRPr>
          </a:p>
        </p:txBody>
      </p:sp>
      <p:pic>
        <p:nvPicPr>
          <p:cNvPr id="181" name="Google Shape;181;g29ce8367354_0_10"/>
          <p:cNvPicPr preferRelativeResize="0">
            <a:picLocks noGrp="1"/>
          </p:cNvPicPr>
          <p:nvPr>
            <p:ph type="pic" idx="2"/>
          </p:nvPr>
        </p:nvPicPr>
        <p:blipFill rotWithShape="1">
          <a:blip r:embed="rId4">
            <a:alphaModFix/>
          </a:blip>
          <a:srcRect l="-1339" t="50002" r="1339" b="1033"/>
          <a:stretch/>
        </p:blipFill>
        <p:spPr>
          <a:xfrm>
            <a:off x="6231925" y="2155488"/>
            <a:ext cx="4043675" cy="3615324"/>
          </a:xfrm>
          <a:prstGeom prst="rect">
            <a:avLst/>
          </a:prstGeom>
        </p:spPr>
      </p:pic>
      <p:sp>
        <p:nvSpPr>
          <p:cNvPr id="182" name="Google Shape;182;g29ce8367354_0_10"/>
          <p:cNvSpPr txBox="1"/>
          <p:nvPr/>
        </p:nvSpPr>
        <p:spPr>
          <a:xfrm>
            <a:off x="6098525" y="5770800"/>
            <a:ext cx="5715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latin typeface="Calibri"/>
                <a:ea typeface="Calibri"/>
                <a:cs typeface="Calibri"/>
                <a:sym typeface="Calibri"/>
              </a:rPr>
              <a:t>            </a:t>
            </a:r>
            <a:r>
              <a:rPr lang="en-US" sz="2000" b="1">
                <a:latin typeface="Times New Roman"/>
                <a:ea typeface="Times New Roman"/>
                <a:cs typeface="Times New Roman"/>
                <a:sym typeface="Times New Roman"/>
              </a:rPr>
              <a:t>Fig 7: Example Image</a:t>
            </a:r>
            <a:endParaRPr sz="2000" b="1">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29ce8367354_2_32"/>
          <p:cNvSpPr txBox="1"/>
          <p:nvPr/>
        </p:nvSpPr>
        <p:spPr>
          <a:xfrm>
            <a:off x="233674" y="2349949"/>
            <a:ext cx="11399400" cy="7080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p:txBody>
      </p:sp>
      <p:pic>
        <p:nvPicPr>
          <p:cNvPr id="188" name="Google Shape;188;g29ce8367354_2_32" descr="Google Shape;260;p17"/>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189" name="Google Shape;189;g29ce8367354_2_32"/>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a:t>
            </a:r>
            <a:r>
              <a:rPr lang="en-US" sz="2200" b="1">
                <a:latin typeface="Arial Rounded"/>
                <a:ea typeface="Arial Rounded"/>
                <a:cs typeface="Arial Rounded"/>
                <a:sym typeface="Arial Rounded"/>
              </a:rPr>
              <a:t>g</a:t>
            </a:r>
            <a:endParaRPr sz="2200" b="1">
              <a:latin typeface="Arial Rounded"/>
              <a:ea typeface="Arial Rounded"/>
              <a:cs typeface="Arial Rounded"/>
              <a:sym typeface="Arial Rounded"/>
            </a:endParaRPr>
          </a:p>
          <a:p>
            <a:pPr marL="0" lvl="0" indent="0" algn="l" rtl="0">
              <a:spcBef>
                <a:spcPts val="0"/>
              </a:spcBef>
              <a:spcAft>
                <a:spcPts val="0"/>
              </a:spcAft>
              <a:buClr>
                <a:schemeClr val="dk1"/>
              </a:buClr>
              <a:buSzPts val="2200"/>
              <a:buFont typeface="Arial Rounded"/>
              <a:buNone/>
            </a:pPr>
            <a:r>
              <a:rPr lang="en-US">
                <a:solidFill>
                  <a:schemeClr val="dk1"/>
                </a:solidFill>
              </a:rPr>
              <a:t>                                                               </a:t>
            </a:r>
            <a:r>
              <a:rPr lang="en-US" sz="2200" b="1">
                <a:solidFill>
                  <a:schemeClr val="dk1"/>
                </a:solidFill>
                <a:latin typeface="Arial Rounded"/>
                <a:ea typeface="Arial Rounded"/>
                <a:cs typeface="Arial Rounded"/>
                <a:sym typeface="Arial Rounded"/>
              </a:rPr>
              <a:t>MAJOR Project Final Review</a:t>
            </a:r>
            <a:endParaRPr sz="2200" b="1">
              <a:latin typeface="Arial Rounded"/>
              <a:ea typeface="Arial Rounded"/>
              <a:cs typeface="Arial Rounded"/>
              <a:sym typeface="Arial Rounded"/>
            </a:endParaRPr>
          </a:p>
        </p:txBody>
      </p:sp>
      <p:sp>
        <p:nvSpPr>
          <p:cNvPr id="190" name="Google Shape;190;g29ce8367354_2_32"/>
          <p:cNvSpPr txBox="1"/>
          <p:nvPr/>
        </p:nvSpPr>
        <p:spPr>
          <a:xfrm>
            <a:off x="182860" y="826774"/>
            <a:ext cx="11826300" cy="90969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Times New Roman"/>
              <a:buNone/>
            </a:pPr>
            <a:endParaRPr sz="2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References</a:t>
            </a:r>
            <a:r>
              <a:rPr lang="en-US" sz="2800" b="1" i="0" u="none" strike="noStrike" cap="none">
                <a:solidFill>
                  <a:srgbClr val="000000"/>
                </a:solidFill>
                <a:latin typeface="Arial"/>
                <a:ea typeface="Arial"/>
                <a:cs typeface="Arial"/>
                <a:sym typeface="Arial"/>
              </a:rPr>
              <a:t>:</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Times New Roman"/>
              <a:buNone/>
            </a:pPr>
            <a:endParaRPr sz="2800"/>
          </a:p>
          <a:p>
            <a:pPr marL="0" lvl="0" indent="0" algn="l" rtl="0">
              <a:lnSpc>
                <a:spcPct val="115000"/>
              </a:lnSpc>
              <a:spcBef>
                <a:spcPts val="0"/>
              </a:spcBef>
              <a:spcAft>
                <a:spcPts val="0"/>
              </a:spcAft>
              <a:buClr>
                <a:schemeClr val="dk1"/>
              </a:buClr>
              <a:buSzPts val="1100"/>
              <a:buFont typeface="Arial"/>
              <a:buNone/>
            </a:pPr>
            <a:r>
              <a:rPr lang="en-US" sz="2100">
                <a:solidFill>
                  <a:srgbClr val="1F1F1F"/>
                </a:solidFill>
                <a:highlight>
                  <a:srgbClr val="FFFFFF"/>
                </a:highlight>
                <a:latin typeface="Times New Roman"/>
                <a:ea typeface="Times New Roman"/>
                <a:cs typeface="Times New Roman"/>
                <a:sym typeface="Times New Roman"/>
              </a:rPr>
              <a:t>1.  Marti, U-V., and Horst Bunke. "The IAM-database: an English sentence database for offline handwriting recognition." International Journal on Document Analysis and Recognition 5 (2002): 39-46.</a:t>
            </a:r>
            <a:endParaRPr sz="2100">
              <a:solidFill>
                <a:srgbClr val="181818"/>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a:solidFill>
                <a:srgbClr val="181818"/>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rgbClr val="181818"/>
                </a:solidFill>
                <a:latin typeface="Times New Roman"/>
                <a:ea typeface="Times New Roman"/>
                <a:cs typeface="Times New Roman"/>
                <a:sym typeface="Times New Roman"/>
              </a:rPr>
              <a:t>2. </a:t>
            </a:r>
            <a:r>
              <a:rPr lang="en-US" sz="2100">
                <a:solidFill>
                  <a:schemeClr val="dk1"/>
                </a:solidFill>
                <a:latin typeface="Times New Roman"/>
                <a:ea typeface="Times New Roman"/>
                <a:cs typeface="Times New Roman"/>
                <a:sym typeface="Times New Roman"/>
              </a:rPr>
              <a:t>Pippi, Vittorio, Silvia Cascianelli, and Rita Cucchiara. "Handwritten Text Generation from Visual Archetypes." Proceedings of the IEEE/CVF Conference on Computer Vision and Pattern Recognition. 2023.</a:t>
            </a:r>
            <a:endParaRPr sz="2100">
              <a:solidFill>
                <a:srgbClr val="181818"/>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2100">
                <a:solidFill>
                  <a:schemeClr val="dk1"/>
                </a:solidFill>
              </a:rPr>
              <a:t>3</a:t>
            </a:r>
            <a:r>
              <a:rPr lang="en-US" sz="2100">
                <a:solidFill>
                  <a:srgbClr val="1A1A1A"/>
                </a:solidFill>
                <a:latin typeface="Times New Roman"/>
                <a:ea typeface="Times New Roman"/>
                <a:cs typeface="Times New Roman"/>
                <a:sym typeface="Times New Roman"/>
              </a:rPr>
              <a:t>. Mustafa, W. A., et al."A comprehensive review on document image (DIBCO) database."</a:t>
            </a:r>
            <a:r>
              <a:rPr lang="en-US" sz="2100" i="1">
                <a:solidFill>
                  <a:srgbClr val="1A1A1A"/>
                </a:solidFill>
                <a:latin typeface="Times New Roman"/>
                <a:ea typeface="Times New Roman"/>
                <a:cs typeface="Times New Roman"/>
                <a:sym typeface="Times New Roman"/>
              </a:rPr>
              <a:t>IOP Conference Series: Materials Science and Engineering</a:t>
            </a:r>
            <a:r>
              <a:rPr lang="en-US" sz="2100">
                <a:solidFill>
                  <a:srgbClr val="1A1A1A"/>
                </a:solidFill>
                <a:latin typeface="Times New Roman"/>
                <a:ea typeface="Times New Roman"/>
                <a:cs typeface="Times New Roman"/>
                <a:sym typeface="Times New Roman"/>
              </a:rPr>
              <a:t> . V ol. 557. No. 1. IOP Publishing, 2019.</a:t>
            </a:r>
            <a:endParaRPr sz="2100">
              <a:solidFill>
                <a:srgbClr val="1A1A1A"/>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2100">
                <a:solidFill>
                  <a:schemeClr val="dk1"/>
                </a:solidFill>
              </a:rPr>
              <a:t>4.</a:t>
            </a:r>
            <a:r>
              <a:rPr lang="en-US" sz="2100">
                <a:solidFill>
                  <a:schemeClr val="dk1"/>
                </a:solidFill>
                <a:latin typeface="Times New Roman"/>
                <a:ea typeface="Times New Roman"/>
                <a:cs typeface="Times New Roman"/>
                <a:sym typeface="Times New Roman"/>
              </a:rPr>
              <a:t> Zhou, X., “EAST: An Efficient and Accurate Scene Text Detector” , &lt;i&gt;arXiv e-prints&lt;/i&gt;, 2017.doi:10.48550/arXiv.1704.03155</a:t>
            </a:r>
            <a:r>
              <a:rPr lang="en-US" sz="2100">
                <a:solidFill>
                  <a:srgbClr val="181818"/>
                </a:solidFill>
                <a:latin typeface="Times New Roman"/>
                <a:ea typeface="Times New Roman"/>
                <a:cs typeface="Times New Roman"/>
                <a:sym typeface="Times New Roman"/>
              </a:rPr>
              <a:t> .</a:t>
            </a:r>
            <a:endParaRPr sz="2100">
              <a:solidFill>
                <a:srgbClr val="181818"/>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100">
              <a:solidFill>
                <a:srgbClr val="181818"/>
              </a:solidFill>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endParaRPr>
          </a:p>
          <a:p>
            <a:pPr marL="0" marR="0" lvl="0" indent="0" algn="l" rtl="0">
              <a:lnSpc>
                <a:spcPct val="115000"/>
              </a:lnSpc>
              <a:spcBef>
                <a:spcPts val="0"/>
              </a:spcBef>
              <a:spcAft>
                <a:spcPts val="0"/>
              </a:spcAft>
              <a:buClr>
                <a:schemeClr val="dk1"/>
              </a:buClr>
              <a:buSzPts val="1100"/>
              <a:buFont typeface="Arial"/>
              <a:buNone/>
            </a:pPr>
            <a:endParaRPr sz="20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Times New Roman"/>
              <a:buNone/>
            </a:pPr>
            <a:endParaRPr sz="1400" b="0" i="0" u="none" strike="noStrike" cap="none">
              <a:solidFill>
                <a:srgbClr val="000000"/>
              </a:solidFill>
              <a:latin typeface="Arial"/>
              <a:ea typeface="Arial"/>
              <a:cs typeface="Arial"/>
              <a:sym typeface="Arial"/>
            </a:endParaRPr>
          </a:p>
        </p:txBody>
      </p:sp>
      <p:sp>
        <p:nvSpPr>
          <p:cNvPr id="191" name="Google Shape;191;g29ce8367354_2_32"/>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29ce8367354_2_40"/>
          <p:cNvSpPr txBox="1"/>
          <p:nvPr/>
        </p:nvSpPr>
        <p:spPr>
          <a:xfrm>
            <a:off x="233674" y="2349949"/>
            <a:ext cx="11399400" cy="7080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p:txBody>
      </p:sp>
      <p:pic>
        <p:nvPicPr>
          <p:cNvPr id="197" name="Google Shape;197;g29ce8367354_2_40" descr="Google Shape;260;p17"/>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198" name="Google Shape;198;g29ce8367354_2_40"/>
          <p:cNvSpPr txBox="1"/>
          <p:nvPr/>
        </p:nvSpPr>
        <p:spPr>
          <a:xfrm>
            <a:off x="1331799" y="10221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a:t>
            </a:r>
            <a:r>
              <a:rPr lang="en-US" sz="2200" b="1">
                <a:latin typeface="Arial Rounded"/>
                <a:ea typeface="Arial Rounded"/>
                <a:cs typeface="Arial Rounded"/>
                <a:sym typeface="Arial Rounded"/>
              </a:rPr>
              <a:t>g</a:t>
            </a:r>
            <a:endParaRPr sz="2200" b="1">
              <a:latin typeface="Arial Rounded"/>
              <a:ea typeface="Arial Rounded"/>
              <a:cs typeface="Arial Rounded"/>
              <a:sym typeface="Arial Rounded"/>
            </a:endParaRPr>
          </a:p>
          <a:p>
            <a:pPr marL="0" lvl="0" indent="0" algn="l" rtl="0">
              <a:spcBef>
                <a:spcPts val="0"/>
              </a:spcBef>
              <a:spcAft>
                <a:spcPts val="0"/>
              </a:spcAft>
              <a:buClr>
                <a:schemeClr val="dk1"/>
              </a:buClr>
              <a:buSzPts val="2200"/>
              <a:buFont typeface="Arial Rounded"/>
              <a:buNone/>
            </a:pPr>
            <a:r>
              <a:rPr lang="en-US">
                <a:solidFill>
                  <a:schemeClr val="dk1"/>
                </a:solidFill>
              </a:rPr>
              <a:t>                                                               </a:t>
            </a:r>
            <a:r>
              <a:rPr lang="en-US" sz="2200" b="1">
                <a:solidFill>
                  <a:schemeClr val="dk1"/>
                </a:solidFill>
                <a:latin typeface="Arial Rounded"/>
                <a:ea typeface="Arial Rounded"/>
                <a:cs typeface="Arial Rounded"/>
                <a:sym typeface="Arial Rounded"/>
              </a:rPr>
              <a:t>MAJOR Project Final Review</a:t>
            </a:r>
            <a:endParaRPr sz="2200" b="1">
              <a:latin typeface="Arial Rounded"/>
              <a:ea typeface="Arial Rounded"/>
              <a:cs typeface="Arial Rounded"/>
              <a:sym typeface="Arial Rounded"/>
            </a:endParaRPr>
          </a:p>
        </p:txBody>
      </p:sp>
      <p:sp>
        <p:nvSpPr>
          <p:cNvPr id="199" name="Google Shape;199;g29ce8367354_2_40"/>
          <p:cNvSpPr txBox="1"/>
          <p:nvPr/>
        </p:nvSpPr>
        <p:spPr>
          <a:xfrm>
            <a:off x="182860" y="627574"/>
            <a:ext cx="11826300" cy="109494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Times New Roman"/>
              <a:buNone/>
            </a:pPr>
            <a:endParaRPr sz="2800" b="1">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References</a:t>
            </a:r>
            <a:r>
              <a:rPr lang="en-US" sz="2800" b="1" i="0" u="none" strike="noStrike" cap="none">
                <a:solidFill>
                  <a:srgbClr val="000000"/>
                </a:solidFill>
                <a:latin typeface="Arial"/>
                <a:ea typeface="Arial"/>
                <a:cs typeface="Arial"/>
                <a:sym typeface="Arial"/>
              </a:rPr>
              <a:t>:</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2800"/>
          </a:p>
          <a:p>
            <a:pPr marL="0" lvl="0" indent="0" algn="l" rtl="0">
              <a:lnSpc>
                <a:spcPct val="115000"/>
              </a:lnSpc>
              <a:spcBef>
                <a:spcPts val="0"/>
              </a:spcBef>
              <a:spcAft>
                <a:spcPts val="0"/>
              </a:spcAft>
              <a:buClr>
                <a:schemeClr val="dk1"/>
              </a:buClr>
              <a:buSzPts val="1100"/>
              <a:buFont typeface="Arial"/>
              <a:buNone/>
            </a:pPr>
            <a:r>
              <a:rPr lang="en-US" sz="2100">
                <a:solidFill>
                  <a:srgbClr val="181818"/>
                </a:solidFill>
                <a:latin typeface="Times New Roman"/>
                <a:ea typeface="Times New Roman"/>
                <a:cs typeface="Times New Roman"/>
                <a:sym typeface="Times New Roman"/>
              </a:rPr>
              <a:t>5. </a:t>
            </a:r>
            <a:r>
              <a:rPr lang="en-US" sz="2100">
                <a:solidFill>
                  <a:srgbClr val="222222"/>
                </a:solidFill>
                <a:highlight>
                  <a:srgbClr val="FFFFFF"/>
                </a:highlight>
                <a:latin typeface="Times New Roman"/>
                <a:ea typeface="Times New Roman"/>
                <a:cs typeface="Times New Roman"/>
                <a:sym typeface="Times New Roman"/>
              </a:rPr>
              <a:t>Y. Baek, B. Lee, D. Han, S. Yun and H. Lee, "Character Region Awareness for Text Detection," 2019 IEEE/CVF Conference on Computer Vision and Pattern Recognition (CVPR), Long Beach, CA, USA, 2019, pp. 9357-9366, doi: 10.1109/CVPR.2019.00959.</a:t>
            </a:r>
            <a:endParaRPr sz="21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rgbClr val="222222"/>
                </a:solidFill>
                <a:highlight>
                  <a:srgbClr val="FFFFFF"/>
                </a:highlight>
                <a:latin typeface="Times New Roman"/>
                <a:ea typeface="Times New Roman"/>
                <a:cs typeface="Times New Roman"/>
                <a:sym typeface="Times New Roman"/>
              </a:rPr>
              <a:t>6. Liu, Yuliang, et al. "Abcnet: Real-time scene text spotting with adaptive bezier-curve network." </a:t>
            </a:r>
            <a:r>
              <a:rPr lang="en-US" sz="2100" i="1">
                <a:solidFill>
                  <a:srgbClr val="222222"/>
                </a:solidFill>
                <a:highlight>
                  <a:srgbClr val="FFFFFF"/>
                </a:highlight>
                <a:latin typeface="Times New Roman"/>
                <a:ea typeface="Times New Roman"/>
                <a:cs typeface="Times New Roman"/>
                <a:sym typeface="Times New Roman"/>
              </a:rPr>
              <a:t>proceedings of the IEEE/CVF conference on computer vision and pattern recognition</a:t>
            </a:r>
            <a:r>
              <a:rPr lang="en-US" sz="2100">
                <a:solidFill>
                  <a:srgbClr val="222222"/>
                </a:solidFill>
                <a:highlight>
                  <a:srgbClr val="FFFFFF"/>
                </a:highlight>
                <a:latin typeface="Times New Roman"/>
                <a:ea typeface="Times New Roman"/>
                <a:cs typeface="Times New Roman"/>
                <a:sym typeface="Times New Roman"/>
              </a:rPr>
              <a:t>. 2020.</a:t>
            </a:r>
            <a:endParaRPr sz="21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rgbClr val="222222"/>
                </a:solidFill>
                <a:highlight>
                  <a:srgbClr val="FFFFFF"/>
                </a:highlight>
                <a:latin typeface="Times New Roman"/>
                <a:ea typeface="Times New Roman"/>
                <a:cs typeface="Times New Roman"/>
                <a:sym typeface="Times New Roman"/>
              </a:rPr>
              <a:t>7. Z. Zhong, L. Jin and S. Huang, "DeepText: A new approach for text proposal generation and text detection in natural images," 2017 IEEE International Conference on Acoustics, Speech and Signal Processing (ICASSP), New Orleans, LA, USA, 2017, pp. 1208-1212, doi: 10.1109/ICASSP.2017.7952348.</a:t>
            </a:r>
            <a:endParaRPr sz="21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rgbClr val="222222"/>
                </a:solidFill>
                <a:highlight>
                  <a:schemeClr val="lt1"/>
                </a:highlight>
                <a:latin typeface="Times New Roman"/>
                <a:ea typeface="Times New Roman"/>
                <a:cs typeface="Times New Roman"/>
                <a:sym typeface="Times New Roman"/>
              </a:rPr>
              <a:t>8. </a:t>
            </a:r>
            <a:r>
              <a:rPr lang="en-US" sz="2100">
                <a:solidFill>
                  <a:srgbClr val="1F1F1F"/>
                </a:solidFill>
                <a:highlight>
                  <a:srgbClr val="FFFFFF"/>
                </a:highlight>
                <a:latin typeface="Times New Roman"/>
                <a:ea typeface="Times New Roman"/>
                <a:cs typeface="Times New Roman"/>
                <a:sym typeface="Times New Roman"/>
              </a:rPr>
              <a:t> Souibgui, M. A. and Kessentini, Y., “DE-GAN: A Conditional Generative Adversarial Network for Document Enhancement”, &lt;i&gt;arXiv e-prints&lt;/i&gt;, 2020. doi:10.48550/arXiv.2010.08764.9</a:t>
            </a:r>
            <a:endParaRPr sz="21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0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0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900">
                <a:solidFill>
                  <a:srgbClr val="222222"/>
                </a:solidFill>
                <a:highlight>
                  <a:srgbClr val="FFFFFF"/>
                </a:highlight>
                <a:latin typeface="Times New Roman"/>
                <a:ea typeface="Times New Roman"/>
                <a:cs typeface="Times New Roman"/>
                <a:sym typeface="Times New Roman"/>
              </a:rPr>
              <a:t> </a:t>
            </a:r>
            <a:endParaRPr sz="19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100">
              <a:solidFill>
                <a:srgbClr val="181818"/>
              </a:solidFill>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endParaRPr>
          </a:p>
          <a:p>
            <a:pPr marL="0" marR="0" lvl="0" indent="0" algn="l" rtl="0">
              <a:lnSpc>
                <a:spcPct val="115000"/>
              </a:lnSpc>
              <a:spcBef>
                <a:spcPts val="0"/>
              </a:spcBef>
              <a:spcAft>
                <a:spcPts val="0"/>
              </a:spcAft>
              <a:buClr>
                <a:schemeClr val="dk1"/>
              </a:buClr>
              <a:buSzPts val="1100"/>
              <a:buFont typeface="Arial"/>
              <a:buNone/>
            </a:pPr>
            <a:endParaRPr sz="20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Times New Roman"/>
              <a:buNone/>
            </a:pPr>
            <a:endParaRPr sz="1400" b="0" i="0" u="none" strike="noStrike" cap="none">
              <a:solidFill>
                <a:srgbClr val="000000"/>
              </a:solidFill>
              <a:latin typeface="Arial"/>
              <a:ea typeface="Arial"/>
              <a:cs typeface="Arial"/>
              <a:sym typeface="Arial"/>
            </a:endParaRPr>
          </a:p>
        </p:txBody>
      </p:sp>
      <p:sp>
        <p:nvSpPr>
          <p:cNvPr id="200" name="Google Shape;200;g29ce8367354_2_40"/>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29ce8367354_0_56"/>
          <p:cNvSpPr txBox="1"/>
          <p:nvPr/>
        </p:nvSpPr>
        <p:spPr>
          <a:xfrm>
            <a:off x="233674" y="2349949"/>
            <a:ext cx="11399400" cy="7080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p:txBody>
      </p:sp>
      <p:pic>
        <p:nvPicPr>
          <p:cNvPr id="206" name="Google Shape;206;g29ce8367354_0_56" descr="Google Shape;260;p17"/>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207" name="Google Shape;207;g29ce8367354_0_56"/>
          <p:cNvSpPr txBox="1"/>
          <p:nvPr/>
        </p:nvSpPr>
        <p:spPr>
          <a:xfrm>
            <a:off x="1331799" y="102214"/>
            <a:ext cx="10659000" cy="14469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a:t>
            </a:r>
            <a:r>
              <a:rPr lang="en-US" sz="2200" b="1">
                <a:latin typeface="Arial Rounded"/>
                <a:ea typeface="Arial Rounded"/>
                <a:cs typeface="Arial Rounded"/>
                <a:sym typeface="Arial Rounded"/>
              </a:rPr>
              <a:t>g</a:t>
            </a:r>
            <a:endParaRPr sz="2200" b="1">
              <a:latin typeface="Arial Rounded"/>
              <a:ea typeface="Arial Rounded"/>
              <a:cs typeface="Arial Rounded"/>
              <a:sym typeface="Arial Rounded"/>
            </a:endParaRPr>
          </a:p>
          <a:p>
            <a:pPr marL="0" lvl="0" indent="0" algn="l" rtl="0">
              <a:spcBef>
                <a:spcPts val="0"/>
              </a:spcBef>
              <a:spcAft>
                <a:spcPts val="0"/>
              </a:spcAft>
              <a:buClr>
                <a:schemeClr val="dk1"/>
              </a:buClr>
              <a:buSzPts val="2200"/>
              <a:buFont typeface="Arial Rounded"/>
              <a:buNone/>
            </a:pPr>
            <a:r>
              <a:rPr lang="en-US">
                <a:solidFill>
                  <a:schemeClr val="dk1"/>
                </a:solidFill>
              </a:rPr>
              <a:t>                                                               </a:t>
            </a:r>
            <a:r>
              <a:rPr lang="en-US" sz="2200" b="1">
                <a:solidFill>
                  <a:schemeClr val="dk1"/>
                </a:solidFill>
                <a:latin typeface="Arial Rounded"/>
                <a:ea typeface="Arial Rounded"/>
                <a:cs typeface="Arial Rounded"/>
                <a:sym typeface="Arial Rounded"/>
              </a:rPr>
              <a:t>MAJOR Project Final Review</a:t>
            </a:r>
            <a:endParaRPr sz="2200" b="1">
              <a:latin typeface="Arial Rounded"/>
              <a:ea typeface="Arial Rounded"/>
              <a:cs typeface="Arial Rounded"/>
              <a:sym typeface="Arial Rounded"/>
            </a:endParaRPr>
          </a:p>
        </p:txBody>
      </p:sp>
      <p:sp>
        <p:nvSpPr>
          <p:cNvPr id="208" name="Google Shape;208;g29ce8367354_0_56"/>
          <p:cNvSpPr txBox="1"/>
          <p:nvPr/>
        </p:nvSpPr>
        <p:spPr>
          <a:xfrm>
            <a:off x="182860" y="976474"/>
            <a:ext cx="11826300" cy="111795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Times New Roman"/>
              <a:buNone/>
            </a:pPr>
            <a:endParaRPr sz="2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References</a:t>
            </a:r>
            <a:r>
              <a:rPr lang="en-US" sz="2800" b="1" i="0" u="none" strike="noStrike" cap="none">
                <a:solidFill>
                  <a:srgbClr val="000000"/>
                </a:solidFill>
                <a:latin typeface="Arial"/>
                <a:ea typeface="Arial"/>
                <a:cs typeface="Arial"/>
                <a:sym typeface="Arial"/>
              </a:rPr>
              <a:t>:</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21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rgbClr val="222222"/>
                </a:solidFill>
                <a:highlight>
                  <a:srgbClr val="FFFFFF"/>
                </a:highlight>
                <a:latin typeface="Times New Roman"/>
                <a:ea typeface="Times New Roman"/>
                <a:cs typeface="Times New Roman"/>
                <a:sym typeface="Times New Roman"/>
              </a:rPr>
              <a:t>9. </a:t>
            </a:r>
            <a:r>
              <a:rPr lang="en-US" sz="2100">
                <a:solidFill>
                  <a:srgbClr val="1F1F1F"/>
                </a:solidFill>
                <a:highlight>
                  <a:srgbClr val="FFFFFF"/>
                </a:highlight>
                <a:latin typeface="Times New Roman"/>
                <a:ea typeface="Times New Roman"/>
                <a:cs typeface="Times New Roman"/>
                <a:sym typeface="Times New Roman"/>
              </a:rPr>
              <a:t>Ait Bella, F.Z., El Rhabi, M., Hakim, A. et al. An innovative document image binarization approach driven by the non-local p-Laplacian. EURASIP J. Adv. Signal Process. 2022, 50 (2022).</a:t>
            </a:r>
            <a:r>
              <a:rPr lang="en-US" sz="2100">
                <a:solidFill>
                  <a:srgbClr val="1F1F1F"/>
                </a:solidFill>
                <a:highlight>
                  <a:srgbClr val="FFFFFF"/>
                </a:highlight>
                <a:uFill>
                  <a:noFill/>
                </a:u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 </a:t>
            </a:r>
            <a:endParaRPr sz="2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rgbClr val="1F1F1F"/>
                </a:solidFill>
                <a:highlight>
                  <a:srgbClr val="FFFFFF"/>
                </a:highlight>
                <a:latin typeface="Times New Roman"/>
                <a:ea typeface="Times New Roman"/>
                <a:cs typeface="Times New Roman"/>
                <a:sym typeface="Times New Roman"/>
              </a:rPr>
              <a:t>10. Mustafa, Wan &amp; Kader, Mohamed. (2018). Binarization of Document Images: A Comprehensive Review. Journal of Physics: Conference Series. 1019. 012023. 10.1088/1742-6596/1019/1/012023. </a:t>
            </a:r>
            <a:endParaRPr sz="2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rgbClr val="1F1F1F"/>
                </a:solidFill>
                <a:highlight>
                  <a:srgbClr val="FFFFFF"/>
                </a:highlight>
                <a:latin typeface="Times New Roman"/>
                <a:ea typeface="Times New Roman"/>
                <a:cs typeface="Times New Roman"/>
                <a:sym typeface="Times New Roman"/>
              </a:rPr>
              <a:t>11. Trippe, Theophil, et al. "Let's enhance: A deep learning approach to extreme deblurring of text images." arXiv preprint arXiv:2211.10103 (2022).</a:t>
            </a:r>
            <a:endParaRPr sz="2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chemeClr val="dk1"/>
                </a:solidFill>
              </a:rPr>
              <a:t>12. </a:t>
            </a:r>
            <a:r>
              <a:rPr lang="en-US" sz="2100">
                <a:solidFill>
                  <a:schemeClr val="dk1"/>
                </a:solidFill>
                <a:latin typeface="Times New Roman"/>
                <a:ea typeface="Times New Roman"/>
                <a:cs typeface="Times New Roman"/>
                <a:sym typeface="Times New Roman"/>
              </a:rPr>
              <a:t>Jain, Mohit &amp; Mathew, Minesh &amp; Jawahar, C.V.. (2017). Unconstrained OCR for Urdu Using Deep CNN-RNN Hybrid Networks. 747-752. 10.1109/ACPR.2017.5.</a:t>
            </a:r>
            <a:endParaRPr sz="2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0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0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0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000">
                <a:solidFill>
                  <a:srgbClr val="222222"/>
                </a:solidFill>
                <a:highlight>
                  <a:srgbClr val="FFFFFF"/>
                </a:highlight>
                <a:latin typeface="Times New Roman"/>
                <a:ea typeface="Times New Roman"/>
                <a:cs typeface="Times New Roman"/>
                <a:sym typeface="Times New Roman"/>
              </a:rPr>
              <a:t> </a:t>
            </a:r>
            <a:endParaRPr sz="20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900">
                <a:solidFill>
                  <a:srgbClr val="222222"/>
                </a:solidFill>
                <a:highlight>
                  <a:srgbClr val="FFFFFF"/>
                </a:highlight>
                <a:latin typeface="Times New Roman"/>
                <a:ea typeface="Times New Roman"/>
                <a:cs typeface="Times New Roman"/>
                <a:sym typeface="Times New Roman"/>
              </a:rPr>
              <a:t> </a:t>
            </a:r>
            <a:endParaRPr sz="19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100">
              <a:solidFill>
                <a:srgbClr val="181818"/>
              </a:solidFill>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endParaRPr>
          </a:p>
          <a:p>
            <a:pPr marL="0" marR="0" lvl="0" indent="0" algn="l" rtl="0">
              <a:lnSpc>
                <a:spcPct val="115000"/>
              </a:lnSpc>
              <a:spcBef>
                <a:spcPts val="0"/>
              </a:spcBef>
              <a:spcAft>
                <a:spcPts val="0"/>
              </a:spcAft>
              <a:buClr>
                <a:schemeClr val="dk1"/>
              </a:buClr>
              <a:buSzPts val="1100"/>
              <a:buFont typeface="Arial"/>
              <a:buNone/>
            </a:pPr>
            <a:endParaRPr sz="20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Times New Roman"/>
              <a:buNone/>
            </a:pPr>
            <a:endParaRPr sz="1400" b="0" i="0" u="none" strike="noStrike" cap="none">
              <a:solidFill>
                <a:srgbClr val="000000"/>
              </a:solidFill>
              <a:latin typeface="Arial"/>
              <a:ea typeface="Arial"/>
              <a:cs typeface="Arial"/>
              <a:sym typeface="Arial"/>
            </a:endParaRPr>
          </a:p>
        </p:txBody>
      </p:sp>
      <p:sp>
        <p:nvSpPr>
          <p:cNvPr id="209" name="Google Shape;209;g29ce8367354_0_56"/>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29ce8367354_0_64"/>
          <p:cNvSpPr txBox="1"/>
          <p:nvPr/>
        </p:nvSpPr>
        <p:spPr>
          <a:xfrm>
            <a:off x="233674" y="2349949"/>
            <a:ext cx="11399400" cy="7080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p:txBody>
      </p:sp>
      <p:pic>
        <p:nvPicPr>
          <p:cNvPr id="215" name="Google Shape;215;g29ce8367354_0_64" descr="Google Shape;260;p17"/>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216" name="Google Shape;216;g29ce8367354_0_64"/>
          <p:cNvSpPr txBox="1"/>
          <p:nvPr/>
        </p:nvSpPr>
        <p:spPr>
          <a:xfrm>
            <a:off x="1331799" y="102214"/>
            <a:ext cx="10659000" cy="14469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a:t>
            </a:r>
            <a:r>
              <a:rPr lang="en-US" sz="2200" b="1">
                <a:latin typeface="Arial Rounded"/>
                <a:ea typeface="Arial Rounded"/>
                <a:cs typeface="Arial Rounded"/>
                <a:sym typeface="Arial Rounded"/>
              </a:rPr>
              <a:t>g</a:t>
            </a:r>
            <a:endParaRPr sz="2200" b="1">
              <a:latin typeface="Arial Rounded"/>
              <a:ea typeface="Arial Rounded"/>
              <a:cs typeface="Arial Rounded"/>
              <a:sym typeface="Arial Rounded"/>
            </a:endParaRPr>
          </a:p>
          <a:p>
            <a:pPr marL="0" lvl="0" indent="0" algn="l" rtl="0">
              <a:spcBef>
                <a:spcPts val="0"/>
              </a:spcBef>
              <a:spcAft>
                <a:spcPts val="0"/>
              </a:spcAft>
              <a:buClr>
                <a:schemeClr val="dk1"/>
              </a:buClr>
              <a:buSzPts val="2200"/>
              <a:buFont typeface="Arial Rounded"/>
              <a:buNone/>
            </a:pPr>
            <a:r>
              <a:rPr lang="en-US">
                <a:solidFill>
                  <a:schemeClr val="dk1"/>
                </a:solidFill>
              </a:rPr>
              <a:t>                                                               </a:t>
            </a:r>
            <a:r>
              <a:rPr lang="en-US" sz="2200" b="1">
                <a:solidFill>
                  <a:schemeClr val="dk1"/>
                </a:solidFill>
                <a:latin typeface="Arial Rounded"/>
                <a:ea typeface="Arial Rounded"/>
                <a:cs typeface="Arial Rounded"/>
                <a:sym typeface="Arial Rounded"/>
              </a:rPr>
              <a:t>MAJOR Project Final Review</a:t>
            </a:r>
            <a:endParaRPr sz="2200" b="1">
              <a:latin typeface="Arial Rounded"/>
              <a:ea typeface="Arial Rounded"/>
              <a:cs typeface="Arial Rounded"/>
              <a:sym typeface="Arial Rounded"/>
            </a:endParaRPr>
          </a:p>
        </p:txBody>
      </p:sp>
      <p:sp>
        <p:nvSpPr>
          <p:cNvPr id="217" name="Google Shape;217;g29ce8367354_0_64"/>
          <p:cNvSpPr txBox="1"/>
          <p:nvPr/>
        </p:nvSpPr>
        <p:spPr>
          <a:xfrm>
            <a:off x="182860" y="791499"/>
            <a:ext cx="11826300" cy="121206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Times New Roman"/>
              <a:buNone/>
            </a:pPr>
            <a:endParaRPr sz="2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References</a:t>
            </a:r>
            <a:r>
              <a:rPr lang="en-US" sz="2800" b="1" i="0" u="none" strike="noStrike" cap="none">
                <a:solidFill>
                  <a:srgbClr val="000000"/>
                </a:solidFill>
                <a:latin typeface="Arial"/>
                <a:ea typeface="Arial"/>
                <a:cs typeface="Arial"/>
                <a:sym typeface="Arial"/>
              </a:rPr>
              <a:t>:</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21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chemeClr val="dk1"/>
                </a:solidFill>
                <a:latin typeface="Times New Roman"/>
                <a:ea typeface="Times New Roman"/>
                <a:cs typeface="Times New Roman"/>
                <a:sym typeface="Times New Roman"/>
              </a:rPr>
              <a:t>13. Coquenet, Denis &amp; Chatelain, Clement &amp; Paquet, Thierry. (2020). End-to-end Handwritten Paragraph Text Recognition Using a Vertical Attention Network. </a:t>
            </a:r>
            <a:endParaRPr sz="21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chemeClr val="dk1"/>
                </a:solidFill>
                <a:latin typeface="Times New Roman"/>
                <a:ea typeface="Times New Roman"/>
                <a:cs typeface="Times New Roman"/>
                <a:sym typeface="Times New Roman"/>
              </a:rPr>
              <a:t>14. </a:t>
            </a:r>
            <a:r>
              <a:rPr lang="en-US" sz="2100">
                <a:solidFill>
                  <a:srgbClr val="1F1F1F"/>
                </a:solidFill>
                <a:highlight>
                  <a:srgbClr val="FFFFFF"/>
                </a:highlight>
                <a:latin typeface="Times New Roman"/>
                <a:ea typeface="Times New Roman"/>
                <a:cs typeface="Times New Roman"/>
                <a:sym typeface="Times New Roman"/>
              </a:rPr>
              <a:t>Ganji, T., Sekhar Velpuru, M., and Dugyala, R., “Multi Variant Handwritten Telugu Character Recognition Using Transfer Learning”, in &lt;i&gt;Materials Science and Engineering Conference Series&lt;/i&gt;, 2021, vol. 1042, no. 1, p. 012026. doi:10.1088/1757-899X/1042/1/012026.</a:t>
            </a:r>
            <a:endParaRPr sz="2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rgbClr val="1F1F1F"/>
                </a:solidFill>
                <a:highlight>
                  <a:srgbClr val="FFFFFF"/>
                </a:highlight>
                <a:latin typeface="Times New Roman"/>
                <a:ea typeface="Times New Roman"/>
                <a:cs typeface="Times New Roman"/>
                <a:sym typeface="Times New Roman"/>
              </a:rPr>
              <a:t> </a:t>
            </a:r>
            <a:endParaRPr sz="2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rgbClr val="1F1F1F"/>
                </a:solidFill>
                <a:highlight>
                  <a:srgbClr val="FFFFFF"/>
                </a:highlight>
                <a:latin typeface="Times New Roman"/>
                <a:ea typeface="Times New Roman"/>
                <a:cs typeface="Times New Roman"/>
                <a:sym typeface="Times New Roman"/>
              </a:rPr>
              <a:t>15. </a:t>
            </a:r>
            <a:r>
              <a:rPr lang="en-US" sz="2100">
                <a:solidFill>
                  <a:schemeClr val="dk1"/>
                </a:solidFill>
                <a:latin typeface="Times New Roman"/>
                <a:ea typeface="Times New Roman"/>
                <a:cs typeface="Times New Roman"/>
                <a:sym typeface="Times New Roman"/>
              </a:rPr>
              <a:t>Mathew, Minesh, and C. V. Jawahar. "An empirical study of CTC based models for OCR of Indian languages." arXiv preprint arXiv:2205.06740 (2022).</a:t>
            </a:r>
            <a:endParaRPr sz="21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a:solidFill>
                  <a:schemeClr val="dk1"/>
                </a:solidFill>
                <a:latin typeface="Times New Roman"/>
                <a:ea typeface="Times New Roman"/>
                <a:cs typeface="Times New Roman"/>
                <a:sym typeface="Times New Roman"/>
              </a:rPr>
              <a:t>16. Base paper : Mondal, Ajoy &amp; Tulsyan, Krishna &amp; Jawahar, C.. (2022). Automatic Annotation of Handwritten Documents in Word Level. 10.1145/3571600.3571645.</a:t>
            </a:r>
            <a:endParaRPr sz="2100">
              <a:solidFill>
                <a:schemeClr val="dk1"/>
              </a:solidFill>
              <a:latin typeface="Times New Roman"/>
              <a:ea typeface="Times New Roman"/>
              <a:cs typeface="Times New Roman"/>
              <a:sym typeface="Times New Roman"/>
            </a:endParaRPr>
          </a:p>
          <a:p>
            <a:pPr marL="457200" lvl="0" indent="-330200" algn="just" rtl="0">
              <a:spcBef>
                <a:spcPts val="0"/>
              </a:spcBef>
              <a:spcAft>
                <a:spcPts val="0"/>
              </a:spcAft>
              <a:buClr>
                <a:schemeClr val="dk1"/>
              </a:buClr>
              <a:buSzPts val="2000"/>
              <a:buFont typeface="Times New Roman"/>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20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0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0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0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100">
              <a:solidFill>
                <a:srgbClr val="1F1F1F"/>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000">
                <a:solidFill>
                  <a:srgbClr val="222222"/>
                </a:solidFill>
                <a:highlight>
                  <a:srgbClr val="FFFFFF"/>
                </a:highlight>
                <a:latin typeface="Times New Roman"/>
                <a:ea typeface="Times New Roman"/>
                <a:cs typeface="Times New Roman"/>
                <a:sym typeface="Times New Roman"/>
              </a:rPr>
              <a:t> </a:t>
            </a:r>
            <a:endParaRPr sz="20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900">
                <a:solidFill>
                  <a:srgbClr val="222222"/>
                </a:solidFill>
                <a:highlight>
                  <a:srgbClr val="FFFFFF"/>
                </a:highlight>
                <a:latin typeface="Times New Roman"/>
                <a:ea typeface="Times New Roman"/>
                <a:cs typeface="Times New Roman"/>
                <a:sym typeface="Times New Roman"/>
              </a:rPr>
              <a:t> </a:t>
            </a:r>
            <a:endParaRPr sz="190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100">
              <a:solidFill>
                <a:srgbClr val="181818"/>
              </a:solidFill>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endParaRPr>
          </a:p>
          <a:p>
            <a:pPr marL="0" marR="0" lvl="0" indent="0" algn="l" rtl="0">
              <a:lnSpc>
                <a:spcPct val="115000"/>
              </a:lnSpc>
              <a:spcBef>
                <a:spcPts val="0"/>
              </a:spcBef>
              <a:spcAft>
                <a:spcPts val="0"/>
              </a:spcAft>
              <a:buClr>
                <a:schemeClr val="dk1"/>
              </a:buClr>
              <a:buSzPts val="1100"/>
              <a:buFont typeface="Arial"/>
              <a:buNone/>
            </a:pPr>
            <a:endParaRPr sz="20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Times New Roman"/>
              <a:buNone/>
            </a:pPr>
            <a:endParaRPr sz="1400" b="0" i="0" u="none" strike="noStrike" cap="none">
              <a:solidFill>
                <a:srgbClr val="000000"/>
              </a:solidFill>
              <a:latin typeface="Arial"/>
              <a:ea typeface="Arial"/>
              <a:cs typeface="Arial"/>
              <a:sym typeface="Arial"/>
            </a:endParaRPr>
          </a:p>
        </p:txBody>
      </p:sp>
      <p:sp>
        <p:nvSpPr>
          <p:cNvPr id="218" name="Google Shape;218;g29ce8367354_0_64"/>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29ce8367354_0_30"/>
          <p:cNvSpPr txBox="1"/>
          <p:nvPr/>
        </p:nvSpPr>
        <p:spPr>
          <a:xfrm>
            <a:off x="233674" y="2349949"/>
            <a:ext cx="11399400" cy="7080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p:txBody>
      </p:sp>
      <p:pic>
        <p:nvPicPr>
          <p:cNvPr id="224" name="Google Shape;224;g29ce8367354_0_30" descr="Google Shape;260;p17"/>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225" name="Google Shape;225;g29ce8367354_0_30"/>
          <p:cNvSpPr txBox="1"/>
          <p:nvPr/>
        </p:nvSpPr>
        <p:spPr>
          <a:xfrm>
            <a:off x="1331799" y="102214"/>
            <a:ext cx="10659000" cy="14469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a:t>
            </a:r>
            <a:r>
              <a:rPr lang="en-US" sz="2200" b="1">
                <a:latin typeface="Arial Rounded"/>
                <a:ea typeface="Arial Rounded"/>
                <a:cs typeface="Arial Rounded"/>
                <a:sym typeface="Arial Rounded"/>
              </a:rPr>
              <a:t>g</a:t>
            </a:r>
            <a:endParaRPr sz="2200" b="1">
              <a:latin typeface="Arial Rounded"/>
              <a:ea typeface="Arial Rounded"/>
              <a:cs typeface="Arial Rounded"/>
              <a:sym typeface="Arial Rounded"/>
            </a:endParaRPr>
          </a:p>
          <a:p>
            <a:pPr marL="0" lvl="0" indent="0" algn="l" rtl="0">
              <a:spcBef>
                <a:spcPts val="0"/>
              </a:spcBef>
              <a:spcAft>
                <a:spcPts val="0"/>
              </a:spcAft>
              <a:buClr>
                <a:schemeClr val="dk1"/>
              </a:buClr>
              <a:buSzPts val="2200"/>
              <a:buFont typeface="Arial Rounded"/>
              <a:buNone/>
            </a:pPr>
            <a:r>
              <a:rPr lang="en-US">
                <a:solidFill>
                  <a:schemeClr val="dk1"/>
                </a:solidFill>
              </a:rPr>
              <a:t>                                                               </a:t>
            </a:r>
            <a:r>
              <a:rPr lang="en-US" sz="2200" b="1">
                <a:solidFill>
                  <a:schemeClr val="dk1"/>
                </a:solidFill>
                <a:latin typeface="Arial Rounded"/>
                <a:ea typeface="Arial Rounded"/>
                <a:cs typeface="Arial Rounded"/>
                <a:sym typeface="Arial Rounded"/>
              </a:rPr>
              <a:t>MAJOR Project Final Review</a:t>
            </a:r>
            <a:endParaRPr sz="2200" b="1">
              <a:latin typeface="Arial Rounded"/>
              <a:ea typeface="Arial Rounded"/>
              <a:cs typeface="Arial Rounded"/>
              <a:sym typeface="Arial Rounded"/>
            </a:endParaRPr>
          </a:p>
        </p:txBody>
      </p:sp>
      <p:sp>
        <p:nvSpPr>
          <p:cNvPr id="226" name="Google Shape;226;g29ce8367354_0_30"/>
          <p:cNvSpPr txBox="1"/>
          <p:nvPr/>
        </p:nvSpPr>
        <p:spPr>
          <a:xfrm>
            <a:off x="182850" y="787625"/>
            <a:ext cx="11826300" cy="96102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Times New Roman"/>
              <a:buNone/>
            </a:pPr>
            <a:endParaRPr sz="2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a:latin typeface="Times New Roman"/>
                <a:ea typeface="Times New Roman"/>
                <a:cs typeface="Times New Roman"/>
                <a:sym typeface="Times New Roman"/>
              </a:rPr>
              <a:t>Review Paper</a:t>
            </a:r>
            <a:endParaRPr sz="2800" b="1">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endParaRPr sz="2800" b="1">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US" sz="2000" b="1">
                <a:solidFill>
                  <a:srgbClr val="0F0F0F"/>
                </a:solidFill>
                <a:latin typeface="Times New Roman"/>
                <a:ea typeface="Times New Roman"/>
                <a:cs typeface="Times New Roman"/>
                <a:sym typeface="Times New Roman"/>
              </a:rPr>
              <a:t>1.  </a:t>
            </a:r>
            <a:r>
              <a:rPr lang="en-US" sz="2100" b="1">
                <a:solidFill>
                  <a:srgbClr val="0F0F0F"/>
                </a:solidFill>
                <a:latin typeface="Times New Roman"/>
                <a:ea typeface="Times New Roman"/>
                <a:cs typeface="Times New Roman"/>
                <a:sym typeface="Times New Roman"/>
              </a:rPr>
              <a:t>Dataset Creation[1,2,3]:</a:t>
            </a:r>
            <a:endParaRPr sz="2100" b="1">
              <a:solidFill>
                <a:srgbClr val="0F0F0F"/>
              </a:solidFill>
              <a:latin typeface="Times New Roman"/>
              <a:ea typeface="Times New Roman"/>
              <a:cs typeface="Times New Roman"/>
              <a:sym typeface="Times New Roman"/>
            </a:endParaRPr>
          </a:p>
          <a:p>
            <a:pPr marL="457200" lvl="0" indent="-361950" algn="l" rtl="0">
              <a:lnSpc>
                <a:spcPct val="100000"/>
              </a:lnSpc>
              <a:spcBef>
                <a:spcPts val="1500"/>
              </a:spcBef>
              <a:spcAft>
                <a:spcPts val="0"/>
              </a:spcAft>
              <a:buClr>
                <a:schemeClr val="dk1"/>
              </a:buClr>
              <a:buSzPts val="2100"/>
              <a:buFont typeface="Times New Roman"/>
              <a:buChar char="●"/>
            </a:pPr>
            <a:r>
              <a:rPr lang="en-US" sz="2100" i="1">
                <a:solidFill>
                  <a:schemeClr val="dk1"/>
                </a:solidFill>
                <a:latin typeface="Times New Roman"/>
                <a:ea typeface="Times New Roman"/>
                <a:cs typeface="Times New Roman"/>
                <a:sym typeface="Times New Roman"/>
              </a:rPr>
              <a:t>Handwritten and Printed Datasets:</a:t>
            </a:r>
            <a:r>
              <a:rPr lang="en-US" sz="2100">
                <a:solidFill>
                  <a:schemeClr val="dk1"/>
                </a:solidFill>
                <a:latin typeface="Times New Roman"/>
                <a:ea typeface="Times New Roman"/>
                <a:cs typeface="Times New Roman"/>
                <a:sym typeface="Times New Roman"/>
              </a:rPr>
              <a:t> Annotation is conducted on two distinct types of datasets—handwritten and printed documents.</a:t>
            </a:r>
            <a:endParaRPr sz="2100">
              <a:solidFill>
                <a:schemeClr val="dk1"/>
              </a:solidFill>
              <a:latin typeface="Times New Roman"/>
              <a:ea typeface="Times New Roman"/>
              <a:cs typeface="Times New Roman"/>
              <a:sym typeface="Times New Roman"/>
            </a:endParaRPr>
          </a:p>
          <a:p>
            <a:pPr marL="457200" lvl="0" indent="-361950" algn="l" rtl="0">
              <a:lnSpc>
                <a:spcPct val="100000"/>
              </a:lnSpc>
              <a:spcBef>
                <a:spcPts val="0"/>
              </a:spcBef>
              <a:spcAft>
                <a:spcPts val="0"/>
              </a:spcAft>
              <a:buClr>
                <a:schemeClr val="dk1"/>
              </a:buClr>
              <a:buSzPts val="2100"/>
              <a:buFont typeface="Times New Roman"/>
              <a:buChar char="●"/>
            </a:pPr>
            <a:r>
              <a:rPr lang="en-US" sz="2100" i="1">
                <a:solidFill>
                  <a:schemeClr val="dk1"/>
                </a:solidFill>
                <a:latin typeface="Times New Roman"/>
                <a:ea typeface="Times New Roman"/>
                <a:cs typeface="Times New Roman"/>
                <a:sym typeface="Times New Roman"/>
              </a:rPr>
              <a:t>Significance:</a:t>
            </a:r>
            <a:r>
              <a:rPr lang="en-US" sz="2100">
                <a:solidFill>
                  <a:schemeClr val="dk1"/>
                </a:solidFill>
                <a:latin typeface="Times New Roman"/>
                <a:ea typeface="Times New Roman"/>
                <a:cs typeface="Times New Roman"/>
                <a:sym typeface="Times New Roman"/>
              </a:rPr>
              <a:t> Recognizing the diversity in document types allows the system to cater to a wide range of applications, ensuring adaptability to various input sources.</a:t>
            </a:r>
            <a:endParaRPr sz="2100">
              <a:solidFill>
                <a:schemeClr val="dk1"/>
              </a:solidFill>
              <a:latin typeface="Times New Roman"/>
              <a:ea typeface="Times New Roman"/>
              <a:cs typeface="Times New Roman"/>
              <a:sym typeface="Times New Roman"/>
            </a:endParaRPr>
          </a:p>
          <a:p>
            <a:pPr marL="0" lvl="0" indent="0" algn="l" rtl="0">
              <a:lnSpc>
                <a:spcPct val="115000"/>
              </a:lnSpc>
              <a:spcBef>
                <a:spcPts val="1500"/>
              </a:spcBef>
              <a:spcAft>
                <a:spcPts val="0"/>
              </a:spcAft>
              <a:buClr>
                <a:schemeClr val="dk1"/>
              </a:buClr>
              <a:buSzPts val="1100"/>
              <a:buFont typeface="Arial"/>
              <a:buNone/>
            </a:pPr>
            <a:r>
              <a:rPr lang="en-US" sz="2100" b="1">
                <a:solidFill>
                  <a:schemeClr val="dk1"/>
                </a:solidFill>
                <a:latin typeface="Times New Roman"/>
                <a:ea typeface="Times New Roman"/>
                <a:cs typeface="Times New Roman"/>
                <a:sym typeface="Times New Roman"/>
              </a:rPr>
              <a:t>2. Pre-processing[8,9,10,11]:</a:t>
            </a:r>
            <a:endParaRPr sz="2100" b="1">
              <a:solidFill>
                <a:schemeClr val="dk1"/>
              </a:solidFill>
              <a:latin typeface="Times New Roman"/>
              <a:ea typeface="Times New Roman"/>
              <a:cs typeface="Times New Roman"/>
              <a:sym typeface="Times New Roman"/>
            </a:endParaRPr>
          </a:p>
          <a:p>
            <a:pPr marL="457200" lvl="0" indent="-361950" algn="l" rtl="0">
              <a:lnSpc>
                <a:spcPct val="115000"/>
              </a:lnSpc>
              <a:spcBef>
                <a:spcPts val="1500"/>
              </a:spcBef>
              <a:spcAft>
                <a:spcPts val="0"/>
              </a:spcAft>
              <a:buClr>
                <a:schemeClr val="dk1"/>
              </a:buClr>
              <a:buSzPts val="2100"/>
              <a:buFont typeface="Times New Roman"/>
              <a:buChar char="●"/>
            </a:pPr>
            <a:r>
              <a:rPr lang="en-US" sz="2100" i="1">
                <a:solidFill>
                  <a:schemeClr val="dk1"/>
                </a:solidFill>
                <a:latin typeface="Times New Roman"/>
                <a:ea typeface="Times New Roman"/>
                <a:cs typeface="Times New Roman"/>
                <a:sym typeface="Times New Roman"/>
              </a:rPr>
              <a:t>Text Recognition Enhancement:</a:t>
            </a:r>
            <a:r>
              <a:rPr lang="en-US" sz="2100">
                <a:solidFill>
                  <a:schemeClr val="dk1"/>
                </a:solidFill>
                <a:latin typeface="Times New Roman"/>
                <a:ea typeface="Times New Roman"/>
                <a:cs typeface="Times New Roman"/>
                <a:sym typeface="Times New Roman"/>
              </a:rPr>
              <a:t> Pre-processing involves a set of techniques applied to raw input data, aiming to enhance overall quality and readability before recognition.</a:t>
            </a:r>
            <a:endParaRPr sz="2100">
              <a:solidFill>
                <a:schemeClr val="dk1"/>
              </a:solidFill>
              <a:latin typeface="Times New Roman"/>
              <a:ea typeface="Times New Roman"/>
              <a:cs typeface="Times New Roman"/>
              <a:sym typeface="Times New Roman"/>
            </a:endParaRPr>
          </a:p>
          <a:p>
            <a:pPr marL="457200" lvl="0" indent="-361950" algn="l" rtl="0">
              <a:lnSpc>
                <a:spcPct val="115000"/>
              </a:lnSpc>
              <a:spcBef>
                <a:spcPts val="0"/>
              </a:spcBef>
              <a:spcAft>
                <a:spcPts val="0"/>
              </a:spcAft>
              <a:buClr>
                <a:schemeClr val="dk1"/>
              </a:buClr>
              <a:buSzPts val="2100"/>
              <a:buFont typeface="Times New Roman"/>
              <a:buChar char="●"/>
            </a:pPr>
            <a:r>
              <a:rPr lang="en-US" sz="2100" i="1">
                <a:solidFill>
                  <a:schemeClr val="dk1"/>
                </a:solidFill>
                <a:latin typeface="Times New Roman"/>
                <a:ea typeface="Times New Roman"/>
                <a:cs typeface="Times New Roman"/>
                <a:sym typeface="Times New Roman"/>
              </a:rPr>
              <a:t>Objectives:</a:t>
            </a:r>
            <a:r>
              <a:rPr lang="en-US" sz="2100">
                <a:solidFill>
                  <a:schemeClr val="dk1"/>
                </a:solidFill>
                <a:latin typeface="Times New Roman"/>
                <a:ea typeface="Times New Roman"/>
                <a:cs typeface="Times New Roman"/>
                <a:sym typeface="Times New Roman"/>
              </a:rPr>
              <a:t> The primary goals include improving text clarity, noise removal, distortion correction, and preparing data for accurate text recognition by OCR engines.</a:t>
            </a:r>
            <a:endParaRPr sz="2100">
              <a:solidFill>
                <a:schemeClr val="dk1"/>
              </a:solidFill>
              <a:latin typeface="Times New Roman"/>
              <a:ea typeface="Times New Roman"/>
              <a:cs typeface="Times New Roman"/>
              <a:sym typeface="Times New Roman"/>
            </a:endParaRPr>
          </a:p>
          <a:p>
            <a:pPr marL="0" lvl="0" indent="0" algn="l" rtl="0">
              <a:lnSpc>
                <a:spcPct val="115000"/>
              </a:lnSpc>
              <a:spcBef>
                <a:spcPts val="1500"/>
              </a:spcBef>
              <a:spcAft>
                <a:spcPts val="0"/>
              </a:spcAft>
              <a:buNone/>
            </a:pPr>
            <a:endParaRPr sz="1600">
              <a:solidFill>
                <a:schemeClr val="dk1"/>
              </a:solidFill>
              <a:latin typeface="Times New Roman"/>
              <a:ea typeface="Times New Roman"/>
              <a:cs typeface="Times New Roman"/>
              <a:sym typeface="Times New Roman"/>
            </a:endParaRPr>
          </a:p>
          <a:p>
            <a:pPr marL="0" marR="0" lvl="0" indent="0" algn="l" rtl="0">
              <a:lnSpc>
                <a:spcPct val="100000"/>
              </a:lnSpc>
              <a:spcBef>
                <a:spcPts val="1500"/>
              </a:spcBef>
              <a:spcAft>
                <a:spcPts val="0"/>
              </a:spcAft>
              <a:buClr>
                <a:srgbClr val="000000"/>
              </a:buClr>
              <a:buSzPts val="2800"/>
              <a:buFont typeface="Times New Roman"/>
              <a:buNone/>
            </a:pPr>
            <a:endParaRPr sz="2800" b="1">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Times New Roman"/>
              <a:buNone/>
            </a:pPr>
            <a:endParaRPr sz="1400" b="0" i="0" u="none" strike="noStrike" cap="none">
              <a:solidFill>
                <a:srgbClr val="000000"/>
              </a:solidFill>
              <a:latin typeface="Arial"/>
              <a:ea typeface="Arial"/>
              <a:cs typeface="Arial"/>
              <a:sym typeface="Arial"/>
            </a:endParaRPr>
          </a:p>
        </p:txBody>
      </p:sp>
      <p:sp>
        <p:nvSpPr>
          <p:cNvPr id="227" name="Google Shape;227;g29ce8367354_0_30"/>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29ce8367354_0_38"/>
          <p:cNvSpPr txBox="1"/>
          <p:nvPr/>
        </p:nvSpPr>
        <p:spPr>
          <a:xfrm>
            <a:off x="233674" y="2349949"/>
            <a:ext cx="11399400" cy="7080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p:txBody>
      </p:sp>
      <p:pic>
        <p:nvPicPr>
          <p:cNvPr id="233" name="Google Shape;233;g29ce8367354_0_38" descr="Google Shape;260;p17"/>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234" name="Google Shape;234;g29ce8367354_0_38"/>
          <p:cNvSpPr txBox="1"/>
          <p:nvPr/>
        </p:nvSpPr>
        <p:spPr>
          <a:xfrm>
            <a:off x="1331799" y="102214"/>
            <a:ext cx="10659000" cy="14469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a:t>
            </a:r>
            <a:r>
              <a:rPr lang="en-US" sz="2200" b="1">
                <a:latin typeface="Arial Rounded"/>
                <a:ea typeface="Arial Rounded"/>
                <a:cs typeface="Arial Rounded"/>
                <a:sym typeface="Arial Rounded"/>
              </a:rPr>
              <a:t>g</a:t>
            </a:r>
            <a:endParaRPr sz="2200" b="1">
              <a:latin typeface="Arial Rounded"/>
              <a:ea typeface="Arial Rounded"/>
              <a:cs typeface="Arial Rounded"/>
              <a:sym typeface="Arial Rounded"/>
            </a:endParaRPr>
          </a:p>
          <a:p>
            <a:pPr marL="0" lvl="0" indent="0" algn="l" rtl="0">
              <a:spcBef>
                <a:spcPts val="0"/>
              </a:spcBef>
              <a:spcAft>
                <a:spcPts val="0"/>
              </a:spcAft>
              <a:buClr>
                <a:schemeClr val="dk1"/>
              </a:buClr>
              <a:buSzPts val="2200"/>
              <a:buFont typeface="Arial Rounded"/>
              <a:buNone/>
            </a:pPr>
            <a:r>
              <a:rPr lang="en-US">
                <a:solidFill>
                  <a:schemeClr val="dk1"/>
                </a:solidFill>
              </a:rPr>
              <a:t>                                                               </a:t>
            </a:r>
            <a:r>
              <a:rPr lang="en-US" sz="2200" b="1">
                <a:solidFill>
                  <a:schemeClr val="dk1"/>
                </a:solidFill>
                <a:latin typeface="Arial Rounded"/>
                <a:ea typeface="Arial Rounded"/>
                <a:cs typeface="Arial Rounded"/>
                <a:sym typeface="Arial Rounded"/>
              </a:rPr>
              <a:t>MAJOR Project Final Review</a:t>
            </a:r>
            <a:endParaRPr sz="2200" b="1">
              <a:latin typeface="Arial Rounded"/>
              <a:ea typeface="Arial Rounded"/>
              <a:cs typeface="Arial Rounded"/>
              <a:sym typeface="Arial Rounded"/>
            </a:endParaRPr>
          </a:p>
        </p:txBody>
      </p:sp>
      <p:sp>
        <p:nvSpPr>
          <p:cNvPr id="235" name="Google Shape;235;g29ce8367354_0_38"/>
          <p:cNvSpPr txBox="1"/>
          <p:nvPr/>
        </p:nvSpPr>
        <p:spPr>
          <a:xfrm>
            <a:off x="182850" y="632375"/>
            <a:ext cx="11826300" cy="9664093"/>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1400"/>
              <a:buFont typeface="Times New Roman"/>
              <a:buNone/>
            </a:pPr>
            <a:endParaRPr sz="2800" b="1"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r>
              <a:rPr lang="en-US" sz="2800" b="1" dirty="0">
                <a:latin typeface="Times New Roman"/>
                <a:ea typeface="Times New Roman"/>
                <a:cs typeface="Times New Roman"/>
                <a:sym typeface="Times New Roman"/>
              </a:rPr>
              <a:t>Review paper</a:t>
            </a:r>
            <a:r>
              <a:rPr lang="en-US" sz="2800" b="1">
                <a:latin typeface="Times New Roman"/>
                <a:ea typeface="Times New Roman"/>
                <a:cs typeface="Times New Roman"/>
                <a:sym typeface="Times New Roman"/>
              </a:rPr>
              <a:t>: </a:t>
            </a:r>
          </a:p>
          <a:p>
            <a:pPr marL="0" marR="0" lvl="0" indent="0" algn="just" rtl="0">
              <a:lnSpc>
                <a:spcPct val="100000"/>
              </a:lnSpc>
              <a:spcBef>
                <a:spcPts val="0"/>
              </a:spcBef>
              <a:spcAft>
                <a:spcPts val="0"/>
              </a:spcAft>
              <a:buClr>
                <a:srgbClr val="000000"/>
              </a:buClr>
              <a:buSzPts val="1400"/>
              <a:buFont typeface="Times New Roman"/>
              <a:buNone/>
            </a:pPr>
            <a:endParaRPr sz="2800" b="1"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r>
              <a:rPr lang="en-US" sz="2000" b="1" dirty="0">
                <a:solidFill>
                  <a:schemeClr val="dk1"/>
                </a:solidFill>
                <a:latin typeface="Times New Roman"/>
                <a:ea typeface="Times New Roman"/>
                <a:cs typeface="Times New Roman"/>
                <a:sym typeface="Times New Roman"/>
              </a:rPr>
              <a:t>3</a:t>
            </a:r>
            <a:r>
              <a:rPr lang="en-US" sz="2100" b="1" dirty="0">
                <a:solidFill>
                  <a:schemeClr val="dk1"/>
                </a:solidFill>
                <a:latin typeface="Times New Roman"/>
                <a:ea typeface="Times New Roman"/>
                <a:cs typeface="Times New Roman"/>
                <a:sym typeface="Times New Roman"/>
              </a:rPr>
              <a:t>. Word Detection[4,5,6,7]:</a:t>
            </a:r>
            <a:endParaRPr sz="2100" b="1" dirty="0">
              <a:solidFill>
                <a:schemeClr val="dk1"/>
              </a:solidFill>
              <a:latin typeface="Times New Roman"/>
              <a:ea typeface="Times New Roman"/>
              <a:cs typeface="Times New Roman"/>
              <a:sym typeface="Times New Roman"/>
            </a:endParaRPr>
          </a:p>
          <a:p>
            <a:pPr marL="457200" lvl="0" indent="-361950" algn="l" rtl="0">
              <a:lnSpc>
                <a:spcPct val="115000"/>
              </a:lnSpc>
              <a:spcBef>
                <a:spcPts val="1500"/>
              </a:spcBef>
              <a:spcAft>
                <a:spcPts val="0"/>
              </a:spcAft>
              <a:buClr>
                <a:schemeClr val="dk1"/>
              </a:buClr>
              <a:buSzPts val="2100"/>
              <a:buFont typeface="Times New Roman"/>
              <a:buChar char="●"/>
            </a:pPr>
            <a:r>
              <a:rPr lang="en-US" sz="2100" i="1" dirty="0">
                <a:solidFill>
                  <a:schemeClr val="dk1"/>
                </a:solidFill>
                <a:latin typeface="Times New Roman"/>
                <a:ea typeface="Times New Roman"/>
                <a:cs typeface="Times New Roman"/>
                <a:sym typeface="Times New Roman"/>
              </a:rPr>
              <a:t>Localization of Text:</a:t>
            </a:r>
            <a:r>
              <a:rPr lang="en-US" sz="2100" dirty="0">
                <a:solidFill>
                  <a:schemeClr val="dk1"/>
                </a:solidFill>
                <a:latin typeface="Times New Roman"/>
                <a:ea typeface="Times New Roman"/>
                <a:cs typeface="Times New Roman"/>
                <a:sym typeface="Times New Roman"/>
              </a:rPr>
              <a:t> Word Detection is a pivotal step in text recognition, involving the precise identification and location of individual words or text regions within a document image.</a:t>
            </a:r>
            <a:endParaRPr sz="2100" dirty="0">
              <a:solidFill>
                <a:schemeClr val="dk1"/>
              </a:solidFill>
              <a:latin typeface="Times New Roman"/>
              <a:ea typeface="Times New Roman"/>
              <a:cs typeface="Times New Roman"/>
              <a:sym typeface="Times New Roman"/>
            </a:endParaRPr>
          </a:p>
          <a:p>
            <a:pPr marL="457200" lvl="0" indent="-361950" algn="l" rtl="0">
              <a:lnSpc>
                <a:spcPct val="115000"/>
              </a:lnSpc>
              <a:spcBef>
                <a:spcPts val="0"/>
              </a:spcBef>
              <a:spcAft>
                <a:spcPts val="0"/>
              </a:spcAft>
              <a:buClr>
                <a:schemeClr val="dk1"/>
              </a:buClr>
              <a:buSzPts val="2100"/>
              <a:buFont typeface="Times New Roman"/>
              <a:buChar char="●"/>
            </a:pPr>
            <a:r>
              <a:rPr lang="en-US" sz="2100" i="1" dirty="0">
                <a:solidFill>
                  <a:schemeClr val="dk1"/>
                </a:solidFill>
                <a:latin typeface="Times New Roman"/>
                <a:ea typeface="Times New Roman"/>
                <a:cs typeface="Times New Roman"/>
                <a:sym typeface="Times New Roman"/>
              </a:rPr>
              <a:t>Criticality:</a:t>
            </a:r>
            <a:r>
              <a:rPr lang="en-US" sz="2100" dirty="0">
                <a:solidFill>
                  <a:schemeClr val="dk1"/>
                </a:solidFill>
                <a:latin typeface="Times New Roman"/>
                <a:ea typeface="Times New Roman"/>
                <a:cs typeface="Times New Roman"/>
                <a:sym typeface="Times New Roman"/>
              </a:rPr>
              <a:t> This initial phase sets the foundation for subsequent recognition processes, impacting the system's ability to accurately interpret and annotate text.</a:t>
            </a:r>
            <a:endParaRPr sz="2100" b="1" dirty="0">
              <a:latin typeface="Times New Roman"/>
              <a:ea typeface="Times New Roman"/>
              <a:cs typeface="Times New Roman"/>
              <a:sym typeface="Times New Roman"/>
            </a:endParaRPr>
          </a:p>
          <a:p>
            <a:pPr marL="0" lvl="0" indent="0" algn="l" rtl="0">
              <a:lnSpc>
                <a:spcPct val="115000"/>
              </a:lnSpc>
              <a:spcBef>
                <a:spcPts val="1500"/>
              </a:spcBef>
              <a:spcAft>
                <a:spcPts val="0"/>
              </a:spcAft>
              <a:buClr>
                <a:schemeClr val="dk1"/>
              </a:buClr>
              <a:buSzPts val="1100"/>
              <a:buFont typeface="Arial"/>
              <a:buNone/>
            </a:pPr>
            <a:r>
              <a:rPr lang="en-US" sz="2100" b="1" dirty="0">
                <a:solidFill>
                  <a:schemeClr val="dk1"/>
                </a:solidFill>
                <a:latin typeface="Times New Roman"/>
                <a:ea typeface="Times New Roman"/>
                <a:cs typeface="Times New Roman"/>
                <a:sym typeface="Times New Roman"/>
              </a:rPr>
              <a:t>4. Word Recognition and Annotation[12,13,14,15,16]:</a:t>
            </a:r>
            <a:endParaRPr sz="2100" b="1" dirty="0">
              <a:solidFill>
                <a:schemeClr val="dk1"/>
              </a:solidFill>
              <a:latin typeface="Times New Roman"/>
              <a:ea typeface="Times New Roman"/>
              <a:cs typeface="Times New Roman"/>
              <a:sym typeface="Times New Roman"/>
            </a:endParaRPr>
          </a:p>
          <a:p>
            <a:pPr marL="457200" lvl="0" indent="-361950" algn="l" rtl="0">
              <a:lnSpc>
                <a:spcPct val="115000"/>
              </a:lnSpc>
              <a:spcBef>
                <a:spcPts val="1500"/>
              </a:spcBef>
              <a:spcAft>
                <a:spcPts val="0"/>
              </a:spcAft>
              <a:buClr>
                <a:schemeClr val="dk1"/>
              </a:buClr>
              <a:buSzPts val="2100"/>
              <a:buFont typeface="Times New Roman"/>
              <a:buChar char="●"/>
            </a:pPr>
            <a:r>
              <a:rPr lang="en-US" sz="2100" i="1" dirty="0">
                <a:solidFill>
                  <a:schemeClr val="dk1"/>
                </a:solidFill>
                <a:latin typeface="Times New Roman"/>
                <a:ea typeface="Times New Roman"/>
                <a:cs typeface="Times New Roman"/>
                <a:sym typeface="Times New Roman"/>
              </a:rPr>
              <a:t>Challenging Task:</a:t>
            </a:r>
            <a:r>
              <a:rPr lang="en-US" sz="2100" dirty="0">
                <a:solidFill>
                  <a:schemeClr val="dk1"/>
                </a:solidFill>
                <a:latin typeface="Times New Roman"/>
                <a:ea typeface="Times New Roman"/>
                <a:cs typeface="Times New Roman"/>
                <a:sym typeface="Times New Roman"/>
              </a:rPr>
              <a:t> Text recognition in document images is a challenging yet crucial task with diverse applications, from digitizing historical manuscripts to aiding in automatic form processing.</a:t>
            </a:r>
            <a:endParaRPr sz="2100" dirty="0">
              <a:solidFill>
                <a:schemeClr val="dk1"/>
              </a:solidFill>
              <a:latin typeface="Times New Roman"/>
              <a:ea typeface="Times New Roman"/>
              <a:cs typeface="Times New Roman"/>
              <a:sym typeface="Times New Roman"/>
            </a:endParaRPr>
          </a:p>
          <a:p>
            <a:pPr marL="457200" lvl="0" indent="-361950" algn="l" rtl="0">
              <a:lnSpc>
                <a:spcPct val="115000"/>
              </a:lnSpc>
              <a:spcBef>
                <a:spcPts val="0"/>
              </a:spcBef>
              <a:spcAft>
                <a:spcPts val="0"/>
              </a:spcAft>
              <a:buClr>
                <a:schemeClr val="dk1"/>
              </a:buClr>
              <a:buSzPts val="2100"/>
              <a:buFont typeface="Times New Roman"/>
              <a:buChar char="●"/>
            </a:pPr>
            <a:r>
              <a:rPr lang="en-US" sz="2100" i="1" dirty="0">
                <a:solidFill>
                  <a:schemeClr val="dk1"/>
                </a:solidFill>
                <a:latin typeface="Times New Roman"/>
                <a:ea typeface="Times New Roman"/>
                <a:cs typeface="Times New Roman"/>
                <a:sym typeface="Times New Roman"/>
              </a:rPr>
              <a:t>Algorithm Development:</a:t>
            </a:r>
            <a:r>
              <a:rPr lang="en-US" sz="2100" dirty="0">
                <a:solidFill>
                  <a:schemeClr val="dk1"/>
                </a:solidFill>
                <a:latin typeface="Times New Roman"/>
                <a:ea typeface="Times New Roman"/>
                <a:cs typeface="Times New Roman"/>
                <a:sym typeface="Times New Roman"/>
              </a:rPr>
              <a:t> This field requires the development of algorithms and methodologies for recognizing and annotating words, contributing to the system's overall efficiency in handling document text images.</a:t>
            </a:r>
            <a:endParaRPr sz="2800" b="1"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Times New Roman"/>
              <a:buNone/>
            </a:pPr>
            <a:endParaRPr dirty="0">
              <a:latin typeface="Times New Roman"/>
              <a:ea typeface="Times New Roman"/>
              <a:cs typeface="Times New Roman"/>
              <a:sym typeface="Times New Roman"/>
            </a:endParaRPr>
          </a:p>
        </p:txBody>
      </p:sp>
      <p:sp>
        <p:nvSpPr>
          <p:cNvPr id="236" name="Google Shape;236;g29ce8367354_0_38"/>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5"/>
          <p:cNvSpPr txBox="1"/>
          <p:nvPr/>
        </p:nvSpPr>
        <p:spPr>
          <a:xfrm>
            <a:off x="233674" y="2349949"/>
            <a:ext cx="11399400" cy="30015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r>
              <a:rPr lang="en-US" sz="2000" b="0" i="0" u="none" strike="noStrike" cap="none">
                <a:solidFill>
                  <a:srgbClr val="000000"/>
                </a:solidFill>
                <a:latin typeface="Times New Roman"/>
                <a:ea typeface="Times New Roman"/>
                <a:cs typeface="Times New Roman"/>
                <a:sym typeface="Times New Roman"/>
              </a:rPr>
              <a:t>               </a:t>
            </a:r>
            <a:r>
              <a:rPr lang="en-US" sz="2100" b="0" i="0" u="none" strike="noStrike" cap="none">
                <a:solidFill>
                  <a:srgbClr val="000000"/>
                </a:solidFill>
                <a:latin typeface="Times New Roman"/>
                <a:ea typeface="Times New Roman"/>
                <a:cs typeface="Times New Roman"/>
                <a:sym typeface="Times New Roman"/>
              </a:rPr>
              <a:t>In conclusion, an Automated Annotation System designed for document text images brings transformative benefits to various industries. By leveraging advanced image processing techniques, such as Optical Character Recognition (OCR) and deep learning algorithms, this system significantly enhances document analysis, data extraction, and information retrieval processes. It optimizes efficiency, accuracy, and productivity by automating the time-consuming task of manual annotation. This system finds applications in areas ranging from digitizing historical archives and cataloging large document databases to aiding in content indexing and semantic understanding. As technology continues to advance, the development and adoption of Automated Annotation Systems for Document Text Images hold the promise of revolutionizing the way we interact with and extract knowledge from textual documents.</a:t>
            </a:r>
            <a:endParaRPr sz="1500" b="0" i="0" u="none" strike="noStrike" cap="none">
              <a:solidFill>
                <a:srgbClr val="000000"/>
              </a:solidFill>
              <a:latin typeface="Arial"/>
              <a:ea typeface="Arial"/>
              <a:cs typeface="Arial"/>
              <a:sym typeface="Arial"/>
            </a:endParaRPr>
          </a:p>
        </p:txBody>
      </p:sp>
      <p:pic>
        <p:nvPicPr>
          <p:cNvPr id="242" name="Google Shape;242;p15" descr="Google Shape;250;p16"/>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243" name="Google Shape;243;p15"/>
          <p:cNvSpPr txBox="1"/>
          <p:nvPr/>
        </p:nvSpPr>
        <p:spPr>
          <a:xfrm>
            <a:off x="1331799" y="102214"/>
            <a:ext cx="10659000" cy="14469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MAJOR Project Final Review </a:t>
            </a:r>
            <a:endParaRPr sz="1400" b="0" i="0" u="none" strike="noStrike" cap="none">
              <a:solidFill>
                <a:srgbClr val="000000"/>
              </a:solidFill>
              <a:latin typeface="Arial"/>
              <a:ea typeface="Arial"/>
              <a:cs typeface="Arial"/>
              <a:sym typeface="Arial"/>
            </a:endParaRPr>
          </a:p>
        </p:txBody>
      </p:sp>
      <p:sp>
        <p:nvSpPr>
          <p:cNvPr id="244" name="Google Shape;244;p15"/>
          <p:cNvSpPr txBox="1"/>
          <p:nvPr/>
        </p:nvSpPr>
        <p:spPr>
          <a:xfrm>
            <a:off x="233660" y="1210950"/>
            <a:ext cx="7308350" cy="89413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Conclusion</a:t>
            </a:r>
            <a:r>
              <a:rPr lang="en-US" sz="2800" b="1" i="0" u="none" strike="noStrike" cap="none">
                <a:solidFill>
                  <a:srgbClr val="000000"/>
                </a:solidFill>
                <a:latin typeface="Arial"/>
                <a:ea typeface="Arial"/>
                <a:cs typeface="Arial"/>
                <a:sym typeface="Arial"/>
              </a:rPr>
              <a:t>:</a:t>
            </a:r>
            <a:r>
              <a:rPr lang="en-US" sz="2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45" name="Google Shape;245;p15"/>
          <p:cNvSpPr txBox="1">
            <a:spLocks noGrp="1"/>
          </p:cNvSpPr>
          <p:nvPr>
            <p:ph type="sldNum" idx="12"/>
          </p:nvPr>
        </p:nvSpPr>
        <p:spPr>
          <a:xfrm>
            <a:off x="11095216" y="6414769"/>
            <a:ext cx="258584"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1"/>
          <p:cNvSpPr txBox="1">
            <a:spLocks noGrp="1"/>
          </p:cNvSpPr>
          <p:nvPr>
            <p:ph type="ctrTitle" idx="4294967295"/>
          </p:nvPr>
        </p:nvSpPr>
        <p:spPr>
          <a:xfrm>
            <a:off x="931103" y="1880745"/>
            <a:ext cx="10487219" cy="4977253"/>
          </a:xfrm>
          <a:prstGeom prst="rect">
            <a:avLst/>
          </a:prstGeom>
          <a:noFill/>
          <a:ln>
            <a:noFill/>
          </a:ln>
        </p:spPr>
        <p:txBody>
          <a:bodyPr spcFirstLastPara="1" wrap="square" lIns="45675" tIns="45675" rIns="45675" bIns="45675" anchor="b" anchorCtr="0">
            <a:normAutofit/>
          </a:bodyPr>
          <a:lstStyle/>
          <a:p>
            <a:pPr marL="0" marR="0" lvl="0" indent="0" algn="ctr" rtl="0">
              <a:lnSpc>
                <a:spcPct val="90000"/>
              </a:lnSpc>
              <a:spcBef>
                <a:spcPts val="0"/>
              </a:spcBef>
              <a:spcAft>
                <a:spcPts val="0"/>
              </a:spcAft>
              <a:buClr>
                <a:srgbClr val="000000"/>
              </a:buClr>
              <a:buSzPts val="4000"/>
              <a:buFont typeface="Arial Rounded"/>
              <a:buNone/>
            </a:pPr>
            <a:r>
              <a:rPr lang="en-US" sz="4000" b="1" i="0" u="none" strike="noStrike" cap="none">
                <a:solidFill>
                  <a:srgbClr val="000000"/>
                </a:solidFill>
                <a:latin typeface="Arial Rounded"/>
                <a:ea typeface="Arial Rounded"/>
                <a:cs typeface="Arial Rounded"/>
                <a:sym typeface="Arial Rounded"/>
              </a:rPr>
              <a:t>THANK YOU  &amp; QUERY</a:t>
            </a:r>
            <a:br>
              <a:rPr lang="en-US" sz="4000" b="1" i="0" u="none" strike="noStrike" cap="none">
                <a:solidFill>
                  <a:srgbClr val="000000"/>
                </a:solidFill>
                <a:latin typeface="Arial Rounded"/>
                <a:ea typeface="Arial Rounded"/>
                <a:cs typeface="Arial Rounded"/>
                <a:sym typeface="Arial Rounded"/>
              </a:rPr>
            </a:br>
            <a:br>
              <a:rPr lang="en-US" sz="4000" b="1" i="0" u="none" strike="noStrike" cap="none">
                <a:solidFill>
                  <a:srgbClr val="000000"/>
                </a:solidFill>
                <a:latin typeface="Arial Rounded"/>
                <a:ea typeface="Arial Rounded"/>
                <a:cs typeface="Arial Rounded"/>
                <a:sym typeface="Arial Rounded"/>
              </a:rPr>
            </a:br>
            <a:br>
              <a:rPr lang="en-US" sz="4000" b="1" i="0" u="none" strike="noStrike" cap="none">
                <a:solidFill>
                  <a:srgbClr val="000000"/>
                </a:solidFill>
                <a:latin typeface="Arial Rounded"/>
                <a:ea typeface="Arial Rounded"/>
                <a:cs typeface="Arial Rounded"/>
                <a:sym typeface="Arial Rounded"/>
              </a:rPr>
            </a:br>
            <a:br>
              <a:rPr lang="en-US" sz="4000" b="1" i="0" u="none" strike="noStrike" cap="none">
                <a:solidFill>
                  <a:srgbClr val="000000"/>
                </a:solidFill>
                <a:latin typeface="Arial Rounded"/>
                <a:ea typeface="Arial Rounded"/>
                <a:cs typeface="Arial Rounded"/>
                <a:sym typeface="Arial Rounded"/>
              </a:rPr>
            </a:br>
            <a:br>
              <a:rPr lang="en-US" sz="4000" b="1" i="0" u="none" strike="noStrike" cap="none">
                <a:solidFill>
                  <a:srgbClr val="000000"/>
                </a:solidFill>
                <a:latin typeface="Arial Rounded"/>
                <a:ea typeface="Arial Rounded"/>
                <a:cs typeface="Arial Rounded"/>
                <a:sym typeface="Arial Rounded"/>
              </a:rPr>
            </a:br>
            <a:endParaRPr sz="4400" b="0" i="0" u="none" strike="noStrike" cap="none">
              <a:solidFill>
                <a:srgbClr val="000000"/>
              </a:solidFill>
              <a:latin typeface="Calibri"/>
              <a:ea typeface="Calibri"/>
              <a:cs typeface="Calibri"/>
              <a:sym typeface="Calibri"/>
            </a:endParaRPr>
          </a:p>
        </p:txBody>
      </p:sp>
      <p:pic>
        <p:nvPicPr>
          <p:cNvPr id="251" name="Google Shape;251;p21" descr="Google Shape;270;p18"/>
          <p:cNvPicPr preferRelativeResize="0"/>
          <p:nvPr/>
        </p:nvPicPr>
        <p:blipFill rotWithShape="1">
          <a:blip r:embed="rId3">
            <a:alphaModFix/>
          </a:blip>
          <a:srcRect/>
          <a:stretch/>
        </p:blipFill>
        <p:spPr>
          <a:xfrm>
            <a:off x="66870" y="2"/>
            <a:ext cx="1219201" cy="1144589"/>
          </a:xfrm>
          <a:prstGeom prst="rect">
            <a:avLst/>
          </a:prstGeom>
          <a:noFill/>
          <a:ln>
            <a:noFill/>
          </a:ln>
        </p:spPr>
      </p:pic>
      <p:sp>
        <p:nvSpPr>
          <p:cNvPr id="252" name="Google Shape;252;p21"/>
          <p:cNvSpPr txBox="1"/>
          <p:nvPr/>
        </p:nvSpPr>
        <p:spPr>
          <a:xfrm>
            <a:off x="1371061" y="-42661"/>
            <a:ext cx="10659000" cy="14469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GOKARAJU RANGARAJU INSTITUTE OF ENGINEERING AND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a:solidFill>
                  <a:srgbClr val="000000"/>
                </a:solidFill>
                <a:latin typeface="Arial Rounded"/>
                <a:ea typeface="Arial Rounded"/>
                <a:cs typeface="Arial Rounded"/>
                <a:sym typeface="Arial Rounded"/>
              </a:rPr>
              <a:t>Department of Computer Science and Engineering</a:t>
            </a:r>
            <a:endParaRPr sz="1400" b="0" i="0" u="none" strike="noStrike" cap="none">
              <a:solidFill>
                <a:srgbClr val="000000"/>
              </a:solidFill>
              <a:latin typeface="Arial"/>
              <a:ea typeface="Arial"/>
              <a:cs typeface="Arial"/>
              <a:sym typeface="Arial"/>
            </a:endParaRPr>
          </a:p>
          <a:p>
            <a:pPr marL="0" lvl="0" indent="0" algn="l" rtl="0">
              <a:spcBef>
                <a:spcPts val="0"/>
              </a:spcBef>
              <a:spcAft>
                <a:spcPts val="0"/>
              </a:spcAft>
              <a:buClr>
                <a:schemeClr val="dk1"/>
              </a:buClr>
              <a:buSzPts val="2200"/>
              <a:buFont typeface="Arial Rounded"/>
              <a:buNone/>
            </a:pPr>
            <a:r>
              <a:rPr lang="en-US">
                <a:solidFill>
                  <a:schemeClr val="dk1"/>
                </a:solidFill>
              </a:rPr>
              <a:t>                                                        </a:t>
            </a:r>
            <a:r>
              <a:rPr lang="en-US" sz="2200" b="1">
                <a:solidFill>
                  <a:schemeClr val="dk1"/>
                </a:solidFill>
                <a:latin typeface="Arial Rounded"/>
                <a:ea typeface="Arial Rounded"/>
                <a:cs typeface="Arial Rounded"/>
                <a:sym typeface="Arial Rounded"/>
              </a:rPr>
              <a:t>MAJOR Project Final Review</a:t>
            </a:r>
            <a:endParaRPr sz="2200" b="1">
              <a:latin typeface="Arial Rounded"/>
              <a:ea typeface="Arial Rounded"/>
              <a:cs typeface="Arial Rounded"/>
              <a:sym typeface="Arial Rounded"/>
            </a:endParaRPr>
          </a:p>
        </p:txBody>
      </p:sp>
      <p:sp>
        <p:nvSpPr>
          <p:cNvPr id="253" name="Google Shape;253;p21"/>
          <p:cNvSpPr txBox="1">
            <a:spLocks noGrp="1"/>
          </p:cNvSpPr>
          <p:nvPr>
            <p:ph type="sldNum" idx="12"/>
          </p:nvPr>
        </p:nvSpPr>
        <p:spPr>
          <a:xfrm>
            <a:off x="11095216" y="6414769"/>
            <a:ext cx="258584"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21</a:t>
            </a:fld>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2519</Words>
  <Application>Microsoft Office PowerPoint</Application>
  <PresentationFormat>Widescreen</PresentationFormat>
  <Paragraphs>352</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Rounded</vt:lpstr>
      <vt:lpstr>Calibri</vt:lpstr>
      <vt:lpstr>Roboto</vt:lpstr>
      <vt:lpstr>Times New Roman</vt:lpstr>
      <vt:lpstr>Office Theme</vt:lpstr>
      <vt:lpstr>An Automated Annotation System for Document Text Images</vt:lpstr>
      <vt:lpstr>Abstract:</vt:lpstr>
      <vt:lpstr> Proposed Approach:  The proposed system initiates by constructing a Telugu-page-level dataset, which undergoes thorough pre-processing employing De-GAN and CRAFT techniques.  Subsequently, this meticulously prepared data is subjected to training across a spectrum of advanced algorithms, encompassing Convolutional Neural Networks (CNNs), Gated Convolutional Neural Networks (GCN), LSTM-based models, and encoder-decoder architectures enriched with attention mechanisms. This comprehensive approach not only holds the promise of significantly enhancing annotation accuracy but also streamlines the entire annotation workflow, reducing the need for manual intervention.  In these fields, where precise and efficient annotations of Telugu handwritten documents are of utmost significance, our system plays a pivotal role in facilitating in-depth analysis and insightful outcomes.  </vt:lpstr>
      <vt:lpstr>Proposed Architecture:                                                                     Fig 1: Automated Annotation System Architecture</vt:lpstr>
      <vt:lpstr>          </vt:lpstr>
      <vt:lpstr>          </vt:lpstr>
      <vt:lpstr>      </vt:lpstr>
      <vt:lpstr>      </vt:lpstr>
      <vt:lpstr>   The process begins with the acquisition of an image, ensuring it is taken without the influence of any filters.  The unfiltered image is fed into the pretrained De-GAN (Denoising GAN) model.  De-GAN specializes in denoising and enhances the image quality, generating a binarized version that eliminates background noises.  The binarized image produced from De-GAN serves as input for the CRAFT model, which generates a bounding box image and a mask image highlighting detected text regions.   Additionally, a text file is created, containing coordinates detailing the position of bounding boxes.        </vt:lpstr>
      <vt:lpstr>                       Fig 2: Original Image             Fig 3: Image After De-GAN       Fig 4: Image After CRAFT</vt:lpstr>
      <vt:lpstr>                                                 Fig 5 Automated Annotation System Use Case Diagram</vt:lpstr>
      <vt:lpstr>                                            Fig 6: Automated Annotation System Data Flow Diagram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&amp; QUERY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Automated Annotation System for Document Text Images</dc:title>
  <cp:lastModifiedBy>Boda Srija</cp:lastModifiedBy>
  <cp:revision>4</cp:revision>
  <dcterms:modified xsi:type="dcterms:W3CDTF">2023-11-20T09:07:38Z</dcterms:modified>
</cp:coreProperties>
</file>